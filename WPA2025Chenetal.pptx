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76">
          <p15:clr>
            <a:srgbClr val="A4A3A4"/>
          </p15:clr>
        </p15:guide>
        <p15:guide id="2" orient="horz" pos="20160">
          <p15:clr>
            <a:srgbClr val="A4A3A4"/>
          </p15:clr>
        </p15:guide>
        <p15:guide id="3" pos="576">
          <p15:clr>
            <a:srgbClr val="A4A3A4"/>
          </p15:clr>
        </p15:guide>
        <p15:guide id="4" pos="27072">
          <p15:clr>
            <a:srgbClr val="A4A3A4"/>
          </p15:clr>
        </p15:guide>
        <p15:guide id="5" pos="9000">
          <p15:clr>
            <a:srgbClr val="A4A3A4"/>
          </p15:clr>
        </p15:guide>
        <p15:guide id="6" pos="8592">
          <p15:clr>
            <a:srgbClr val="A4A3A4"/>
          </p15:clr>
        </p15:guide>
        <p15:guide id="7" pos="18768">
          <p15:clr>
            <a:srgbClr val="A4A3A4"/>
          </p15:clr>
        </p15:guide>
        <p15:guide id="8" pos="18096">
          <p15:clr>
            <a:srgbClr val="A4A3A4"/>
          </p15:clr>
        </p15:guide>
        <p15:guide id="9" orient="horz" pos="2568">
          <p15:clr>
            <a:srgbClr val="A4A3A4"/>
          </p15:clr>
        </p15:guide>
        <p15:guide id="10" orient="horz" pos="3264">
          <p15:clr>
            <a:srgbClr val="A4A3A4"/>
          </p15:clr>
        </p15:guide>
        <p15:guide id="11" orient="horz" pos="6744">
          <p15:clr>
            <a:srgbClr val="A4A3A4"/>
          </p15:clr>
        </p15:guide>
        <p15:guide id="12" orient="horz" pos="11880">
          <p15:clr>
            <a:srgbClr val="A4A3A4"/>
          </p15:clr>
        </p15:guide>
        <p15:guide id="13" orient="horz" pos="13104">
          <p15:clr>
            <a:srgbClr val="A4A3A4"/>
          </p15:clr>
        </p15:guide>
        <p15:guide id="14" orient="horz" pos="13968">
          <p15:clr>
            <a:srgbClr val="A4A3A4"/>
          </p15:clr>
        </p15:guide>
        <p15:guide id="15" orient="horz" pos="9720">
          <p15:clr>
            <a:srgbClr val="A4A3A4"/>
          </p15:clr>
        </p15:guide>
        <p15:guide id="16" orient="horz" pos="10176">
          <p15:clr>
            <a:srgbClr val="A4A3A4"/>
          </p15:clr>
        </p15:guide>
      </p15:sldGuideLst>
    </p:ext>
    <p:ext uri="GoogleSlidesCustomDataVersion2">
      <go:slidesCustomData xmlns:go="http://customooxmlschemas.google.com/" r:id="rId8" roundtripDataSignature="AMtx7mhqJqVYF/ZYSS9gQmduL7e7ahW0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1C7AB5-275D-4F89-8F66-E7E8DCEF08D5}">
  <a:tblStyle styleId="{A01C7AB5-275D-4F89-8F66-E7E8DCEF08D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9DCA3A7-1F5B-4DAE-B2A2-14AB9EC2825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76" orient="horz"/>
        <p:guide pos="20160" orient="horz"/>
        <p:guide pos="576"/>
        <p:guide pos="27072"/>
        <p:guide pos="9000"/>
        <p:guide pos="8592"/>
        <p:guide pos="18768"/>
        <p:guide pos="18096"/>
        <p:guide pos="2568" orient="horz"/>
        <p:guide pos="3264" orient="horz"/>
        <p:guide pos="6744" orient="horz"/>
        <p:guide pos="11880" orient="horz"/>
        <p:guide pos="13104" orient="horz"/>
        <p:guide pos="13968" orient="horz"/>
        <p:guide pos="9720" orient="horz"/>
        <p:guide pos="10176"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189475cf00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189475cf0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g3189475cf0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3291840" y="5387342"/>
            <a:ext cx="37307520" cy="1146048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5486400" y="17289782"/>
            <a:ext cx="32918400" cy="794765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p:txBody>
      </p:sp>
      <p:sp>
        <p:nvSpPr>
          <p:cNvPr id="18" name="Google Shape;18;p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24" name="Google Shape;24;p4"/>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2994662" y="8206749"/>
            <a:ext cx="37856160" cy="1369313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2994662" y="22029429"/>
            <a:ext cx="37856160" cy="7200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sz="11520">
                <a:solidFill>
                  <a:schemeClr val="dk1"/>
                </a:solidFill>
              </a:defRPr>
            </a:lvl1pPr>
            <a:lvl2pPr indent="-228600" lvl="1" marL="914400" algn="l">
              <a:lnSpc>
                <a:spcPct val="90000"/>
              </a:lnSpc>
              <a:spcBef>
                <a:spcPts val="2400"/>
              </a:spcBef>
              <a:spcAft>
                <a:spcPts val="0"/>
              </a:spcAft>
              <a:buClr>
                <a:srgbClr val="888888"/>
              </a:buClr>
              <a:buSzPts val="9600"/>
              <a:buNone/>
              <a:defRPr sz="9600">
                <a:solidFill>
                  <a:srgbClr val="888888"/>
                </a:solidFill>
              </a:defRPr>
            </a:lvl2pPr>
            <a:lvl3pPr indent="-228600" lvl="2" marL="1371600" algn="l">
              <a:lnSpc>
                <a:spcPct val="90000"/>
              </a:lnSpc>
              <a:spcBef>
                <a:spcPts val="2400"/>
              </a:spcBef>
              <a:spcAft>
                <a:spcPts val="0"/>
              </a:spcAft>
              <a:buClr>
                <a:srgbClr val="888888"/>
              </a:buClr>
              <a:buSzPts val="8640"/>
              <a:buNone/>
              <a:defRPr sz="8640">
                <a:solidFill>
                  <a:srgbClr val="888888"/>
                </a:solidFill>
              </a:defRPr>
            </a:lvl3pPr>
            <a:lvl4pPr indent="-228600" lvl="3" marL="1828800" algn="l">
              <a:lnSpc>
                <a:spcPct val="90000"/>
              </a:lnSpc>
              <a:spcBef>
                <a:spcPts val="2400"/>
              </a:spcBef>
              <a:spcAft>
                <a:spcPts val="0"/>
              </a:spcAft>
              <a:buClr>
                <a:srgbClr val="888888"/>
              </a:buClr>
              <a:buSzPts val="7680"/>
              <a:buNone/>
              <a:defRPr sz="7680">
                <a:solidFill>
                  <a:srgbClr val="888888"/>
                </a:solidFill>
              </a:defRPr>
            </a:lvl4pPr>
            <a:lvl5pPr indent="-228600" lvl="4" marL="2286000" algn="l">
              <a:lnSpc>
                <a:spcPct val="90000"/>
              </a:lnSpc>
              <a:spcBef>
                <a:spcPts val="2400"/>
              </a:spcBef>
              <a:spcAft>
                <a:spcPts val="0"/>
              </a:spcAft>
              <a:buClr>
                <a:srgbClr val="888888"/>
              </a:buClr>
              <a:buSzPts val="7680"/>
              <a:buNone/>
              <a:defRPr sz="7680">
                <a:solidFill>
                  <a:srgbClr val="888888"/>
                </a:solidFill>
              </a:defRPr>
            </a:lvl5pPr>
            <a:lvl6pPr indent="-228600" lvl="5" marL="2743200" algn="l">
              <a:lnSpc>
                <a:spcPct val="90000"/>
              </a:lnSpc>
              <a:spcBef>
                <a:spcPts val="2400"/>
              </a:spcBef>
              <a:spcAft>
                <a:spcPts val="0"/>
              </a:spcAft>
              <a:buClr>
                <a:srgbClr val="888888"/>
              </a:buClr>
              <a:buSzPts val="7680"/>
              <a:buNone/>
              <a:defRPr sz="7680">
                <a:solidFill>
                  <a:srgbClr val="888888"/>
                </a:solidFill>
              </a:defRPr>
            </a:lvl6pPr>
            <a:lvl7pPr indent="-228600" lvl="6" marL="3200400" algn="l">
              <a:lnSpc>
                <a:spcPct val="90000"/>
              </a:lnSpc>
              <a:spcBef>
                <a:spcPts val="2400"/>
              </a:spcBef>
              <a:spcAft>
                <a:spcPts val="0"/>
              </a:spcAft>
              <a:buClr>
                <a:srgbClr val="888888"/>
              </a:buClr>
              <a:buSzPts val="7680"/>
              <a:buNone/>
              <a:defRPr sz="7680">
                <a:solidFill>
                  <a:srgbClr val="888888"/>
                </a:solidFill>
              </a:defRPr>
            </a:lvl7pPr>
            <a:lvl8pPr indent="-228600" lvl="7" marL="3657600" algn="l">
              <a:lnSpc>
                <a:spcPct val="90000"/>
              </a:lnSpc>
              <a:spcBef>
                <a:spcPts val="2400"/>
              </a:spcBef>
              <a:spcAft>
                <a:spcPts val="0"/>
              </a:spcAft>
              <a:buClr>
                <a:srgbClr val="888888"/>
              </a:buClr>
              <a:buSzPts val="7680"/>
              <a:buNone/>
              <a:defRPr sz="7680">
                <a:solidFill>
                  <a:srgbClr val="888888"/>
                </a:solidFill>
              </a:defRPr>
            </a:lvl8pPr>
            <a:lvl9pPr indent="-228600" lvl="8" marL="4114800" algn="l">
              <a:lnSpc>
                <a:spcPct val="90000"/>
              </a:lnSpc>
              <a:spcBef>
                <a:spcPts val="2400"/>
              </a:spcBef>
              <a:spcAft>
                <a:spcPts val="0"/>
              </a:spcAft>
              <a:buClr>
                <a:srgbClr val="888888"/>
              </a:buClr>
              <a:buSzPts val="7680"/>
              <a:buNone/>
              <a:defRPr sz="7680">
                <a:solidFill>
                  <a:srgbClr val="888888"/>
                </a:solidFill>
              </a:defRPr>
            </a:lvl9pPr>
          </a:lstStyle>
          <a:p/>
        </p:txBody>
      </p:sp>
      <p:sp>
        <p:nvSpPr>
          <p:cNvPr id="30" name="Google Shape;30;p5"/>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30175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6" name="Google Shape;36;p6"/>
          <p:cNvSpPr txBox="1"/>
          <p:nvPr>
            <p:ph idx="2" type="body"/>
          </p:nvPr>
        </p:nvSpPr>
        <p:spPr>
          <a:xfrm>
            <a:off x="222199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7" name="Google Shape;37;p6"/>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3023237"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3023242" y="8069582"/>
            <a:ext cx="18568032"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3" name="Google Shape;43;p7"/>
          <p:cNvSpPr txBox="1"/>
          <p:nvPr>
            <p:ph idx="2" type="body"/>
          </p:nvPr>
        </p:nvSpPr>
        <p:spPr>
          <a:xfrm>
            <a:off x="3023242" y="12024360"/>
            <a:ext cx="18568032"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4" name="Google Shape;44;p7"/>
          <p:cNvSpPr txBox="1"/>
          <p:nvPr>
            <p:ph idx="3" type="body"/>
          </p:nvPr>
        </p:nvSpPr>
        <p:spPr>
          <a:xfrm>
            <a:off x="22219922" y="8069582"/>
            <a:ext cx="18659477"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5" name="Google Shape;45;p7"/>
          <p:cNvSpPr txBox="1"/>
          <p:nvPr>
            <p:ph idx="4" type="body"/>
          </p:nvPr>
        </p:nvSpPr>
        <p:spPr>
          <a:xfrm>
            <a:off x="22219922" y="12024360"/>
            <a:ext cx="18659477"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6" name="Google Shape;46;p7"/>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18659477" y="4739647"/>
            <a:ext cx="22219920" cy="23393400"/>
          </a:xfrm>
          <a:prstGeom prst="rect">
            <a:avLst/>
          </a:prstGeom>
          <a:noFill/>
          <a:ln>
            <a:noFill/>
          </a:ln>
        </p:spPr>
        <p:txBody>
          <a:bodyPr anchorCtr="0" anchor="t" bIns="45700" lIns="91425" spcFirstLastPara="1" rIns="91425" wrap="square" tIns="45700">
            <a:normAutofit/>
          </a:bodyPr>
          <a:lstStyle>
            <a:lvl1pPr indent="-1203960" lvl="0" marL="457200" algn="l">
              <a:lnSpc>
                <a:spcPct val="90000"/>
              </a:lnSpc>
              <a:spcBef>
                <a:spcPts val="4800"/>
              </a:spcBef>
              <a:spcAft>
                <a:spcPts val="0"/>
              </a:spcAft>
              <a:buClr>
                <a:schemeClr val="dk1"/>
              </a:buClr>
              <a:buSzPts val="15360"/>
              <a:buChar char="•"/>
              <a:defRPr sz="15360"/>
            </a:lvl1pPr>
            <a:lvl2pPr indent="-1082040" lvl="1" marL="914400" algn="l">
              <a:lnSpc>
                <a:spcPct val="90000"/>
              </a:lnSpc>
              <a:spcBef>
                <a:spcPts val="2400"/>
              </a:spcBef>
              <a:spcAft>
                <a:spcPts val="0"/>
              </a:spcAft>
              <a:buClr>
                <a:schemeClr val="dk1"/>
              </a:buClr>
              <a:buSzPts val="13440"/>
              <a:buChar char="•"/>
              <a:defRPr sz="13439"/>
            </a:lvl2pPr>
            <a:lvl3pPr indent="-960120" lvl="2" marL="1371600" algn="l">
              <a:lnSpc>
                <a:spcPct val="90000"/>
              </a:lnSpc>
              <a:spcBef>
                <a:spcPts val="2400"/>
              </a:spcBef>
              <a:spcAft>
                <a:spcPts val="0"/>
              </a:spcAft>
              <a:buClr>
                <a:schemeClr val="dk1"/>
              </a:buClr>
              <a:buSzPts val="11520"/>
              <a:buChar char="•"/>
              <a:defRPr sz="11520"/>
            </a:lvl3pPr>
            <a:lvl4pPr indent="-838200" lvl="3" marL="1828800" algn="l">
              <a:lnSpc>
                <a:spcPct val="90000"/>
              </a:lnSpc>
              <a:spcBef>
                <a:spcPts val="2400"/>
              </a:spcBef>
              <a:spcAft>
                <a:spcPts val="0"/>
              </a:spcAft>
              <a:buClr>
                <a:schemeClr val="dk1"/>
              </a:buClr>
              <a:buSzPts val="9600"/>
              <a:buChar char="•"/>
              <a:defRPr sz="9600"/>
            </a:lvl4pPr>
            <a:lvl5pPr indent="-838200" lvl="4" marL="2286000" algn="l">
              <a:lnSpc>
                <a:spcPct val="90000"/>
              </a:lnSpc>
              <a:spcBef>
                <a:spcPts val="2400"/>
              </a:spcBef>
              <a:spcAft>
                <a:spcPts val="0"/>
              </a:spcAft>
              <a:buClr>
                <a:schemeClr val="dk1"/>
              </a:buClr>
              <a:buSzPts val="9600"/>
              <a:buChar char="•"/>
              <a:defRPr sz="9600"/>
            </a:lvl5pPr>
            <a:lvl6pPr indent="-838200" lvl="5" marL="2743200" algn="l">
              <a:lnSpc>
                <a:spcPct val="90000"/>
              </a:lnSpc>
              <a:spcBef>
                <a:spcPts val="2400"/>
              </a:spcBef>
              <a:spcAft>
                <a:spcPts val="0"/>
              </a:spcAft>
              <a:buClr>
                <a:schemeClr val="dk1"/>
              </a:buClr>
              <a:buSzPts val="9600"/>
              <a:buChar char="•"/>
              <a:defRPr sz="9600"/>
            </a:lvl6pPr>
            <a:lvl7pPr indent="-838200" lvl="6" marL="3200400" algn="l">
              <a:lnSpc>
                <a:spcPct val="90000"/>
              </a:lnSpc>
              <a:spcBef>
                <a:spcPts val="2400"/>
              </a:spcBef>
              <a:spcAft>
                <a:spcPts val="0"/>
              </a:spcAft>
              <a:buClr>
                <a:schemeClr val="dk1"/>
              </a:buClr>
              <a:buSzPts val="9600"/>
              <a:buChar char="•"/>
              <a:defRPr sz="9600"/>
            </a:lvl7pPr>
            <a:lvl8pPr indent="-838200" lvl="7" marL="3657600" algn="l">
              <a:lnSpc>
                <a:spcPct val="90000"/>
              </a:lnSpc>
              <a:spcBef>
                <a:spcPts val="2400"/>
              </a:spcBef>
              <a:spcAft>
                <a:spcPts val="0"/>
              </a:spcAft>
              <a:buClr>
                <a:schemeClr val="dk1"/>
              </a:buClr>
              <a:buSzPts val="9600"/>
              <a:buChar char="•"/>
              <a:defRPr sz="9600"/>
            </a:lvl8pPr>
            <a:lvl9pPr indent="-838200" lvl="8" marL="4114800" algn="l">
              <a:lnSpc>
                <a:spcPct val="90000"/>
              </a:lnSpc>
              <a:spcBef>
                <a:spcPts val="2400"/>
              </a:spcBef>
              <a:spcAft>
                <a:spcPts val="0"/>
              </a:spcAft>
              <a:buClr>
                <a:schemeClr val="dk1"/>
              </a:buClr>
              <a:buSzPts val="9600"/>
              <a:buChar char="•"/>
              <a:defRPr sz="9600"/>
            </a:lvl9pPr>
          </a:lstStyle>
          <a:p/>
        </p:txBody>
      </p:sp>
      <p:sp>
        <p:nvSpPr>
          <p:cNvPr id="61" name="Google Shape;61;p10"/>
          <p:cNvSpPr txBox="1"/>
          <p:nvPr>
            <p:ph idx="2"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2" name="Google Shape;62;p10"/>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18659477" y="4739647"/>
            <a:ext cx="22219920" cy="23393400"/>
          </a:xfrm>
          <a:prstGeom prst="rect">
            <a:avLst/>
          </a:prstGeom>
          <a:noFill/>
          <a:ln>
            <a:noFill/>
          </a:ln>
        </p:spPr>
      </p:sp>
      <p:sp>
        <p:nvSpPr>
          <p:cNvPr id="68" name="Google Shape;68;p11"/>
          <p:cNvSpPr txBox="1"/>
          <p:nvPr>
            <p:ph idx="1"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9" name="Google Shape;69;p11"/>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11502389" y="278131"/>
            <a:ext cx="20886422" cy="378561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5" name="Google Shape;75;p1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22193251" y="10968991"/>
            <a:ext cx="27896822" cy="94640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2990851" y="1779271"/>
            <a:ext cx="27896822" cy="27843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81" name="Google Shape;81;p1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1120"/>
              <a:buFont typeface="Calibri"/>
              <a:buNone/>
              <a:defRPr b="0" i="0" sz="2112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1082040" lvl="0" marL="457200" marR="0" rtl="0" algn="l">
              <a:lnSpc>
                <a:spcPct val="90000"/>
              </a:lnSpc>
              <a:spcBef>
                <a:spcPts val="4800"/>
              </a:spcBef>
              <a:spcAft>
                <a:spcPts val="0"/>
              </a:spcAft>
              <a:buClr>
                <a:schemeClr val="dk1"/>
              </a:buClr>
              <a:buSzPts val="13440"/>
              <a:buFont typeface="Arial"/>
              <a:buChar char="•"/>
              <a:defRPr b="0" i="0" sz="13439" u="none" cap="none" strike="noStrike">
                <a:solidFill>
                  <a:schemeClr val="dk1"/>
                </a:solidFill>
                <a:latin typeface="Calibri"/>
                <a:ea typeface="Calibri"/>
                <a:cs typeface="Calibri"/>
                <a:sym typeface="Calibri"/>
              </a:defRPr>
            </a:lvl1pPr>
            <a:lvl2pPr indent="-960120" lvl="1" marL="914400" marR="0" rtl="0" algn="l">
              <a:lnSpc>
                <a:spcPct val="90000"/>
              </a:lnSpc>
              <a:spcBef>
                <a:spcPts val="2400"/>
              </a:spcBef>
              <a:spcAft>
                <a:spcPts val="0"/>
              </a:spcAft>
              <a:buClr>
                <a:schemeClr val="dk1"/>
              </a:buClr>
              <a:buSzPts val="11520"/>
              <a:buFont typeface="Arial"/>
              <a:buChar char="•"/>
              <a:defRPr b="0" i="0" sz="11520" u="none" cap="none" strike="noStrike">
                <a:solidFill>
                  <a:schemeClr val="dk1"/>
                </a:solidFill>
                <a:latin typeface="Calibri"/>
                <a:ea typeface="Calibri"/>
                <a:cs typeface="Calibri"/>
                <a:sym typeface="Calibri"/>
              </a:defRPr>
            </a:lvl2pPr>
            <a:lvl3pPr indent="-838200" lvl="2" marL="1371600" marR="0" rtl="0" algn="l">
              <a:lnSpc>
                <a:spcPct val="90000"/>
              </a:lnSpc>
              <a:spcBef>
                <a:spcPts val="24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576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576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5760" u="none" cap="none" strike="noStrike">
                <a:solidFill>
                  <a:srgbClr val="888888"/>
                </a:solidFill>
                <a:latin typeface="Calibri"/>
                <a:ea typeface="Calibri"/>
                <a:cs typeface="Calibri"/>
                <a:sym typeface="Calibri"/>
              </a:defRPr>
            </a:lvl1pPr>
            <a:lvl2pPr indent="0" lvl="1" marL="0" marR="0" rtl="0" algn="r">
              <a:spcBef>
                <a:spcPts val="0"/>
              </a:spcBef>
              <a:buNone/>
              <a:defRPr b="0" i="0" sz="5760" u="none" cap="none" strike="noStrike">
                <a:solidFill>
                  <a:srgbClr val="888888"/>
                </a:solidFill>
                <a:latin typeface="Calibri"/>
                <a:ea typeface="Calibri"/>
                <a:cs typeface="Calibri"/>
                <a:sym typeface="Calibri"/>
              </a:defRPr>
            </a:lvl2pPr>
            <a:lvl3pPr indent="0" lvl="2" marL="0" marR="0" rtl="0" algn="r">
              <a:spcBef>
                <a:spcPts val="0"/>
              </a:spcBef>
              <a:buNone/>
              <a:defRPr b="0" i="0" sz="5760" u="none" cap="none" strike="noStrike">
                <a:solidFill>
                  <a:srgbClr val="888888"/>
                </a:solidFill>
                <a:latin typeface="Calibri"/>
                <a:ea typeface="Calibri"/>
                <a:cs typeface="Calibri"/>
                <a:sym typeface="Calibri"/>
              </a:defRPr>
            </a:lvl3pPr>
            <a:lvl4pPr indent="0" lvl="3" marL="0" marR="0" rtl="0" algn="r">
              <a:spcBef>
                <a:spcPts val="0"/>
              </a:spcBef>
              <a:buNone/>
              <a:defRPr b="0" i="0" sz="5760" u="none" cap="none" strike="noStrike">
                <a:solidFill>
                  <a:srgbClr val="888888"/>
                </a:solidFill>
                <a:latin typeface="Calibri"/>
                <a:ea typeface="Calibri"/>
                <a:cs typeface="Calibri"/>
                <a:sym typeface="Calibri"/>
              </a:defRPr>
            </a:lvl4pPr>
            <a:lvl5pPr indent="0" lvl="4" marL="0" marR="0" rtl="0" algn="r">
              <a:spcBef>
                <a:spcPts val="0"/>
              </a:spcBef>
              <a:buNone/>
              <a:defRPr b="0" i="0" sz="5760" u="none" cap="none" strike="noStrike">
                <a:solidFill>
                  <a:srgbClr val="888888"/>
                </a:solidFill>
                <a:latin typeface="Calibri"/>
                <a:ea typeface="Calibri"/>
                <a:cs typeface="Calibri"/>
                <a:sym typeface="Calibri"/>
              </a:defRPr>
            </a:lvl5pPr>
            <a:lvl6pPr indent="0" lvl="5" marL="0" marR="0" rtl="0" algn="r">
              <a:spcBef>
                <a:spcPts val="0"/>
              </a:spcBef>
              <a:buNone/>
              <a:defRPr b="0" i="0" sz="5760" u="none" cap="none" strike="noStrike">
                <a:solidFill>
                  <a:srgbClr val="888888"/>
                </a:solidFill>
                <a:latin typeface="Calibri"/>
                <a:ea typeface="Calibri"/>
                <a:cs typeface="Calibri"/>
                <a:sym typeface="Calibri"/>
              </a:defRPr>
            </a:lvl6pPr>
            <a:lvl7pPr indent="0" lvl="6" marL="0" marR="0" rtl="0" algn="r">
              <a:spcBef>
                <a:spcPts val="0"/>
              </a:spcBef>
              <a:buNone/>
              <a:defRPr b="0" i="0" sz="5760" u="none" cap="none" strike="noStrike">
                <a:solidFill>
                  <a:srgbClr val="888888"/>
                </a:solidFill>
                <a:latin typeface="Calibri"/>
                <a:ea typeface="Calibri"/>
                <a:cs typeface="Calibri"/>
                <a:sym typeface="Calibri"/>
              </a:defRPr>
            </a:lvl7pPr>
            <a:lvl8pPr indent="0" lvl="7" marL="0" marR="0" rtl="0" algn="r">
              <a:spcBef>
                <a:spcPts val="0"/>
              </a:spcBef>
              <a:buNone/>
              <a:defRPr b="0" i="0" sz="5760" u="none" cap="none" strike="noStrike">
                <a:solidFill>
                  <a:srgbClr val="888888"/>
                </a:solidFill>
                <a:latin typeface="Calibri"/>
                <a:ea typeface="Calibri"/>
                <a:cs typeface="Calibri"/>
                <a:sym typeface="Calibri"/>
              </a:defRPr>
            </a:lvl8pPr>
            <a:lvl9pPr indent="0" lvl="8" marL="0" marR="0" rtl="0" algn="r">
              <a:spcBef>
                <a:spcPts val="0"/>
              </a:spcBef>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189475cf00_0_0"/>
          <p:cNvSpPr txBox="1"/>
          <p:nvPr/>
        </p:nvSpPr>
        <p:spPr>
          <a:xfrm>
            <a:off x="30173154" y="18132175"/>
            <a:ext cx="13376700" cy="2770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600">
                <a:solidFill>
                  <a:srgbClr val="595959"/>
                </a:solidFill>
              </a:rPr>
              <a:t>Conclusion</a:t>
            </a:r>
            <a:r>
              <a:rPr lang="en-US" sz="2600">
                <a:solidFill>
                  <a:srgbClr val="595959"/>
                </a:solidFill>
              </a:rPr>
              <a:t>: </a:t>
            </a:r>
            <a:r>
              <a:rPr lang="en-US" sz="2600">
                <a:solidFill>
                  <a:srgbClr val="595959"/>
                </a:solidFill>
              </a:rPr>
              <a:t>In this experiment, only 67 ms primes produced priming effects on their cross-language targets, while 33 ms primes did not. These results suggest that priming effects for cross-language word pairs require above-chance visibility, which aligns with previous findings.</a:t>
            </a:r>
            <a:endParaRPr sz="2600">
              <a:solidFill>
                <a:srgbClr val="595959"/>
              </a:solidFill>
            </a:endParaRPr>
          </a:p>
        </p:txBody>
      </p:sp>
      <p:grpSp>
        <p:nvGrpSpPr>
          <p:cNvPr id="90" name="Google Shape;90;g3189475cf00_0_0"/>
          <p:cNvGrpSpPr/>
          <p:nvPr/>
        </p:nvGrpSpPr>
        <p:grpSpPr>
          <a:xfrm>
            <a:off x="21587955" y="13573449"/>
            <a:ext cx="7247040" cy="4063551"/>
            <a:chOff x="37167725" y="4665050"/>
            <a:chExt cx="5746602" cy="3200150"/>
          </a:xfrm>
        </p:grpSpPr>
        <p:pic>
          <p:nvPicPr>
            <p:cNvPr id="91" name="Google Shape;91;g3189475cf00_0_0"/>
            <p:cNvPicPr preferRelativeResize="0"/>
            <p:nvPr/>
          </p:nvPicPr>
          <p:blipFill rotWithShape="1">
            <a:blip r:embed="rId3">
              <a:alphaModFix/>
            </a:blip>
            <a:srcRect b="0" l="0" r="0" t="0"/>
            <a:stretch/>
          </p:blipFill>
          <p:spPr>
            <a:xfrm>
              <a:off x="37167725" y="4665050"/>
              <a:ext cx="5746602" cy="3200150"/>
            </a:xfrm>
            <a:prstGeom prst="rect">
              <a:avLst/>
            </a:prstGeom>
            <a:noFill/>
            <a:ln>
              <a:noFill/>
            </a:ln>
          </p:spPr>
        </p:pic>
        <p:sp>
          <p:nvSpPr>
            <p:cNvPr id="92" name="Google Shape;92;g3189475cf00_0_0"/>
            <p:cNvSpPr txBox="1"/>
            <p:nvPr/>
          </p:nvSpPr>
          <p:spPr>
            <a:xfrm>
              <a:off x="41009025" y="4800588"/>
              <a:ext cx="1472100" cy="1309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Arial"/>
                <a:buNone/>
              </a:pPr>
              <a:r>
                <a:rPr b="0" i="0" lang="en-US" sz="9600" u="none" cap="none" strike="noStrike">
                  <a:solidFill>
                    <a:srgbClr val="595959"/>
                  </a:solidFill>
                  <a:latin typeface="Arial"/>
                  <a:ea typeface="Arial"/>
                  <a:cs typeface="Arial"/>
                  <a:sym typeface="Arial"/>
                </a:rPr>
                <a:t>*</a:t>
              </a:r>
              <a:endParaRPr b="0" i="0" sz="9600" u="none" cap="none" strike="noStrike">
                <a:solidFill>
                  <a:srgbClr val="000000"/>
                </a:solidFill>
                <a:latin typeface="Arial"/>
                <a:ea typeface="Arial"/>
                <a:cs typeface="Arial"/>
                <a:sym typeface="Arial"/>
              </a:endParaRPr>
            </a:p>
          </p:txBody>
        </p:sp>
        <p:sp>
          <p:nvSpPr>
            <p:cNvPr id="93" name="Google Shape;93;g3189475cf00_0_0"/>
            <p:cNvSpPr txBox="1"/>
            <p:nvPr/>
          </p:nvSpPr>
          <p:spPr>
            <a:xfrm>
              <a:off x="38682800" y="5474588"/>
              <a:ext cx="1472100" cy="1309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Arial"/>
                <a:buNone/>
              </a:pPr>
              <a:r>
                <a:rPr b="0" i="0" lang="en-US" sz="9600" u="none" cap="none" strike="noStrike">
                  <a:solidFill>
                    <a:srgbClr val="595959"/>
                  </a:solidFill>
                  <a:latin typeface="Arial"/>
                  <a:ea typeface="Arial"/>
                  <a:cs typeface="Arial"/>
                  <a:sym typeface="Arial"/>
                </a:rPr>
                <a:t>*</a:t>
              </a:r>
              <a:endParaRPr b="0" i="0" sz="9600" u="none" cap="none" strike="noStrike">
                <a:solidFill>
                  <a:srgbClr val="000000"/>
                </a:solidFill>
                <a:latin typeface="Arial"/>
                <a:ea typeface="Arial"/>
                <a:cs typeface="Arial"/>
                <a:sym typeface="Arial"/>
              </a:endParaRPr>
            </a:p>
          </p:txBody>
        </p:sp>
      </p:grpSp>
      <p:sp>
        <p:nvSpPr>
          <p:cNvPr id="94" name="Google Shape;94;g3189475cf00_0_0"/>
          <p:cNvSpPr txBox="1"/>
          <p:nvPr/>
        </p:nvSpPr>
        <p:spPr>
          <a:xfrm>
            <a:off x="482266" y="4053300"/>
            <a:ext cx="12358800" cy="7357500"/>
          </a:xfrm>
          <a:prstGeom prst="rect">
            <a:avLst/>
          </a:prstGeom>
          <a:noFill/>
          <a:ln>
            <a:noFill/>
          </a:ln>
        </p:spPr>
        <p:txBody>
          <a:bodyPr anchorCtr="0" anchor="t" bIns="0" lIns="0" spcFirstLastPara="1" rIns="0" wrap="square" tIns="182875">
            <a:spAutoFit/>
          </a:bodyPr>
          <a:lstStyle/>
          <a:p>
            <a:pPr indent="-393700" lvl="0" marL="457200" rtl="0" algn="just">
              <a:spcBef>
                <a:spcPts val="0"/>
              </a:spcBef>
              <a:spcAft>
                <a:spcPts val="0"/>
              </a:spcAft>
              <a:buClr>
                <a:srgbClr val="595959"/>
              </a:buClr>
              <a:buSzPts val="2600"/>
              <a:buChar char="•"/>
            </a:pPr>
            <a:r>
              <a:rPr lang="en-US" sz="2600">
                <a:solidFill>
                  <a:srgbClr val="595959"/>
                </a:solidFill>
              </a:rPr>
              <a:t>Cross-language priming occurs when exposure to a word (the prime) in one language influences processing of a corresponding target word in another language; for example, the Spanish prime "amigo" followed by the English target "friend."</a:t>
            </a:r>
            <a:endParaRPr sz="2600">
              <a:solidFill>
                <a:srgbClr val="595959"/>
              </a:solidFill>
            </a:endParaRPr>
          </a:p>
          <a:p>
            <a:pPr indent="-393700" lvl="0" marL="457200" rtl="0" algn="just">
              <a:spcBef>
                <a:spcPts val="1500"/>
              </a:spcBef>
              <a:spcAft>
                <a:spcPts val="0"/>
              </a:spcAft>
              <a:buClr>
                <a:srgbClr val="595959"/>
              </a:buClr>
              <a:buSzPts val="2600"/>
              <a:buChar char="•"/>
            </a:pPr>
            <a:r>
              <a:rPr lang="en-US" sz="2600">
                <a:solidFill>
                  <a:srgbClr val="595959"/>
                </a:solidFill>
              </a:rPr>
              <a:t>Nakayama &amp; Lupker </a:t>
            </a:r>
            <a:r>
              <a:rPr lang="en-US" sz="2600">
                <a:solidFill>
                  <a:srgbClr val="595959"/>
                </a:solidFill>
              </a:rPr>
              <a:t>(2018) </a:t>
            </a:r>
            <a:r>
              <a:rPr lang="en-US" sz="2600">
                <a:solidFill>
                  <a:srgbClr val="595959"/>
                </a:solidFill>
              </a:rPr>
              <a:t>reported evidence for cross-language priming under display conditions (masking, short prime duration) which they claimed rendered primes consciously imperceptible.</a:t>
            </a:r>
            <a:endParaRPr sz="2600">
              <a:solidFill>
                <a:srgbClr val="595959"/>
              </a:solidFill>
            </a:endParaRPr>
          </a:p>
          <a:p>
            <a:pPr indent="-393700" lvl="0" marL="457200" rtl="0" algn="just">
              <a:spcBef>
                <a:spcPts val="1500"/>
              </a:spcBef>
              <a:spcAft>
                <a:spcPts val="0"/>
              </a:spcAft>
              <a:buClr>
                <a:srgbClr val="595959"/>
              </a:buClr>
              <a:buSzPts val="2600"/>
              <a:buChar char="•"/>
            </a:pPr>
            <a:r>
              <a:rPr lang="en-US" sz="2600">
                <a:solidFill>
                  <a:srgbClr val="595959"/>
                </a:solidFill>
              </a:rPr>
              <a:t>This intriguing finding implies the possibility that cross-language priming occurs at an unconscious level.</a:t>
            </a:r>
            <a:endParaRPr sz="2600">
              <a:solidFill>
                <a:srgbClr val="595959"/>
              </a:solidFill>
            </a:endParaRPr>
          </a:p>
          <a:p>
            <a:pPr indent="-393700" lvl="0" marL="457200" rtl="0" algn="just">
              <a:spcBef>
                <a:spcPts val="1500"/>
              </a:spcBef>
              <a:spcAft>
                <a:spcPts val="0"/>
              </a:spcAft>
              <a:buClr>
                <a:srgbClr val="595959"/>
              </a:buClr>
              <a:buSzPts val="2600"/>
              <a:buChar char="•"/>
            </a:pPr>
            <a:r>
              <a:rPr lang="en-US" sz="2600">
                <a:solidFill>
                  <a:srgbClr val="595959"/>
                </a:solidFill>
              </a:rPr>
              <a:t> The finding is intriguing in part because most research in unconscious priming has found that nonconsciously-perceptible primes are processed only after recent conscious (i.e. visible) practice with the words that subsequently appear as masked primes; Nakayama &amp; Lupker's primes had not been practiced.</a:t>
            </a:r>
            <a:endParaRPr sz="2600">
              <a:solidFill>
                <a:srgbClr val="595959"/>
              </a:solidFill>
            </a:endParaRPr>
          </a:p>
          <a:p>
            <a:pPr indent="-393700" lvl="0" marL="457200" rtl="0" algn="just">
              <a:spcBef>
                <a:spcPts val="1500"/>
              </a:spcBef>
              <a:spcAft>
                <a:spcPts val="1500"/>
              </a:spcAft>
              <a:buClr>
                <a:srgbClr val="595959"/>
              </a:buClr>
              <a:buSzPts val="2600"/>
              <a:buChar char="•"/>
            </a:pPr>
            <a:r>
              <a:rPr lang="en-US" sz="2600">
                <a:solidFill>
                  <a:srgbClr val="595959"/>
                </a:solidFill>
              </a:rPr>
              <a:t>We took an approach similar to Nakayama &amp; Lupker but with the addition of an explicit test of prime visibility (Nakayama &amp; Lupker did not use an explicit test of prime visibility).</a:t>
            </a:r>
            <a:endParaRPr sz="2600">
              <a:solidFill>
                <a:srgbClr val="595959"/>
              </a:solidFill>
            </a:endParaRPr>
          </a:p>
        </p:txBody>
      </p:sp>
      <p:sp>
        <p:nvSpPr>
          <p:cNvPr id="95" name="Google Shape;95;g3189475cf00_0_0"/>
          <p:cNvSpPr/>
          <p:nvPr/>
        </p:nvSpPr>
        <p:spPr>
          <a:xfrm>
            <a:off x="13467875" y="3296975"/>
            <a:ext cx="15954600" cy="7713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lang="en-US" sz="4400">
                <a:solidFill>
                  <a:schemeClr val="lt1"/>
                </a:solidFill>
              </a:rPr>
              <a:t>Experiment 1</a:t>
            </a:r>
            <a:endParaRPr b="0" i="0" sz="1400" u="none" cap="none" strike="noStrike">
              <a:solidFill>
                <a:srgbClr val="000000"/>
              </a:solidFill>
              <a:latin typeface="Arial"/>
              <a:ea typeface="Arial"/>
              <a:cs typeface="Arial"/>
              <a:sym typeface="Arial"/>
            </a:endParaRPr>
          </a:p>
        </p:txBody>
      </p:sp>
      <p:sp>
        <p:nvSpPr>
          <p:cNvPr id="96" name="Google Shape;96;g3189475cf00_0_0"/>
          <p:cNvSpPr/>
          <p:nvPr/>
        </p:nvSpPr>
        <p:spPr>
          <a:xfrm>
            <a:off x="30170931" y="20599600"/>
            <a:ext cx="13254000" cy="7695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chemeClr val="lt1"/>
                </a:solidFill>
                <a:latin typeface="Arial"/>
                <a:ea typeface="Arial"/>
                <a:cs typeface="Arial"/>
                <a:sym typeface="Arial"/>
              </a:rPr>
              <a:t>Discussion</a:t>
            </a:r>
            <a:endParaRPr b="0" i="0" sz="1400" u="none" cap="none" strike="noStrike">
              <a:solidFill>
                <a:srgbClr val="000000"/>
              </a:solidFill>
              <a:latin typeface="Arial"/>
              <a:ea typeface="Arial"/>
              <a:cs typeface="Arial"/>
              <a:sym typeface="Arial"/>
            </a:endParaRPr>
          </a:p>
        </p:txBody>
      </p:sp>
      <p:sp>
        <p:nvSpPr>
          <p:cNvPr id="97" name="Google Shape;97;g3189475cf00_0_0"/>
          <p:cNvSpPr/>
          <p:nvPr/>
        </p:nvSpPr>
        <p:spPr>
          <a:xfrm>
            <a:off x="0" y="1"/>
            <a:ext cx="43891200" cy="30063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g3189475cf00_0_0"/>
          <p:cNvSpPr txBox="1"/>
          <p:nvPr/>
        </p:nvSpPr>
        <p:spPr>
          <a:xfrm>
            <a:off x="0" y="155166"/>
            <a:ext cx="43891200" cy="2647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600"/>
              <a:buFont typeface="Arial"/>
              <a:buNone/>
            </a:pPr>
            <a:r>
              <a:rPr b="1" lang="en-US" sz="6600">
                <a:solidFill>
                  <a:schemeClr val="lt1"/>
                </a:solidFill>
              </a:rPr>
              <a:t>Essential Role of Consciousness in Cross-Language Masked Priming</a:t>
            </a:r>
            <a:endParaRPr b="1" sz="6600">
              <a:solidFill>
                <a:schemeClr val="lt1"/>
              </a:solidFill>
            </a:endParaRPr>
          </a:p>
          <a:p>
            <a:pPr indent="0" lvl="0" marL="0" marR="0" rtl="0" algn="ctr">
              <a:lnSpc>
                <a:spcPct val="100000"/>
              </a:lnSpc>
              <a:spcBef>
                <a:spcPts val="1200"/>
              </a:spcBef>
              <a:spcAft>
                <a:spcPts val="0"/>
              </a:spcAft>
              <a:buClr>
                <a:srgbClr val="000000"/>
              </a:buClr>
              <a:buSzPts val="4800"/>
              <a:buFont typeface="Arial"/>
              <a:buNone/>
            </a:pPr>
            <a:r>
              <a:rPr b="1" i="0" lang="en-US" sz="4800" u="none" cap="none" strike="noStrike">
                <a:solidFill>
                  <a:schemeClr val="lt1"/>
                </a:solidFill>
                <a:latin typeface="Arial"/>
                <a:ea typeface="Arial"/>
                <a:cs typeface="Arial"/>
                <a:sym typeface="Arial"/>
              </a:rPr>
              <a:t>Megan Chen, </a:t>
            </a:r>
            <a:r>
              <a:rPr b="1" lang="en-US" sz="4800">
                <a:solidFill>
                  <a:schemeClr val="lt1"/>
                </a:solidFill>
              </a:rPr>
              <a:t>Samantha Cheng, </a:t>
            </a:r>
            <a:r>
              <a:rPr b="1" i="0" lang="en-US" sz="4800" u="none" cap="none" strike="noStrike">
                <a:solidFill>
                  <a:schemeClr val="lt1"/>
                </a:solidFill>
                <a:latin typeface="Arial"/>
                <a:ea typeface="Arial"/>
                <a:cs typeface="Arial"/>
                <a:sym typeface="Arial"/>
              </a:rPr>
              <a:t>Ela Nordfors, Abigail Mora, Richard L. Abrams, Ph.D.</a:t>
            </a:r>
            <a:br>
              <a:rPr b="1" i="0" lang="en-US" sz="4800" u="none" cap="none" strike="noStrike">
                <a:solidFill>
                  <a:schemeClr val="lt1"/>
                </a:solidFill>
                <a:latin typeface="Arial"/>
                <a:ea typeface="Arial"/>
                <a:cs typeface="Arial"/>
                <a:sym typeface="Arial"/>
              </a:rPr>
            </a:br>
            <a:r>
              <a:rPr b="0" i="0" lang="en-US" sz="4800" u="none" cap="none" strike="noStrike">
                <a:solidFill>
                  <a:schemeClr val="lt1"/>
                </a:solidFill>
                <a:latin typeface="Arial"/>
                <a:ea typeface="Arial"/>
                <a:cs typeface="Arial"/>
                <a:sym typeface="Arial"/>
              </a:rPr>
              <a:t>Department of Psychological Science, Loyola Marymount University</a:t>
            </a:r>
            <a:endParaRPr b="0" i="0" sz="1400" u="none" cap="none" strike="noStrike">
              <a:solidFill>
                <a:srgbClr val="000000"/>
              </a:solidFill>
              <a:latin typeface="Arial"/>
              <a:ea typeface="Arial"/>
              <a:cs typeface="Arial"/>
              <a:sym typeface="Arial"/>
            </a:endParaRPr>
          </a:p>
        </p:txBody>
      </p:sp>
      <p:pic>
        <p:nvPicPr>
          <p:cNvPr id="99" name="Google Shape;99;g3189475cf00_0_0"/>
          <p:cNvPicPr preferRelativeResize="0"/>
          <p:nvPr/>
        </p:nvPicPr>
        <p:blipFill rotWithShape="1">
          <a:blip r:embed="rId4">
            <a:alphaModFix/>
          </a:blip>
          <a:srcRect b="0" l="0" r="0" t="0"/>
          <a:stretch/>
        </p:blipFill>
        <p:spPr>
          <a:xfrm>
            <a:off x="41532353" y="1045513"/>
            <a:ext cx="1921432" cy="1921432"/>
          </a:xfrm>
          <a:prstGeom prst="rect">
            <a:avLst/>
          </a:prstGeom>
          <a:noFill/>
          <a:ln>
            <a:noFill/>
          </a:ln>
        </p:spPr>
      </p:pic>
      <p:graphicFrame>
        <p:nvGraphicFramePr>
          <p:cNvPr id="100" name="Google Shape;100;g3189475cf00_0_0"/>
          <p:cNvGraphicFramePr/>
          <p:nvPr/>
        </p:nvGraphicFramePr>
        <p:xfrm>
          <a:off x="22457888" y="26278688"/>
          <a:ext cx="3000000" cy="3000000"/>
        </p:xfrm>
        <a:graphic>
          <a:graphicData uri="http://schemas.openxmlformats.org/drawingml/2006/table">
            <a:tbl>
              <a:tblPr>
                <a:noFill/>
                <a:tableStyleId>{A01C7AB5-275D-4F89-8F66-E7E8DCEF08D5}</a:tableStyleId>
              </a:tblPr>
              <a:tblGrid>
                <a:gridCol w="1564750"/>
                <a:gridCol w="2071350"/>
                <a:gridCol w="1560925"/>
                <a:gridCol w="1679900"/>
              </a:tblGrid>
              <a:tr h="8956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Condition </a:t>
                      </a:r>
                      <a:endParaRPr sz="2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Mask/Prime Duration (ms)</a:t>
                      </a:r>
                      <a:endParaRPr sz="2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Priming effect </a:t>
                      </a:r>
                      <a:endParaRPr sz="2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Visibility</a:t>
                      </a:r>
                      <a:endParaRPr sz="2400" u="none" cap="none" strike="noStrike"/>
                    </a:p>
                  </a:txBody>
                  <a:tcPr marT="91425" marB="91425" marR="91425" marL="91425"/>
                </a:tc>
              </a:tr>
              <a:tr h="10000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1</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333 / 33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.713</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.965</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2</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233 / 33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.516</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.859</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3</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133 / 33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.930</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.361</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4</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333 / 50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.770</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.079</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5</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233 / 50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.129</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.305</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6</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133 / 50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.093</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.058</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7</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333 / 67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.138</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.290</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8</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233 / 67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.065</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=.056</a:t>
                      </a:r>
                      <a:endParaRPr sz="2400" u="none" cap="none" strike="noStrike"/>
                    </a:p>
                  </a:txBody>
                  <a:tcPr marT="91425" marB="91425" marR="91425" marL="91425"/>
                </a:tc>
              </a:tr>
              <a:tr h="424250">
                <a:tc>
                  <a:txBody>
                    <a:bodyPr/>
                    <a:lstStyle/>
                    <a:p>
                      <a:pPr indent="0" lvl="0" marL="0" marR="0" rtl="0" algn="ctr">
                        <a:lnSpc>
                          <a:spcPct val="100000"/>
                        </a:lnSpc>
                        <a:spcBef>
                          <a:spcPts val="0"/>
                        </a:spcBef>
                        <a:spcAft>
                          <a:spcPts val="0"/>
                        </a:spcAft>
                        <a:buClr>
                          <a:srgbClr val="000000"/>
                        </a:buClr>
                        <a:buSzPts val="1500"/>
                        <a:buFont typeface="Arial"/>
                        <a:buNone/>
                      </a:pPr>
                      <a:r>
                        <a:rPr lang="en-US" sz="2400" u="none" cap="none" strike="noStrike"/>
                        <a:t>9</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lang="en-US" sz="2400" u="none" cap="none" strike="noStrike"/>
                        <a:t>133 / 67 ms</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.005</a:t>
                      </a:r>
                      <a:endParaRPr sz="2400" u="none" cap="none" strike="noStrike"/>
                    </a:p>
                  </a:txBody>
                  <a:tcPr marT="91425" marB="91425" marR="91425" marL="91425"/>
                </a:tc>
                <a:tc>
                  <a:txBody>
                    <a:bodyPr/>
                    <a:lstStyle/>
                    <a:p>
                      <a:pPr indent="0" lvl="0" marL="0" marR="0" rtl="0" algn="r">
                        <a:lnSpc>
                          <a:spcPct val="100000"/>
                        </a:lnSpc>
                        <a:spcBef>
                          <a:spcPts val="0"/>
                        </a:spcBef>
                        <a:spcAft>
                          <a:spcPts val="0"/>
                        </a:spcAft>
                        <a:buClr>
                          <a:srgbClr val="000000"/>
                        </a:buClr>
                        <a:buSzPts val="1500"/>
                        <a:buFont typeface="Arial"/>
                        <a:buNone/>
                      </a:pPr>
                      <a:r>
                        <a:rPr i="1" lang="en-US" sz="2400" u="none" cap="none" strike="noStrike">
                          <a:solidFill>
                            <a:schemeClr val="dk1"/>
                          </a:solidFill>
                        </a:rPr>
                        <a:t>p</a:t>
                      </a:r>
                      <a:r>
                        <a:rPr lang="en-US" sz="2400" u="none" cap="none" strike="noStrike">
                          <a:solidFill>
                            <a:schemeClr val="dk1"/>
                          </a:solidFill>
                        </a:rPr>
                        <a:t> = .140</a:t>
                      </a:r>
                      <a:endParaRPr sz="2400" u="none" cap="none" strike="noStrike"/>
                    </a:p>
                  </a:txBody>
                  <a:tcPr marT="91425" marB="91425" marR="91425" marL="91425"/>
                </a:tc>
              </a:tr>
            </a:tbl>
          </a:graphicData>
        </a:graphic>
      </p:graphicFrame>
      <p:sp>
        <p:nvSpPr>
          <p:cNvPr id="101" name="Google Shape;101;g3189475cf00_0_0"/>
          <p:cNvSpPr txBox="1"/>
          <p:nvPr/>
        </p:nvSpPr>
        <p:spPr>
          <a:xfrm>
            <a:off x="27870738" y="30981875"/>
            <a:ext cx="1472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3600" u="none" cap="none" strike="noStrike">
                <a:solidFill>
                  <a:srgbClr val="595959"/>
                </a:solidFill>
              </a:rPr>
              <a:t>*</a:t>
            </a:r>
            <a:endParaRPr b="1" i="0" sz="3600" u="none" cap="none" strike="noStrike">
              <a:solidFill>
                <a:srgbClr val="000000"/>
              </a:solidFill>
            </a:endParaRPr>
          </a:p>
        </p:txBody>
      </p:sp>
      <p:sp>
        <p:nvSpPr>
          <p:cNvPr id="102" name="Google Shape;102;g3189475cf00_0_0"/>
          <p:cNvSpPr txBox="1"/>
          <p:nvPr/>
        </p:nvSpPr>
        <p:spPr>
          <a:xfrm>
            <a:off x="26159913" y="30981875"/>
            <a:ext cx="1472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3600" u="none" cap="none" strike="noStrike">
                <a:solidFill>
                  <a:srgbClr val="595959"/>
                </a:solidFill>
              </a:rPr>
              <a:t>*</a:t>
            </a:r>
            <a:endParaRPr b="1" i="0" sz="3600" u="none" cap="none" strike="noStrike">
              <a:solidFill>
                <a:srgbClr val="000000"/>
              </a:solidFill>
            </a:endParaRPr>
          </a:p>
        </p:txBody>
      </p:sp>
      <p:sp>
        <p:nvSpPr>
          <p:cNvPr id="103" name="Google Shape;103;g3189475cf00_0_0"/>
          <p:cNvSpPr/>
          <p:nvPr/>
        </p:nvSpPr>
        <p:spPr>
          <a:xfrm>
            <a:off x="443575" y="3296975"/>
            <a:ext cx="12409800" cy="7713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lang="en-US" sz="4400">
                <a:solidFill>
                  <a:schemeClr val="lt1"/>
                </a:solidFill>
              </a:rPr>
              <a:t>Introduction</a:t>
            </a:r>
            <a:endParaRPr b="0" i="0" sz="1400" u="none" cap="none" strike="noStrike">
              <a:solidFill>
                <a:srgbClr val="000000"/>
              </a:solidFill>
              <a:latin typeface="Arial"/>
              <a:ea typeface="Arial"/>
              <a:cs typeface="Arial"/>
              <a:sym typeface="Arial"/>
            </a:endParaRPr>
          </a:p>
        </p:txBody>
      </p:sp>
      <p:sp>
        <p:nvSpPr>
          <p:cNvPr id="104" name="Google Shape;104;g3189475cf00_0_0"/>
          <p:cNvSpPr/>
          <p:nvPr/>
        </p:nvSpPr>
        <p:spPr>
          <a:xfrm>
            <a:off x="443575" y="12019775"/>
            <a:ext cx="12409800" cy="7713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lang="en-US" sz="4400">
                <a:solidFill>
                  <a:schemeClr val="lt1"/>
                </a:solidFill>
              </a:rPr>
              <a:t>General Method</a:t>
            </a:r>
            <a:endParaRPr b="0" i="0" sz="1400" u="none" cap="none" strike="noStrike">
              <a:solidFill>
                <a:srgbClr val="000000"/>
              </a:solidFill>
              <a:latin typeface="Arial"/>
              <a:ea typeface="Arial"/>
              <a:cs typeface="Arial"/>
              <a:sym typeface="Arial"/>
            </a:endParaRPr>
          </a:p>
        </p:txBody>
      </p:sp>
      <p:sp>
        <p:nvSpPr>
          <p:cNvPr id="105" name="Google Shape;105;g3189475cf00_0_0"/>
          <p:cNvSpPr/>
          <p:nvPr/>
        </p:nvSpPr>
        <p:spPr>
          <a:xfrm>
            <a:off x="30036975" y="3296975"/>
            <a:ext cx="13401300" cy="7713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lang="en-US" sz="4400">
                <a:solidFill>
                  <a:schemeClr val="lt1"/>
                </a:solidFill>
              </a:rPr>
              <a:t>Experiment 3</a:t>
            </a:r>
            <a:endParaRPr b="0" i="0" sz="1400" u="none" cap="none" strike="noStrike">
              <a:solidFill>
                <a:srgbClr val="000000"/>
              </a:solidFill>
              <a:latin typeface="Arial"/>
              <a:ea typeface="Arial"/>
              <a:cs typeface="Arial"/>
              <a:sym typeface="Arial"/>
            </a:endParaRPr>
          </a:p>
        </p:txBody>
      </p:sp>
      <p:sp>
        <p:nvSpPr>
          <p:cNvPr id="106" name="Google Shape;106;g3189475cf00_0_0"/>
          <p:cNvSpPr txBox="1"/>
          <p:nvPr/>
        </p:nvSpPr>
        <p:spPr>
          <a:xfrm>
            <a:off x="506364" y="12907650"/>
            <a:ext cx="12358800" cy="10559100"/>
          </a:xfrm>
          <a:prstGeom prst="rect">
            <a:avLst/>
          </a:prstGeom>
          <a:noFill/>
          <a:ln>
            <a:noFill/>
          </a:ln>
        </p:spPr>
        <p:txBody>
          <a:bodyPr anchorCtr="0" anchor="t" bIns="0" lIns="0" spcFirstLastPara="1" rIns="0" wrap="square" tIns="182875">
            <a:spAutoFit/>
          </a:bodyPr>
          <a:lstStyle/>
          <a:p>
            <a:pPr indent="-393700" lvl="0" marL="457200" rtl="0" algn="just">
              <a:lnSpc>
                <a:spcPct val="115000"/>
              </a:lnSpc>
              <a:spcBef>
                <a:spcPts val="0"/>
              </a:spcBef>
              <a:spcAft>
                <a:spcPts val="0"/>
              </a:spcAft>
              <a:buClr>
                <a:srgbClr val="595959"/>
              </a:buClr>
              <a:buSzPts val="2600"/>
              <a:buChar char="•"/>
            </a:pPr>
            <a:r>
              <a:rPr lang="en-US" sz="2600">
                <a:solidFill>
                  <a:srgbClr val="595959"/>
                </a:solidFill>
              </a:rPr>
              <a:t>Participants first gained practice categorizing targets not preceded by primes as “pleasant” or “unpleasant.” </a:t>
            </a:r>
            <a:endParaRPr sz="2600">
              <a:solidFill>
                <a:srgbClr val="595959"/>
              </a:solidFill>
            </a:endParaRPr>
          </a:p>
          <a:p>
            <a:pPr indent="-393700" lvl="0" marL="457200" rtl="0" algn="just">
              <a:lnSpc>
                <a:spcPct val="115000"/>
              </a:lnSpc>
              <a:spcBef>
                <a:spcPts val="1500"/>
              </a:spcBef>
              <a:spcAft>
                <a:spcPts val="0"/>
              </a:spcAft>
              <a:buClr>
                <a:srgbClr val="595959"/>
              </a:buClr>
              <a:buSzPts val="2600"/>
              <a:buChar char="•"/>
            </a:pPr>
            <a:r>
              <a:rPr lang="en-US" sz="2600">
                <a:solidFill>
                  <a:srgbClr val="595959"/>
                </a:solidFill>
              </a:rPr>
              <a:t>They then did a priming task, in which the same target words they have been practicing were now preceded just before by primes. These primes were briefly flashed, visually masked words in a different language (Experiments 1 &amp; 3) or set (Experiment 2) from the target words. Semantic similarity was controlled for. Primes were not shown to participants prior to their appearance as primes.</a:t>
            </a:r>
            <a:endParaRPr sz="2600">
              <a:solidFill>
                <a:srgbClr val="595959"/>
              </a:solidFill>
            </a:endParaRPr>
          </a:p>
          <a:p>
            <a:pPr indent="-393700" lvl="0" marL="457200" rtl="0" algn="just">
              <a:lnSpc>
                <a:spcPct val="115000"/>
              </a:lnSpc>
              <a:spcBef>
                <a:spcPts val="1500"/>
              </a:spcBef>
              <a:spcAft>
                <a:spcPts val="0"/>
              </a:spcAft>
              <a:buClr>
                <a:srgbClr val="595959"/>
              </a:buClr>
              <a:buSzPts val="2600"/>
              <a:buChar char="•"/>
            </a:pPr>
            <a:r>
              <a:rPr lang="en-US" sz="2600">
                <a:solidFill>
                  <a:srgbClr val="595959"/>
                </a:solidFill>
              </a:rPr>
              <a:t>The categorization task was speeded by use of a response window which, as in earlier work</a:t>
            </a:r>
            <a:r>
              <a:rPr lang="en-US" sz="2600">
                <a:solidFill>
                  <a:srgbClr val="595959"/>
                </a:solidFill>
              </a:rPr>
              <a:t> (Draine &amp; Greenwald),</a:t>
            </a:r>
            <a:r>
              <a:rPr lang="en-US" sz="2600">
                <a:solidFill>
                  <a:srgbClr val="595959"/>
                </a:solidFill>
              </a:rPr>
              <a:t> obliges participants to respond quickly to maximize responding during the fleeting activation elicited by the masked primes. </a:t>
            </a:r>
            <a:endParaRPr sz="2600">
              <a:solidFill>
                <a:srgbClr val="595959"/>
              </a:solidFill>
            </a:endParaRPr>
          </a:p>
          <a:p>
            <a:pPr indent="-393700" lvl="0" marL="457200" rtl="0" algn="just">
              <a:lnSpc>
                <a:spcPct val="115000"/>
              </a:lnSpc>
              <a:spcBef>
                <a:spcPts val="1500"/>
              </a:spcBef>
              <a:spcAft>
                <a:spcPts val="0"/>
              </a:spcAft>
              <a:buClr>
                <a:srgbClr val="595959"/>
              </a:buClr>
              <a:buSzPts val="2600"/>
              <a:buChar char="•"/>
            </a:pPr>
            <a:r>
              <a:rPr lang="en-US" sz="2600">
                <a:solidFill>
                  <a:srgbClr val="595959"/>
                </a:solidFill>
              </a:rPr>
              <a:t>Primes were either congruent (same category) with the following target or incongruent (different category). In analyzing data, we calculated </a:t>
            </a:r>
            <a:r>
              <a:rPr b="1" lang="en-US" sz="2600">
                <a:solidFill>
                  <a:srgbClr val="595959"/>
                </a:solidFill>
              </a:rPr>
              <a:t>priming effect as the difference in accuracy between congruent and incongruent trials</a:t>
            </a:r>
            <a:r>
              <a:rPr lang="en-US" sz="2600">
                <a:solidFill>
                  <a:srgbClr val="595959"/>
                </a:solidFill>
              </a:rPr>
              <a:t>. A significant priming effect indicates that the category of the primes affects accuracy in target categorization. </a:t>
            </a:r>
            <a:endParaRPr sz="2600">
              <a:solidFill>
                <a:srgbClr val="595959"/>
              </a:solidFill>
            </a:endParaRPr>
          </a:p>
          <a:p>
            <a:pPr indent="-393700" lvl="0" marL="457200" rtl="0" algn="just">
              <a:lnSpc>
                <a:spcPct val="115000"/>
              </a:lnSpc>
              <a:spcBef>
                <a:spcPts val="1500"/>
              </a:spcBef>
              <a:spcAft>
                <a:spcPts val="1500"/>
              </a:spcAft>
              <a:buClr>
                <a:srgbClr val="595959"/>
              </a:buClr>
              <a:buSzPts val="2600"/>
              <a:buChar char="•"/>
            </a:pPr>
            <a:r>
              <a:rPr lang="en-US" sz="2600">
                <a:solidFill>
                  <a:srgbClr val="595959"/>
                </a:solidFill>
              </a:rPr>
              <a:t>After the priming task, participants completed a visibility task. These trials were structured the same way as the priming task, but participants were asked to categorize the primes instead of the targets. In analyzing data, accuracy significantly above </a:t>
            </a:r>
            <a:r>
              <a:rPr i="1" lang="en-US" sz="2600">
                <a:solidFill>
                  <a:srgbClr val="595959"/>
                </a:solidFill>
              </a:rPr>
              <a:t>M</a:t>
            </a:r>
            <a:r>
              <a:rPr lang="en-US" sz="2600">
                <a:solidFill>
                  <a:srgbClr val="595959"/>
                </a:solidFill>
              </a:rPr>
              <a:t> = .50 indicates that participants were able to categorize the primes more accurately than if they were merely guessing, which points to visibility.</a:t>
            </a:r>
            <a:endParaRPr sz="2600">
              <a:solidFill>
                <a:srgbClr val="595959"/>
              </a:solidFill>
            </a:endParaRPr>
          </a:p>
        </p:txBody>
      </p:sp>
      <p:sp>
        <p:nvSpPr>
          <p:cNvPr id="107" name="Google Shape;107;g3189475cf00_0_0"/>
          <p:cNvSpPr/>
          <p:nvPr/>
        </p:nvSpPr>
        <p:spPr>
          <a:xfrm>
            <a:off x="13522050" y="20611500"/>
            <a:ext cx="15954600" cy="7713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lang="en-US" sz="4400">
                <a:solidFill>
                  <a:schemeClr val="lt1"/>
                </a:solidFill>
              </a:rPr>
              <a:t>Experiment 2</a:t>
            </a:r>
            <a:endParaRPr b="0" i="0" sz="1400" u="none" cap="none" strike="noStrike">
              <a:solidFill>
                <a:srgbClr val="000000"/>
              </a:solidFill>
              <a:latin typeface="Arial"/>
              <a:ea typeface="Arial"/>
              <a:cs typeface="Arial"/>
              <a:sym typeface="Arial"/>
            </a:endParaRPr>
          </a:p>
        </p:txBody>
      </p:sp>
      <p:grpSp>
        <p:nvGrpSpPr>
          <p:cNvPr id="108" name="Google Shape;108;g3189475cf00_0_0"/>
          <p:cNvGrpSpPr/>
          <p:nvPr/>
        </p:nvGrpSpPr>
        <p:grpSpPr>
          <a:xfrm>
            <a:off x="822556" y="23940495"/>
            <a:ext cx="11916848" cy="4516060"/>
            <a:chOff x="698826" y="19635700"/>
            <a:chExt cx="13892339" cy="4516060"/>
          </a:xfrm>
        </p:grpSpPr>
        <p:sp>
          <p:nvSpPr>
            <p:cNvPr id="109" name="Google Shape;109;g3189475cf00_0_0"/>
            <p:cNvSpPr/>
            <p:nvPr/>
          </p:nvSpPr>
          <p:spPr>
            <a:xfrm>
              <a:off x="721564" y="20109560"/>
              <a:ext cx="13869600" cy="4042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 name="Google Shape;110;g3189475cf00_0_0"/>
            <p:cNvSpPr txBox="1"/>
            <p:nvPr/>
          </p:nvSpPr>
          <p:spPr>
            <a:xfrm>
              <a:off x="4359938" y="20326696"/>
              <a:ext cx="6004200" cy="461700"/>
            </a:xfrm>
            <a:prstGeom prst="rect">
              <a:avLst/>
            </a:prstGeom>
            <a:solidFill>
              <a:srgbClr val="E6E6E6"/>
            </a:solid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600"/>
                <a:buFont typeface="Arial"/>
                <a:buNone/>
              </a:pPr>
              <a:r>
                <a:rPr b="0" i="0" lang="en-US" sz="2400" u="none" cap="none" strike="noStrike">
                  <a:solidFill>
                    <a:schemeClr val="dk1"/>
                  </a:solidFill>
                  <a:latin typeface="Arial"/>
                  <a:ea typeface="Arial"/>
                  <a:cs typeface="Arial"/>
                  <a:sym typeface="Arial"/>
                </a:rPr>
                <a:t>Response window</a:t>
              </a:r>
              <a:endParaRPr b="0" i="0" sz="2400" u="none" cap="none" strike="noStrike">
                <a:solidFill>
                  <a:srgbClr val="000000"/>
                </a:solidFill>
                <a:latin typeface="Arial"/>
                <a:ea typeface="Arial"/>
                <a:cs typeface="Arial"/>
                <a:sym typeface="Arial"/>
              </a:endParaRPr>
            </a:p>
          </p:txBody>
        </p:sp>
        <p:sp>
          <p:nvSpPr>
            <p:cNvPr id="111" name="Google Shape;111;g3189475cf00_0_0"/>
            <p:cNvSpPr/>
            <p:nvPr/>
          </p:nvSpPr>
          <p:spPr>
            <a:xfrm>
              <a:off x="10513923" y="20234753"/>
              <a:ext cx="3444000" cy="575400"/>
            </a:xfrm>
            <a:prstGeom prst="rect">
              <a:avLst/>
            </a:prstGeom>
            <a:solidFill>
              <a:schemeClr val="lt1"/>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600"/>
                <a:buFont typeface="Arial"/>
                <a:buNone/>
              </a:pPr>
              <a:r>
                <a:rPr b="0" i="0" lang="en-US" sz="3600" u="none" cap="none" strike="noStrike">
                  <a:solidFill>
                    <a:srgbClr val="FF0000"/>
                  </a:solidFill>
                  <a:latin typeface="Arial"/>
                  <a:ea typeface="Arial"/>
                  <a:cs typeface="Arial"/>
                  <a:sym typeface="Arial"/>
                </a:rPr>
                <a:t>!</a:t>
              </a:r>
              <a:endParaRPr b="0" i="0" sz="3600" u="none" cap="none" strike="noStrike">
                <a:solidFill>
                  <a:srgbClr val="FF0000"/>
                </a:solidFill>
                <a:latin typeface="Arial"/>
                <a:ea typeface="Arial"/>
                <a:cs typeface="Arial"/>
                <a:sym typeface="Arial"/>
              </a:endParaRPr>
            </a:p>
          </p:txBody>
        </p:sp>
        <p:sp>
          <p:nvSpPr>
            <p:cNvPr id="112" name="Google Shape;112;g3189475cf00_0_0"/>
            <p:cNvSpPr txBox="1"/>
            <p:nvPr/>
          </p:nvSpPr>
          <p:spPr>
            <a:xfrm>
              <a:off x="698826" y="23113655"/>
              <a:ext cx="4253100" cy="831000"/>
            </a:xfrm>
            <a:prstGeom prst="rect">
              <a:avLst/>
            </a:prstGeom>
            <a:solidFill>
              <a:srgbClr val="E6E6E6"/>
            </a:solid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600"/>
                <a:buFont typeface="Arial"/>
                <a:buNone/>
              </a:pPr>
              <a:r>
                <a:rPr b="0" i="0" lang="en-US" sz="2400" u="none" cap="none" strike="noStrike">
                  <a:solidFill>
                    <a:schemeClr val="dk1"/>
                  </a:solidFill>
                  <a:latin typeface="Arial"/>
                  <a:ea typeface="Arial"/>
                  <a:cs typeface="Arial"/>
                  <a:sym typeface="Arial"/>
                </a:rPr>
                <a:t>Forward mask, 300</a:t>
              </a:r>
              <a:r>
                <a:rPr lang="en-US" sz="2400">
                  <a:solidFill>
                    <a:schemeClr val="dk1"/>
                  </a:solidFill>
                </a:rPr>
                <a:t> ms (Expt 1)</a:t>
              </a:r>
              <a:r>
                <a:rPr b="0" i="0" lang="en-US" sz="2400" u="none" cap="none" strike="noStrike">
                  <a:solidFill>
                    <a:schemeClr val="dk1"/>
                  </a:solidFill>
                  <a:latin typeface="Arial"/>
                  <a:ea typeface="Arial"/>
                  <a:cs typeface="Arial"/>
                  <a:sym typeface="Arial"/>
                </a:rPr>
                <a:t> 233 ms (Exp</a:t>
              </a:r>
              <a:r>
                <a:rPr lang="en-US" sz="2400">
                  <a:solidFill>
                    <a:schemeClr val="dk1"/>
                  </a:solidFill>
                </a:rPr>
                <a:t>t 3</a:t>
              </a:r>
              <a:r>
                <a:rPr b="0" i="0" lang="en-US"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
          <p:nvSpPr>
            <p:cNvPr id="113" name="Google Shape;113;g3189475cf00_0_0"/>
            <p:cNvSpPr txBox="1"/>
            <p:nvPr/>
          </p:nvSpPr>
          <p:spPr>
            <a:xfrm>
              <a:off x="2743186" y="21809605"/>
              <a:ext cx="4430100" cy="461700"/>
            </a:xfrm>
            <a:prstGeom prst="rect">
              <a:avLst/>
            </a:prstGeom>
            <a:solidFill>
              <a:srgbClr val="E6E6E6"/>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400" u="none" cap="none" strike="noStrike">
                  <a:solidFill>
                    <a:schemeClr val="dk1"/>
                  </a:solidFill>
                  <a:latin typeface="Arial"/>
                  <a:ea typeface="Arial"/>
                  <a:cs typeface="Arial"/>
                  <a:sym typeface="Arial"/>
                </a:rPr>
                <a:t>Backward mask, 33 ms</a:t>
              </a:r>
              <a:endParaRPr b="0" i="0" sz="2400" u="none" cap="none" strike="noStrike">
                <a:solidFill>
                  <a:schemeClr val="dk1"/>
                </a:solidFill>
                <a:latin typeface="Arial"/>
                <a:ea typeface="Arial"/>
                <a:cs typeface="Arial"/>
                <a:sym typeface="Arial"/>
              </a:endParaRPr>
            </a:p>
          </p:txBody>
        </p:sp>
        <p:sp>
          <p:nvSpPr>
            <p:cNvPr id="114" name="Google Shape;114;g3189475cf00_0_0"/>
            <p:cNvSpPr/>
            <p:nvPr/>
          </p:nvSpPr>
          <p:spPr>
            <a:xfrm>
              <a:off x="1171840" y="22481016"/>
              <a:ext cx="4530600" cy="361200"/>
            </a:xfrm>
            <a:prstGeom prst="rect">
              <a:avLst/>
            </a:prstGeom>
            <a:solidFill>
              <a:srgbClr val="E6E6E6"/>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600"/>
                <a:buFont typeface="Arial"/>
                <a:buNone/>
              </a:pPr>
              <a:r>
                <a:rPr b="0" i="0" lang="en-US" sz="2400" u="none" cap="none" strike="noStrike">
                  <a:solidFill>
                    <a:schemeClr val="dk1"/>
                  </a:solidFill>
                  <a:latin typeface="Arial"/>
                  <a:ea typeface="Arial"/>
                  <a:cs typeface="Arial"/>
                  <a:sym typeface="Arial"/>
                </a:rPr>
                <a:t>Prime, 33, 50, or 67 ms</a:t>
              </a:r>
              <a:endParaRPr b="0" i="0" sz="2400" u="none" cap="none" strike="noStrike">
                <a:solidFill>
                  <a:schemeClr val="dk1"/>
                </a:solidFill>
                <a:latin typeface="Arial"/>
                <a:ea typeface="Arial"/>
                <a:cs typeface="Arial"/>
                <a:sym typeface="Arial"/>
              </a:endParaRPr>
            </a:p>
          </p:txBody>
        </p:sp>
        <p:sp>
          <p:nvSpPr>
            <p:cNvPr id="115" name="Google Shape;115;g3189475cf00_0_0"/>
            <p:cNvSpPr txBox="1"/>
            <p:nvPr/>
          </p:nvSpPr>
          <p:spPr>
            <a:xfrm>
              <a:off x="3636179" y="20841503"/>
              <a:ext cx="5720700" cy="831000"/>
            </a:xfrm>
            <a:prstGeom prst="rect">
              <a:avLst/>
            </a:prstGeom>
            <a:solidFill>
              <a:srgbClr val="E6E6E6"/>
            </a:solid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600"/>
                <a:buFont typeface="Arial"/>
                <a:buNone/>
              </a:pPr>
              <a:r>
                <a:rPr b="0" i="0" lang="en-US" sz="2400" u="none" cap="none" strike="noStrike">
                  <a:solidFill>
                    <a:schemeClr val="dk1"/>
                  </a:solidFill>
                  <a:latin typeface="Arial"/>
                  <a:ea typeface="Arial"/>
                  <a:cs typeface="Arial"/>
                  <a:sym typeface="Arial"/>
                </a:rPr>
                <a:t>Target (example of an incongruent trial from Expt 3), 400 ms</a:t>
              </a:r>
              <a:endParaRPr b="0" i="0" sz="2400" u="none" cap="none" strike="noStrike">
                <a:solidFill>
                  <a:schemeClr val="dk1"/>
                </a:solidFill>
                <a:latin typeface="Arial"/>
                <a:ea typeface="Arial"/>
                <a:cs typeface="Arial"/>
                <a:sym typeface="Arial"/>
              </a:endParaRPr>
            </a:p>
          </p:txBody>
        </p:sp>
        <p:sp>
          <p:nvSpPr>
            <p:cNvPr id="116" name="Google Shape;116;g3189475cf00_0_0"/>
            <p:cNvSpPr/>
            <p:nvPr/>
          </p:nvSpPr>
          <p:spPr>
            <a:xfrm>
              <a:off x="5798317" y="22464757"/>
              <a:ext cx="3444000" cy="563700"/>
            </a:xfrm>
            <a:prstGeom prst="rect">
              <a:avLst/>
            </a:prstGeom>
            <a:solidFill>
              <a:schemeClr val="lt1"/>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0" i="0" lang="en-US" sz="3000" u="none" cap="none" strike="noStrike">
                  <a:solidFill>
                    <a:schemeClr val="dk1"/>
                  </a:solidFill>
                  <a:latin typeface="Arial"/>
                  <a:ea typeface="Arial"/>
                  <a:cs typeface="Arial"/>
                  <a:sym typeface="Arial"/>
                </a:rPr>
                <a:t>FRIEND</a:t>
              </a:r>
              <a:endParaRPr b="0" i="0" sz="3000" u="none" cap="none" strike="noStrike">
                <a:solidFill>
                  <a:srgbClr val="000000"/>
                </a:solidFill>
                <a:latin typeface="Arial"/>
                <a:ea typeface="Arial"/>
                <a:cs typeface="Arial"/>
                <a:sym typeface="Arial"/>
              </a:endParaRPr>
            </a:p>
          </p:txBody>
        </p:sp>
        <p:pic>
          <p:nvPicPr>
            <p:cNvPr id="117" name="Google Shape;117;g3189475cf00_0_0"/>
            <p:cNvPicPr preferRelativeResize="0"/>
            <p:nvPr/>
          </p:nvPicPr>
          <p:blipFill rotWithShape="1">
            <a:blip r:embed="rId5">
              <a:alphaModFix/>
            </a:blip>
            <a:srcRect b="0" l="0" r="0" t="0"/>
            <a:stretch/>
          </p:blipFill>
          <p:spPr>
            <a:xfrm>
              <a:off x="6806240" y="21792371"/>
              <a:ext cx="3444008" cy="563550"/>
            </a:xfrm>
            <a:prstGeom prst="rect">
              <a:avLst/>
            </a:prstGeom>
            <a:solidFill>
              <a:schemeClr val="dk1"/>
            </a:solidFill>
            <a:ln cap="flat" cmpd="sng" w="9525">
              <a:solidFill>
                <a:schemeClr val="lt1"/>
              </a:solidFill>
              <a:prstDash val="solid"/>
              <a:round/>
              <a:headEnd len="sm" w="sm" type="none"/>
              <a:tailEnd len="sm" w="sm" type="none"/>
            </a:ln>
          </p:spPr>
        </p:pic>
        <p:pic>
          <p:nvPicPr>
            <p:cNvPr id="118" name="Google Shape;118;g3189475cf00_0_0"/>
            <p:cNvPicPr preferRelativeResize="0"/>
            <p:nvPr/>
          </p:nvPicPr>
          <p:blipFill rotWithShape="1">
            <a:blip r:embed="rId5">
              <a:alphaModFix/>
            </a:blip>
            <a:srcRect b="0" l="0" r="0" t="0"/>
            <a:stretch/>
          </p:blipFill>
          <p:spPr>
            <a:xfrm>
              <a:off x="4951745" y="23311215"/>
              <a:ext cx="3444008" cy="545147"/>
            </a:xfrm>
            <a:prstGeom prst="rect">
              <a:avLst/>
            </a:prstGeom>
            <a:solidFill>
              <a:schemeClr val="dk1"/>
            </a:solidFill>
            <a:ln cap="flat" cmpd="sng" w="9525">
              <a:solidFill>
                <a:schemeClr val="lt1"/>
              </a:solidFill>
              <a:prstDash val="solid"/>
              <a:round/>
              <a:headEnd len="sm" w="sm" type="none"/>
              <a:tailEnd len="sm" w="sm" type="none"/>
            </a:ln>
          </p:spPr>
        </p:pic>
        <p:sp>
          <p:nvSpPr>
            <p:cNvPr id="119" name="Google Shape;119;g3189475cf00_0_0"/>
            <p:cNvSpPr/>
            <p:nvPr/>
          </p:nvSpPr>
          <p:spPr>
            <a:xfrm>
              <a:off x="9586614" y="21072862"/>
              <a:ext cx="3444000" cy="545100"/>
            </a:xfrm>
            <a:prstGeom prst="rect">
              <a:avLst/>
            </a:prstGeom>
            <a:solidFill>
              <a:schemeClr val="lt1"/>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0" i="0" lang="en-US" sz="3000" u="none" cap="none" strike="noStrike">
                  <a:solidFill>
                    <a:schemeClr val="dk1"/>
                  </a:solidFill>
                  <a:latin typeface="Arial"/>
                  <a:ea typeface="Arial"/>
                  <a:cs typeface="Arial"/>
                  <a:sym typeface="Arial"/>
                </a:rPr>
                <a:t>basura</a:t>
              </a:r>
              <a:endParaRPr b="0" i="0" sz="3000" u="none" cap="none" strike="noStrike">
                <a:solidFill>
                  <a:schemeClr val="dk1"/>
                </a:solidFill>
                <a:latin typeface="Arial"/>
                <a:ea typeface="Arial"/>
                <a:cs typeface="Arial"/>
                <a:sym typeface="Arial"/>
              </a:endParaRPr>
            </a:p>
          </p:txBody>
        </p:sp>
        <p:sp>
          <p:nvSpPr>
            <p:cNvPr id="120" name="Google Shape;120;g3189475cf00_0_0"/>
            <p:cNvSpPr txBox="1"/>
            <p:nvPr/>
          </p:nvSpPr>
          <p:spPr>
            <a:xfrm>
              <a:off x="703125" y="19635700"/>
              <a:ext cx="13869600" cy="523200"/>
            </a:xfrm>
            <a:prstGeom prst="rect">
              <a:avLst/>
            </a:prstGeom>
            <a:solidFill>
              <a:srgbClr val="E6E6E6"/>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2800" u="none" cap="none" strike="noStrike">
                  <a:solidFill>
                    <a:schemeClr val="dk1"/>
                  </a:solidFill>
                  <a:latin typeface="Arial"/>
                  <a:ea typeface="Arial"/>
                  <a:cs typeface="Arial"/>
                  <a:sym typeface="Arial"/>
                </a:rPr>
                <a:t>Trial sequence in</a:t>
              </a:r>
              <a:r>
                <a:rPr b="1" lang="en-US" sz="2800">
                  <a:solidFill>
                    <a:schemeClr val="dk1"/>
                  </a:solidFill>
                </a:rPr>
                <a:t> priming tasks</a:t>
              </a:r>
              <a:endParaRPr b="0" i="0" sz="2800" u="none" cap="none" strike="noStrike">
                <a:solidFill>
                  <a:srgbClr val="000000"/>
                </a:solidFill>
                <a:latin typeface="Arial"/>
                <a:ea typeface="Arial"/>
                <a:cs typeface="Arial"/>
                <a:sym typeface="Arial"/>
              </a:endParaRPr>
            </a:p>
          </p:txBody>
        </p:sp>
      </p:grpSp>
      <p:sp>
        <p:nvSpPr>
          <p:cNvPr id="121" name="Google Shape;121;g3189475cf00_0_0"/>
          <p:cNvSpPr txBox="1"/>
          <p:nvPr/>
        </p:nvSpPr>
        <p:spPr>
          <a:xfrm>
            <a:off x="13615597" y="21465075"/>
            <a:ext cx="15597300" cy="3514500"/>
          </a:xfrm>
          <a:prstGeom prst="rect">
            <a:avLst/>
          </a:prstGeom>
          <a:noFill/>
          <a:ln>
            <a:noFill/>
          </a:ln>
        </p:spPr>
        <p:txBody>
          <a:bodyPr anchorCtr="0" anchor="t" bIns="0" lIns="0" spcFirstLastPara="1" rIns="0" wrap="square" tIns="182875">
            <a:spAutoFit/>
          </a:bodyPr>
          <a:lstStyle/>
          <a:p>
            <a:pPr indent="0" lvl="0" marL="0" rtl="0" algn="just">
              <a:spcBef>
                <a:spcPts val="0"/>
              </a:spcBef>
              <a:spcAft>
                <a:spcPts val="0"/>
              </a:spcAft>
              <a:buNone/>
            </a:pPr>
            <a:r>
              <a:rPr b="1" lang="en-US" sz="2600">
                <a:solidFill>
                  <a:srgbClr val="595959"/>
                </a:solidFill>
              </a:rPr>
              <a:t>Objective</a:t>
            </a:r>
            <a:endParaRPr sz="2600">
              <a:solidFill>
                <a:srgbClr val="595959"/>
              </a:solidFill>
            </a:endParaRPr>
          </a:p>
          <a:p>
            <a:pPr indent="-393700" lvl="0" marL="457200" rtl="0" algn="just">
              <a:spcBef>
                <a:spcPts val="0"/>
              </a:spcBef>
              <a:spcAft>
                <a:spcPts val="0"/>
              </a:spcAft>
              <a:buClr>
                <a:srgbClr val="595959"/>
              </a:buClr>
              <a:buSzPts val="2600"/>
              <a:buChar char="•"/>
            </a:pPr>
            <a:r>
              <a:rPr lang="en-US" sz="2600">
                <a:solidFill>
                  <a:srgbClr val="595959"/>
                </a:solidFill>
              </a:rPr>
              <a:t>Building on Experiment 1, we wish to further investigate cross-language  priming effects in the absence of visibility. </a:t>
            </a:r>
            <a:endParaRPr sz="2600">
              <a:solidFill>
                <a:srgbClr val="595959"/>
              </a:solidFill>
            </a:endParaRPr>
          </a:p>
          <a:p>
            <a:pPr indent="-393700" lvl="0" marL="457200" rtl="0" algn="just">
              <a:spcBef>
                <a:spcPts val="1000"/>
              </a:spcBef>
              <a:spcAft>
                <a:spcPts val="1000"/>
              </a:spcAft>
              <a:buClr>
                <a:srgbClr val="595959"/>
              </a:buClr>
              <a:buSzPts val="2600"/>
              <a:buChar char="•"/>
            </a:pPr>
            <a:r>
              <a:rPr lang="en-US" sz="2600">
                <a:solidFill>
                  <a:srgbClr val="595959"/>
                </a:solidFill>
              </a:rPr>
              <a:t>Due to Chinese-English bilingual recruitment limitations, we decided to test Spanish-English bilingual participants. This experiment allows us to identify display conditions that produce below-chance and above-chance visibility, for the English alphabet. This approach is necessary to establish conditions that can distinguish priming effects based on visibility levels, which were not fully addressed in Experiment 1.</a:t>
            </a:r>
            <a:endParaRPr sz="2600">
              <a:solidFill>
                <a:srgbClr val="595959"/>
              </a:solidFill>
            </a:endParaRPr>
          </a:p>
        </p:txBody>
      </p:sp>
      <p:sp>
        <p:nvSpPr>
          <p:cNvPr id="122" name="Google Shape;122;g3189475cf00_0_0"/>
          <p:cNvSpPr txBox="1"/>
          <p:nvPr/>
        </p:nvSpPr>
        <p:spPr>
          <a:xfrm>
            <a:off x="30148700" y="21537550"/>
            <a:ext cx="13254000" cy="5371800"/>
          </a:xfrm>
          <a:prstGeom prst="rect">
            <a:avLst/>
          </a:prstGeom>
          <a:noFill/>
          <a:ln>
            <a:noFill/>
          </a:ln>
        </p:spPr>
        <p:txBody>
          <a:bodyPr anchorCtr="0" anchor="t" bIns="0" lIns="0" spcFirstLastPara="1" rIns="0" wrap="square" tIns="182875">
            <a:spAutoFit/>
          </a:bodyPr>
          <a:lstStyle/>
          <a:p>
            <a:pPr indent="-393700" lvl="0" marL="457200" rtl="0" algn="just">
              <a:spcBef>
                <a:spcPts val="0"/>
              </a:spcBef>
              <a:spcAft>
                <a:spcPts val="0"/>
              </a:spcAft>
              <a:buClr>
                <a:srgbClr val="595959"/>
              </a:buClr>
              <a:buSzPts val="2600"/>
              <a:buChar char="•"/>
            </a:pPr>
            <a:r>
              <a:rPr lang="en-US" sz="2600">
                <a:solidFill>
                  <a:srgbClr val="595959"/>
                </a:solidFill>
              </a:rPr>
              <a:t>Collectively, our results cast doubt on the claim in Nakayama &amp; Lupker that cross-language priming occurs under conditions of conscious imperceptibility. In our two cross-language experiments, priming effects were obtained only when performance was above chance in an explicit test of priming visibility. Priming was absent when the visibility test indicated conscious non-perceptibility.</a:t>
            </a:r>
            <a:endParaRPr sz="2600">
              <a:solidFill>
                <a:srgbClr val="595959"/>
              </a:solidFill>
            </a:endParaRPr>
          </a:p>
          <a:p>
            <a:pPr indent="-393700" lvl="0" marL="457200" rtl="0" algn="just">
              <a:spcBef>
                <a:spcPts val="1500"/>
              </a:spcBef>
              <a:spcAft>
                <a:spcPts val="0"/>
              </a:spcAft>
              <a:buClr>
                <a:srgbClr val="595959"/>
              </a:buClr>
              <a:buSzPts val="2600"/>
              <a:buChar char="•"/>
            </a:pPr>
            <a:r>
              <a:rPr lang="en-US" sz="2600">
                <a:solidFill>
                  <a:srgbClr val="595959"/>
                </a:solidFill>
              </a:rPr>
              <a:t>These findings align with others from our group and elsewhere which imply narrow limits on unconscious prime processing including, in particular, the inability to unconsciously process primes that haven't first been practiced consciously as visible words.</a:t>
            </a:r>
            <a:endParaRPr sz="2600">
              <a:solidFill>
                <a:srgbClr val="595959"/>
              </a:solidFill>
            </a:endParaRPr>
          </a:p>
          <a:p>
            <a:pPr indent="-393700" lvl="0" marL="457200" rtl="0" algn="just">
              <a:spcBef>
                <a:spcPts val="1500"/>
              </a:spcBef>
              <a:spcAft>
                <a:spcPts val="1500"/>
              </a:spcAft>
              <a:buClr>
                <a:srgbClr val="595959"/>
              </a:buClr>
              <a:buSzPts val="2600"/>
              <a:buChar char="•"/>
            </a:pPr>
            <a:r>
              <a:rPr lang="en-US" sz="2600">
                <a:solidFill>
                  <a:srgbClr val="595959"/>
                </a:solidFill>
              </a:rPr>
              <a:t>Our ongoing research is aimed at furthering our understanding of what aspects of language processing can be handled solely by unconscious systems in the brain and which require coordination between conscious and unconscious systems.</a:t>
            </a:r>
            <a:endParaRPr sz="2600">
              <a:solidFill>
                <a:srgbClr val="595959"/>
              </a:solidFill>
            </a:endParaRPr>
          </a:p>
        </p:txBody>
      </p:sp>
      <p:sp>
        <p:nvSpPr>
          <p:cNvPr id="123" name="Google Shape;123;g3189475cf00_0_0"/>
          <p:cNvSpPr txBox="1"/>
          <p:nvPr/>
        </p:nvSpPr>
        <p:spPr>
          <a:xfrm>
            <a:off x="13715474" y="13961625"/>
            <a:ext cx="7247100" cy="2586000"/>
          </a:xfrm>
          <a:prstGeom prst="rect">
            <a:avLst/>
          </a:prstGeom>
          <a:noFill/>
          <a:ln>
            <a:noFill/>
          </a:ln>
        </p:spPr>
        <p:txBody>
          <a:bodyPr anchorCtr="0" anchor="t" bIns="0" lIns="0" spcFirstLastPara="1" rIns="0" wrap="square" tIns="182875">
            <a:spAutoFit/>
          </a:bodyPr>
          <a:lstStyle/>
          <a:p>
            <a:pPr indent="0" lvl="0" marL="0" marR="0" rtl="0" algn="just">
              <a:lnSpc>
                <a:spcPct val="100000"/>
              </a:lnSpc>
              <a:spcBef>
                <a:spcPts val="0"/>
              </a:spcBef>
              <a:spcAft>
                <a:spcPts val="0"/>
              </a:spcAft>
              <a:buClr>
                <a:srgbClr val="000000"/>
              </a:buClr>
              <a:buSzPts val="1100"/>
              <a:buFont typeface="Arial"/>
              <a:buNone/>
            </a:pPr>
            <a:r>
              <a:rPr b="1" lang="en-US" sz="2600">
                <a:solidFill>
                  <a:srgbClr val="595959"/>
                </a:solidFill>
              </a:rPr>
              <a:t>Visibility</a:t>
            </a:r>
            <a:endParaRPr b="1" sz="2600" u="none" cap="none" strike="noStrike">
              <a:solidFill>
                <a:srgbClr val="595959"/>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300"/>
              <a:buFont typeface="Arial"/>
              <a:buNone/>
            </a:pPr>
            <a:r>
              <a:rPr lang="en-US" sz="2600">
                <a:solidFill>
                  <a:srgbClr val="595959"/>
                </a:solidFill>
              </a:rPr>
              <a:t>A one-sample t-test revealed that performance in accuracy when categorizing primes was significantly above the chance level in both conditions: 33 ms primes (</a:t>
            </a:r>
            <a:r>
              <a:rPr i="1" lang="en-US" sz="2600">
                <a:solidFill>
                  <a:srgbClr val="595959"/>
                </a:solidFill>
              </a:rPr>
              <a:t>p</a:t>
            </a:r>
            <a:r>
              <a:rPr lang="en-US" sz="2600">
                <a:solidFill>
                  <a:srgbClr val="595959"/>
                </a:solidFill>
              </a:rPr>
              <a:t> = .021) and 50 ms primes (</a:t>
            </a:r>
            <a:r>
              <a:rPr i="1" lang="en-US" sz="2600">
                <a:solidFill>
                  <a:srgbClr val="595959"/>
                </a:solidFill>
              </a:rPr>
              <a:t>p</a:t>
            </a:r>
            <a:r>
              <a:rPr lang="en-US" sz="2600">
                <a:solidFill>
                  <a:srgbClr val="595959"/>
                </a:solidFill>
              </a:rPr>
              <a:t> = .0.0007).</a:t>
            </a:r>
            <a:endParaRPr b="0" i="0" sz="2600" u="none" cap="none" strike="noStrike">
              <a:solidFill>
                <a:srgbClr val="595959"/>
              </a:solidFill>
              <a:latin typeface="Arial"/>
              <a:ea typeface="Arial"/>
              <a:cs typeface="Arial"/>
              <a:sym typeface="Arial"/>
            </a:endParaRPr>
          </a:p>
        </p:txBody>
      </p:sp>
      <p:sp>
        <p:nvSpPr>
          <p:cNvPr id="124" name="Google Shape;124;g3189475cf00_0_0"/>
          <p:cNvSpPr txBox="1"/>
          <p:nvPr/>
        </p:nvSpPr>
        <p:spPr>
          <a:xfrm>
            <a:off x="13655702" y="26440650"/>
            <a:ext cx="8400300" cy="1385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2600">
                <a:solidFill>
                  <a:srgbClr val="595959"/>
                </a:solidFill>
              </a:rPr>
              <a:t>Priming Effect (accuracy): </a:t>
            </a:r>
            <a:r>
              <a:rPr lang="en-US" sz="2600">
                <a:solidFill>
                  <a:srgbClr val="595959"/>
                </a:solidFill>
              </a:rPr>
              <a:t>Priming effect was marginally significant for Condition 8. See table for all priming effect results.</a:t>
            </a:r>
            <a:endParaRPr sz="2600">
              <a:solidFill>
                <a:srgbClr val="595959"/>
              </a:solidFill>
            </a:endParaRPr>
          </a:p>
        </p:txBody>
      </p:sp>
      <p:sp>
        <p:nvSpPr>
          <p:cNvPr id="125" name="Google Shape;125;g3189475cf00_0_0"/>
          <p:cNvSpPr txBox="1"/>
          <p:nvPr/>
        </p:nvSpPr>
        <p:spPr>
          <a:xfrm>
            <a:off x="13655694" y="29473125"/>
            <a:ext cx="8533800" cy="258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2600">
                <a:solidFill>
                  <a:srgbClr val="595959"/>
                </a:solidFill>
              </a:rPr>
              <a:t>Conclusion:</a:t>
            </a:r>
            <a:r>
              <a:rPr lang="en-US" sz="2600">
                <a:solidFill>
                  <a:srgbClr val="595959"/>
                </a:solidFill>
              </a:rPr>
              <a:t> We chose Condition 8 to represent </a:t>
            </a:r>
            <a:r>
              <a:rPr lang="en-US" sz="2600">
                <a:solidFill>
                  <a:srgbClr val="595959"/>
                </a:solidFill>
              </a:rPr>
              <a:t>above chance visibility. In order to keep the forward mask duration consistent, we chose Condition 2 for below chance visibility. </a:t>
            </a:r>
            <a:r>
              <a:rPr lang="en-US" sz="2600">
                <a:solidFill>
                  <a:srgbClr val="595959"/>
                </a:solidFill>
              </a:rPr>
              <a:t>Using these conditions would allow us to achieve our goal of comparing priming effects from </a:t>
            </a:r>
            <a:r>
              <a:rPr lang="en-US" sz="2600">
                <a:solidFill>
                  <a:srgbClr val="595959"/>
                </a:solidFill>
              </a:rPr>
              <a:t>primes with </a:t>
            </a:r>
            <a:r>
              <a:rPr lang="en-US" sz="2600">
                <a:solidFill>
                  <a:srgbClr val="595959"/>
                </a:solidFill>
              </a:rPr>
              <a:t>below and above chance visibility.</a:t>
            </a:r>
            <a:endParaRPr sz="2600">
              <a:solidFill>
                <a:srgbClr val="595959"/>
              </a:solidFill>
            </a:endParaRPr>
          </a:p>
        </p:txBody>
      </p:sp>
      <p:sp>
        <p:nvSpPr>
          <p:cNvPr id="126" name="Google Shape;126;g3189475cf00_0_0"/>
          <p:cNvSpPr txBox="1"/>
          <p:nvPr/>
        </p:nvSpPr>
        <p:spPr>
          <a:xfrm>
            <a:off x="13692952" y="17632025"/>
            <a:ext cx="15780300" cy="2886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b="1" lang="en-US" sz="2600">
                <a:solidFill>
                  <a:srgbClr val="595959"/>
                </a:solidFill>
              </a:rPr>
              <a:t>Conclusion: </a:t>
            </a:r>
            <a:r>
              <a:rPr lang="en-US" sz="2600">
                <a:solidFill>
                  <a:srgbClr val="595959"/>
                </a:solidFill>
              </a:rPr>
              <a:t>Like Nakayama and Lupker (2018), we demonstrated that cross-language priming across distinct language systems occur in bilinguals. However, unlike Nakayama and Lupker, we measured visibility and found that participants were able to categorize primes with above-chance accuracy, even at brief durations of 33 ms and 50 ms. This suggests that the primes in our study were not processed below the level of conscious awareness. Therefore, we did not find support for Nakayama and Lupker’s claim regarding the absence of visibility.</a:t>
            </a:r>
            <a:endParaRPr sz="2600">
              <a:solidFill>
                <a:srgbClr val="595959"/>
              </a:solidFill>
            </a:endParaRPr>
          </a:p>
        </p:txBody>
      </p:sp>
      <p:sp>
        <p:nvSpPr>
          <p:cNvPr id="127" name="Google Shape;127;g3189475cf00_0_0"/>
          <p:cNvSpPr txBox="1"/>
          <p:nvPr/>
        </p:nvSpPr>
        <p:spPr>
          <a:xfrm>
            <a:off x="13715494" y="27994850"/>
            <a:ext cx="8400300" cy="985200"/>
          </a:xfrm>
          <a:prstGeom prst="rect">
            <a:avLst/>
          </a:prstGeom>
          <a:noFill/>
          <a:ln>
            <a:noFill/>
          </a:ln>
        </p:spPr>
        <p:txBody>
          <a:bodyPr anchorCtr="0" anchor="t" bIns="0" lIns="0" spcFirstLastPara="1" rIns="0" wrap="square" tIns="182875">
            <a:spAutoFit/>
          </a:bodyPr>
          <a:lstStyle/>
          <a:p>
            <a:pPr indent="0" lvl="0" marL="0" rtl="0" algn="just">
              <a:spcBef>
                <a:spcPts val="0"/>
              </a:spcBef>
              <a:spcAft>
                <a:spcPts val="0"/>
              </a:spcAft>
              <a:buNone/>
            </a:pPr>
            <a:r>
              <a:rPr b="1" lang="en-US" sz="2600">
                <a:solidFill>
                  <a:srgbClr val="595959"/>
                </a:solidFill>
              </a:rPr>
              <a:t>Visibility: </a:t>
            </a:r>
            <a:r>
              <a:rPr lang="en-US" sz="2600">
                <a:solidFill>
                  <a:srgbClr val="595959"/>
                </a:solidFill>
              </a:rPr>
              <a:t>Prime categorization accuracy was above chance for Condition 8. </a:t>
            </a:r>
            <a:r>
              <a:rPr lang="en-US" sz="2600">
                <a:solidFill>
                  <a:srgbClr val="595959"/>
                </a:solidFill>
              </a:rPr>
              <a:t>See table for all visibility results.</a:t>
            </a:r>
            <a:endParaRPr sz="2600">
              <a:solidFill>
                <a:srgbClr val="595959"/>
              </a:solidFill>
            </a:endParaRPr>
          </a:p>
        </p:txBody>
      </p:sp>
      <p:grpSp>
        <p:nvGrpSpPr>
          <p:cNvPr id="128" name="Google Shape;128;g3189475cf00_0_0"/>
          <p:cNvGrpSpPr/>
          <p:nvPr/>
        </p:nvGrpSpPr>
        <p:grpSpPr>
          <a:xfrm>
            <a:off x="29473274" y="13429790"/>
            <a:ext cx="6834148" cy="4207200"/>
            <a:chOff x="37167716" y="7882825"/>
            <a:chExt cx="5896082" cy="3565726"/>
          </a:xfrm>
        </p:grpSpPr>
        <p:pic>
          <p:nvPicPr>
            <p:cNvPr id="129" name="Google Shape;129;g3189475cf00_0_0"/>
            <p:cNvPicPr preferRelativeResize="0"/>
            <p:nvPr/>
          </p:nvPicPr>
          <p:blipFill rotWithShape="1">
            <a:blip r:embed="rId6">
              <a:alphaModFix/>
            </a:blip>
            <a:srcRect b="0" l="0" r="0" t="0"/>
            <a:stretch/>
          </p:blipFill>
          <p:spPr>
            <a:xfrm>
              <a:off x="37167716" y="7882825"/>
              <a:ext cx="5896082" cy="3565726"/>
            </a:xfrm>
            <a:prstGeom prst="rect">
              <a:avLst/>
            </a:prstGeom>
            <a:noFill/>
            <a:ln>
              <a:noFill/>
            </a:ln>
          </p:spPr>
        </p:pic>
        <p:sp>
          <p:nvSpPr>
            <p:cNvPr id="130" name="Google Shape;130;g3189475cf00_0_0"/>
            <p:cNvSpPr txBox="1"/>
            <p:nvPr/>
          </p:nvSpPr>
          <p:spPr>
            <a:xfrm>
              <a:off x="41161425" y="8690950"/>
              <a:ext cx="1472100" cy="140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Arial"/>
                <a:buNone/>
              </a:pPr>
              <a:r>
                <a:rPr b="0" i="0" lang="en-US" sz="9600" u="none" cap="none" strike="noStrike">
                  <a:solidFill>
                    <a:srgbClr val="595959"/>
                  </a:solidFill>
                  <a:latin typeface="Arial"/>
                  <a:ea typeface="Arial"/>
                  <a:cs typeface="Arial"/>
                  <a:sym typeface="Arial"/>
                </a:rPr>
                <a:t>*</a:t>
              </a:r>
              <a:endParaRPr b="0" i="0" sz="9600" u="none" cap="none" strike="noStrike">
                <a:solidFill>
                  <a:srgbClr val="000000"/>
                </a:solidFill>
                <a:latin typeface="Arial"/>
                <a:ea typeface="Arial"/>
                <a:cs typeface="Arial"/>
                <a:sym typeface="Arial"/>
              </a:endParaRPr>
            </a:p>
          </p:txBody>
        </p:sp>
      </p:grpSp>
      <p:grpSp>
        <p:nvGrpSpPr>
          <p:cNvPr id="131" name="Google Shape;131;g3189475cf00_0_0"/>
          <p:cNvGrpSpPr/>
          <p:nvPr/>
        </p:nvGrpSpPr>
        <p:grpSpPr>
          <a:xfrm>
            <a:off x="29260009" y="8615920"/>
            <a:ext cx="7649839" cy="4925656"/>
            <a:chOff x="29463564" y="7714413"/>
            <a:chExt cx="8208862" cy="5372075"/>
          </a:xfrm>
        </p:grpSpPr>
        <p:pic>
          <p:nvPicPr>
            <p:cNvPr id="132" name="Google Shape;132;g3189475cf00_0_0"/>
            <p:cNvPicPr preferRelativeResize="0"/>
            <p:nvPr/>
          </p:nvPicPr>
          <p:blipFill>
            <a:blip r:embed="rId7">
              <a:alphaModFix/>
            </a:blip>
            <a:stretch>
              <a:fillRect/>
            </a:stretch>
          </p:blipFill>
          <p:spPr>
            <a:xfrm>
              <a:off x="29463564" y="7714413"/>
              <a:ext cx="8208862" cy="5372075"/>
            </a:xfrm>
            <a:prstGeom prst="rect">
              <a:avLst/>
            </a:prstGeom>
            <a:noFill/>
            <a:ln>
              <a:noFill/>
            </a:ln>
          </p:spPr>
        </p:pic>
        <p:sp>
          <p:nvSpPr>
            <p:cNvPr id="133" name="Google Shape;133;g3189475cf00_0_0"/>
            <p:cNvSpPr txBox="1"/>
            <p:nvPr/>
          </p:nvSpPr>
          <p:spPr>
            <a:xfrm>
              <a:off x="34717072" y="9162735"/>
              <a:ext cx="1436400" cy="1812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Arial"/>
                <a:buNone/>
              </a:pPr>
              <a:r>
                <a:rPr b="0" i="0" lang="en-US" sz="9600" u="none" cap="none" strike="noStrike">
                  <a:solidFill>
                    <a:srgbClr val="595959"/>
                  </a:solidFill>
                  <a:latin typeface="Arial"/>
                  <a:ea typeface="Arial"/>
                  <a:cs typeface="Arial"/>
                  <a:sym typeface="Arial"/>
                </a:rPr>
                <a:t>*</a:t>
              </a:r>
              <a:endParaRPr b="0" i="0" sz="9600" u="none" cap="none" strike="noStrike">
                <a:solidFill>
                  <a:srgbClr val="000000"/>
                </a:solidFill>
                <a:latin typeface="Arial"/>
                <a:ea typeface="Arial"/>
                <a:cs typeface="Arial"/>
                <a:sym typeface="Arial"/>
              </a:endParaRPr>
            </a:p>
          </p:txBody>
        </p:sp>
      </p:grpSp>
      <p:grpSp>
        <p:nvGrpSpPr>
          <p:cNvPr id="134" name="Google Shape;134;g3189475cf00_0_0"/>
          <p:cNvGrpSpPr/>
          <p:nvPr/>
        </p:nvGrpSpPr>
        <p:grpSpPr>
          <a:xfrm>
            <a:off x="21423761" y="8615994"/>
            <a:ext cx="7573181" cy="4925527"/>
            <a:chOff x="20909825" y="8099725"/>
            <a:chExt cx="7544512" cy="5212750"/>
          </a:xfrm>
        </p:grpSpPr>
        <p:pic>
          <p:nvPicPr>
            <p:cNvPr id="135" name="Google Shape;135;g3189475cf00_0_0"/>
            <p:cNvPicPr preferRelativeResize="0"/>
            <p:nvPr/>
          </p:nvPicPr>
          <p:blipFill>
            <a:blip r:embed="rId8">
              <a:alphaModFix/>
            </a:blip>
            <a:stretch>
              <a:fillRect/>
            </a:stretch>
          </p:blipFill>
          <p:spPr>
            <a:xfrm>
              <a:off x="20909825" y="8099725"/>
              <a:ext cx="7544512" cy="5212750"/>
            </a:xfrm>
            <a:prstGeom prst="rect">
              <a:avLst/>
            </a:prstGeom>
            <a:noFill/>
            <a:ln>
              <a:noFill/>
            </a:ln>
          </p:spPr>
        </p:pic>
        <p:sp>
          <p:nvSpPr>
            <p:cNvPr id="136" name="Google Shape;136;g3189475cf00_0_0"/>
            <p:cNvSpPr txBox="1"/>
            <p:nvPr/>
          </p:nvSpPr>
          <p:spPr>
            <a:xfrm>
              <a:off x="25735475" y="9955363"/>
              <a:ext cx="1472100" cy="1759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Arial"/>
                <a:buNone/>
              </a:pPr>
              <a:r>
                <a:rPr b="0" i="0" lang="en-US" sz="9600" u="none" cap="none" strike="noStrike">
                  <a:solidFill>
                    <a:srgbClr val="595959"/>
                  </a:solidFill>
                  <a:latin typeface="Arial"/>
                  <a:ea typeface="Arial"/>
                  <a:cs typeface="Arial"/>
                  <a:sym typeface="Arial"/>
                </a:rPr>
                <a:t>*</a:t>
              </a:r>
              <a:endParaRPr b="0" i="0" sz="9600" u="none" cap="none" strike="noStrike">
                <a:solidFill>
                  <a:srgbClr val="000000"/>
                </a:solidFill>
                <a:latin typeface="Arial"/>
                <a:ea typeface="Arial"/>
                <a:cs typeface="Arial"/>
                <a:sym typeface="Arial"/>
              </a:endParaRPr>
            </a:p>
          </p:txBody>
        </p:sp>
        <p:sp>
          <p:nvSpPr>
            <p:cNvPr id="137" name="Google Shape;137;g3189475cf00_0_0"/>
            <p:cNvSpPr txBox="1"/>
            <p:nvPr/>
          </p:nvSpPr>
          <p:spPr>
            <a:xfrm>
              <a:off x="22604825" y="8817800"/>
              <a:ext cx="1472100" cy="1759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Arial"/>
                <a:buNone/>
              </a:pPr>
              <a:r>
                <a:rPr b="0" i="0" lang="en-US" sz="9600" u="none" cap="none" strike="noStrike">
                  <a:solidFill>
                    <a:srgbClr val="595959"/>
                  </a:solidFill>
                  <a:latin typeface="Arial"/>
                  <a:ea typeface="Arial"/>
                  <a:cs typeface="Arial"/>
                  <a:sym typeface="Arial"/>
                </a:rPr>
                <a:t>*</a:t>
              </a:r>
              <a:endParaRPr b="0" i="0" sz="9600" u="none" cap="none" strike="noStrike">
                <a:solidFill>
                  <a:srgbClr val="000000"/>
                </a:solidFill>
                <a:latin typeface="Arial"/>
                <a:ea typeface="Arial"/>
                <a:cs typeface="Arial"/>
                <a:sym typeface="Arial"/>
              </a:endParaRPr>
            </a:p>
          </p:txBody>
        </p:sp>
      </p:grpSp>
      <p:sp>
        <p:nvSpPr>
          <p:cNvPr id="138" name="Google Shape;138;g3189475cf00_0_0"/>
          <p:cNvSpPr txBox="1"/>
          <p:nvPr/>
        </p:nvSpPr>
        <p:spPr>
          <a:xfrm>
            <a:off x="13664020" y="4053300"/>
            <a:ext cx="15671400" cy="3578700"/>
          </a:xfrm>
          <a:prstGeom prst="rect">
            <a:avLst/>
          </a:prstGeom>
          <a:noFill/>
          <a:ln>
            <a:noFill/>
          </a:ln>
        </p:spPr>
        <p:txBody>
          <a:bodyPr anchorCtr="0" anchor="t" bIns="0" lIns="0" spcFirstLastPara="1" rIns="0" wrap="square" tIns="182875">
            <a:spAutoFit/>
          </a:bodyPr>
          <a:lstStyle/>
          <a:p>
            <a:pPr indent="0" lvl="0" marL="0" rtl="0" algn="just">
              <a:spcBef>
                <a:spcPts val="0"/>
              </a:spcBef>
              <a:spcAft>
                <a:spcPts val="0"/>
              </a:spcAft>
              <a:buNone/>
            </a:pPr>
            <a:r>
              <a:rPr b="1" lang="en-US" sz="2600">
                <a:solidFill>
                  <a:srgbClr val="595959"/>
                </a:solidFill>
              </a:rPr>
              <a:t>Objective</a:t>
            </a:r>
            <a:endParaRPr b="1" sz="2600">
              <a:solidFill>
                <a:srgbClr val="595959"/>
              </a:solidFill>
            </a:endParaRPr>
          </a:p>
          <a:p>
            <a:pPr indent="-393700" lvl="0" marL="457200" rtl="0" algn="just">
              <a:spcBef>
                <a:spcPts val="0"/>
              </a:spcBef>
              <a:spcAft>
                <a:spcPts val="0"/>
              </a:spcAft>
              <a:buClr>
                <a:srgbClr val="595959"/>
              </a:buClr>
              <a:buSzPts val="2600"/>
              <a:buChar char="•"/>
            </a:pPr>
            <a:r>
              <a:rPr lang="en-US" sz="2600">
                <a:solidFill>
                  <a:srgbClr val="595959"/>
                </a:solidFill>
              </a:rPr>
              <a:t>This experiment tested Nakayama and Lupker’s (2018) claim that cross-language processing occurs unconsciously. Specifically, we investigated whether priming effects could be observed for Chinese and English primes and their cross-language targets, even when participants had not previously practiced the primes. </a:t>
            </a:r>
            <a:endParaRPr sz="2600">
              <a:solidFill>
                <a:srgbClr val="595959"/>
              </a:solidFill>
            </a:endParaRPr>
          </a:p>
          <a:p>
            <a:pPr indent="-393700" lvl="0" marL="457200" rtl="0" algn="just">
              <a:spcBef>
                <a:spcPts val="1500"/>
              </a:spcBef>
              <a:spcAft>
                <a:spcPts val="1500"/>
              </a:spcAft>
              <a:buClr>
                <a:srgbClr val="595959"/>
              </a:buClr>
              <a:buSzPts val="2600"/>
              <a:buChar char="•"/>
            </a:pPr>
            <a:r>
              <a:rPr lang="en-US" sz="2600">
                <a:solidFill>
                  <a:srgbClr val="595959"/>
                </a:solidFill>
              </a:rPr>
              <a:t>Testing Chinese-English bilinguals allows us to evaluate cross-language processing between two distinct writing systems, providing a critical context for understanding unconscious bilingual word recognition.</a:t>
            </a:r>
            <a:endParaRPr b="1" i="0" sz="2600" u="none" cap="none" strike="noStrike">
              <a:solidFill>
                <a:srgbClr val="595959"/>
              </a:solidFill>
              <a:latin typeface="Arial"/>
              <a:ea typeface="Arial"/>
              <a:cs typeface="Arial"/>
              <a:sym typeface="Arial"/>
            </a:endParaRPr>
          </a:p>
        </p:txBody>
      </p:sp>
      <p:sp>
        <p:nvSpPr>
          <p:cNvPr id="139" name="Google Shape;139;g3189475cf00_0_0"/>
          <p:cNvSpPr txBox="1"/>
          <p:nvPr/>
        </p:nvSpPr>
        <p:spPr>
          <a:xfrm>
            <a:off x="13691829" y="7671450"/>
            <a:ext cx="15671400" cy="1921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600">
                <a:solidFill>
                  <a:srgbClr val="595959"/>
                </a:solidFill>
              </a:rPr>
              <a:t>Method</a:t>
            </a:r>
            <a:r>
              <a:rPr lang="en-US" sz="2600">
                <a:solidFill>
                  <a:srgbClr val="595959"/>
                </a:solidFill>
              </a:rPr>
              <a:t>: Prime durations were 33 and 50 ms, with 300 ms forward masks. The language of the primes and targets was counterbalanced (See “Examples” table).</a:t>
            </a:r>
            <a:endParaRPr sz="2600">
              <a:solidFill>
                <a:srgbClr val="595959"/>
              </a:solidFill>
              <a:latin typeface="Calibri"/>
              <a:ea typeface="Calibri"/>
              <a:cs typeface="Calibri"/>
              <a:sym typeface="Calibri"/>
            </a:endParaRPr>
          </a:p>
        </p:txBody>
      </p:sp>
      <p:sp>
        <p:nvSpPr>
          <p:cNvPr id="140" name="Google Shape;140;g3189475cf00_0_0"/>
          <p:cNvSpPr txBox="1"/>
          <p:nvPr/>
        </p:nvSpPr>
        <p:spPr>
          <a:xfrm>
            <a:off x="13615597" y="25122400"/>
            <a:ext cx="15706800" cy="1046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600">
                <a:solidFill>
                  <a:srgbClr val="595959"/>
                </a:solidFill>
              </a:rPr>
              <a:t>Methods</a:t>
            </a:r>
            <a:r>
              <a:rPr lang="en-US" sz="2600">
                <a:solidFill>
                  <a:srgbClr val="595959"/>
                </a:solidFill>
              </a:rPr>
              <a:t>: </a:t>
            </a:r>
            <a:r>
              <a:rPr lang="en-US" sz="2600">
                <a:solidFill>
                  <a:srgbClr val="595959"/>
                </a:solidFill>
              </a:rPr>
              <a:t>Assessed nine possible conditions, with primes of 33, 50, and 67 ms and forward masks of 133, 233, and 333 ms. Primes were never-before practiced English words.</a:t>
            </a:r>
            <a:endParaRPr sz="2600">
              <a:solidFill>
                <a:srgbClr val="595959"/>
              </a:solidFill>
              <a:latin typeface="Calibri"/>
              <a:ea typeface="Calibri"/>
              <a:cs typeface="Calibri"/>
              <a:sym typeface="Calibri"/>
            </a:endParaRPr>
          </a:p>
        </p:txBody>
      </p:sp>
      <p:sp>
        <p:nvSpPr>
          <p:cNvPr id="141" name="Google Shape;141;g3189475cf00_0_0"/>
          <p:cNvSpPr txBox="1"/>
          <p:nvPr/>
        </p:nvSpPr>
        <p:spPr>
          <a:xfrm>
            <a:off x="30260062" y="7097200"/>
            <a:ext cx="12999000" cy="2770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600">
                <a:solidFill>
                  <a:srgbClr val="595959"/>
                </a:solidFill>
              </a:rPr>
              <a:t>Methods</a:t>
            </a:r>
            <a:r>
              <a:rPr lang="en-US" sz="2600">
                <a:solidFill>
                  <a:srgbClr val="595959"/>
                </a:solidFill>
              </a:rPr>
              <a:t>: Primes and forward mask durations were based on Conditions 2 and 8 from Experiment 2. </a:t>
            </a:r>
            <a:r>
              <a:rPr lang="en-US" sz="2600">
                <a:solidFill>
                  <a:srgbClr val="595959"/>
                </a:solidFill>
              </a:rPr>
              <a:t>The language of the targets and primes, as well as presentation order of visibility, were counterbalanced (</a:t>
            </a:r>
            <a:r>
              <a:rPr lang="en-US" sz="2600">
                <a:solidFill>
                  <a:srgbClr val="595959"/>
                </a:solidFill>
              </a:rPr>
              <a:t>See “Examples” table.)</a:t>
            </a:r>
            <a:endParaRPr sz="2600">
              <a:solidFill>
                <a:srgbClr val="595959"/>
              </a:solidFill>
              <a:latin typeface="Calibri"/>
              <a:ea typeface="Calibri"/>
              <a:cs typeface="Calibri"/>
              <a:sym typeface="Calibri"/>
            </a:endParaRPr>
          </a:p>
        </p:txBody>
      </p:sp>
      <p:sp>
        <p:nvSpPr>
          <p:cNvPr id="142" name="Google Shape;142;g3189475cf00_0_0"/>
          <p:cNvSpPr txBox="1"/>
          <p:nvPr/>
        </p:nvSpPr>
        <p:spPr>
          <a:xfrm>
            <a:off x="36737025" y="8564450"/>
            <a:ext cx="6876900" cy="6172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800"/>
              <a:buFont typeface="Arial"/>
              <a:buNone/>
            </a:pPr>
            <a:r>
              <a:rPr b="1" lang="en-US" sz="2600" u="none" cap="none" strike="noStrike">
                <a:solidFill>
                  <a:srgbClr val="595959"/>
                </a:solidFill>
                <a:latin typeface="Arial"/>
                <a:ea typeface="Arial"/>
                <a:cs typeface="Arial"/>
                <a:sym typeface="Arial"/>
              </a:rPr>
              <a:t>Priming Effect (accuracy)</a:t>
            </a:r>
            <a:endParaRPr b="1" sz="2600" u="none" cap="none" strike="noStrike">
              <a:solidFill>
                <a:srgbClr val="595959"/>
              </a:solidFill>
              <a:latin typeface="Arial"/>
              <a:ea typeface="Arial"/>
              <a:cs typeface="Arial"/>
              <a:sym typeface="Arial"/>
            </a:endParaRPr>
          </a:p>
          <a:p>
            <a:pPr indent="-393700" lvl="0" marL="457200" rtl="0" algn="just">
              <a:spcBef>
                <a:spcPts val="0"/>
              </a:spcBef>
              <a:spcAft>
                <a:spcPts val="0"/>
              </a:spcAft>
              <a:buClr>
                <a:srgbClr val="595959"/>
              </a:buClr>
              <a:buSzPts val="2600"/>
              <a:buChar char="•"/>
            </a:pPr>
            <a:r>
              <a:rPr lang="en-US" sz="2600">
                <a:solidFill>
                  <a:srgbClr val="595959"/>
                </a:solidFill>
              </a:rPr>
              <a:t>A 2x2 repeated measures ANOVA </a:t>
            </a:r>
            <a:r>
              <a:rPr lang="en-US" sz="2600">
                <a:solidFill>
                  <a:srgbClr val="595959"/>
                </a:solidFill>
              </a:rPr>
              <a:t>on accuracy </a:t>
            </a:r>
            <a:r>
              <a:rPr lang="en-US" sz="2600">
                <a:solidFill>
                  <a:srgbClr val="595959"/>
                </a:solidFill>
              </a:rPr>
              <a:t>for congruence (congruent, incongruent) and duration (33 ms, 67 ms) on accuracy showed a significant main effect of duration (</a:t>
            </a:r>
            <a:r>
              <a:rPr i="1" lang="en-US" sz="2600">
                <a:solidFill>
                  <a:srgbClr val="595959"/>
                </a:solidFill>
              </a:rPr>
              <a:t>p</a:t>
            </a:r>
            <a:r>
              <a:rPr lang="en-US" sz="2600">
                <a:solidFill>
                  <a:srgbClr val="595959"/>
                </a:solidFill>
              </a:rPr>
              <a:t> = .049) but not of congruence (</a:t>
            </a:r>
            <a:r>
              <a:rPr i="1" lang="en-US" sz="2600">
                <a:solidFill>
                  <a:srgbClr val="595959"/>
                </a:solidFill>
              </a:rPr>
              <a:t>p</a:t>
            </a:r>
            <a:r>
              <a:rPr lang="en-US" sz="2600">
                <a:solidFill>
                  <a:srgbClr val="595959"/>
                </a:solidFill>
              </a:rPr>
              <a:t> = .059).</a:t>
            </a:r>
            <a:endParaRPr sz="2600">
              <a:solidFill>
                <a:srgbClr val="595959"/>
              </a:solidFill>
            </a:endParaRPr>
          </a:p>
          <a:p>
            <a:pPr indent="-393700" lvl="0" marL="457200" rtl="0" algn="just">
              <a:spcBef>
                <a:spcPts val="1500"/>
              </a:spcBef>
              <a:spcAft>
                <a:spcPts val="0"/>
              </a:spcAft>
              <a:buClr>
                <a:srgbClr val="595959"/>
              </a:buClr>
              <a:buSzPts val="2600"/>
              <a:buChar char="•"/>
            </a:pPr>
            <a:r>
              <a:rPr lang="en-US" sz="2600">
                <a:solidFill>
                  <a:srgbClr val="595959"/>
                </a:solidFill>
              </a:rPr>
              <a:t>A significant interaction (</a:t>
            </a:r>
            <a:r>
              <a:rPr i="1" lang="en-US" sz="2600">
                <a:solidFill>
                  <a:srgbClr val="595959"/>
                </a:solidFill>
              </a:rPr>
              <a:t>p</a:t>
            </a:r>
            <a:r>
              <a:rPr lang="en-US" sz="2600">
                <a:solidFill>
                  <a:srgbClr val="595959"/>
                </a:solidFill>
              </a:rPr>
              <a:t> = .013) indicated that accuracy differences for congruence depend on prime duration.</a:t>
            </a:r>
            <a:endParaRPr sz="2600">
              <a:solidFill>
                <a:srgbClr val="595959"/>
              </a:solidFill>
            </a:endParaRPr>
          </a:p>
          <a:p>
            <a:pPr indent="-393700" lvl="0" marL="457200" rtl="0" algn="just">
              <a:spcBef>
                <a:spcPts val="1500"/>
              </a:spcBef>
              <a:spcAft>
                <a:spcPts val="1500"/>
              </a:spcAft>
              <a:buClr>
                <a:srgbClr val="595959"/>
              </a:buClr>
              <a:buSzPts val="2600"/>
              <a:buChar char="•"/>
            </a:pPr>
            <a:r>
              <a:rPr b="1" lang="en-US" sz="2600">
                <a:solidFill>
                  <a:srgbClr val="595959"/>
                </a:solidFill>
              </a:rPr>
              <a:t>Contrasts revealed significant congruence effects in the 67 ms condition (</a:t>
            </a:r>
            <a:r>
              <a:rPr b="1" i="1" lang="en-US" sz="2600">
                <a:solidFill>
                  <a:srgbClr val="595959"/>
                </a:solidFill>
              </a:rPr>
              <a:t>p </a:t>
            </a:r>
            <a:r>
              <a:rPr b="1" lang="en-US" sz="2600">
                <a:solidFill>
                  <a:srgbClr val="595959"/>
                </a:solidFill>
              </a:rPr>
              <a:t>= .011), but not  the 33 ms condition (</a:t>
            </a:r>
            <a:r>
              <a:rPr b="1" i="1" lang="en-US" sz="2600">
                <a:solidFill>
                  <a:srgbClr val="595959"/>
                </a:solidFill>
              </a:rPr>
              <a:t>p</a:t>
            </a:r>
            <a:r>
              <a:rPr b="1" lang="en-US" sz="2600">
                <a:solidFill>
                  <a:srgbClr val="595959"/>
                </a:solidFill>
              </a:rPr>
              <a:t> = .402). </a:t>
            </a:r>
            <a:endParaRPr b="1" sz="2600">
              <a:solidFill>
                <a:srgbClr val="595959"/>
              </a:solidFill>
            </a:endParaRPr>
          </a:p>
        </p:txBody>
      </p:sp>
      <p:sp>
        <p:nvSpPr>
          <p:cNvPr id="143" name="Google Shape;143;g3189475cf00_0_0"/>
          <p:cNvSpPr txBox="1"/>
          <p:nvPr/>
        </p:nvSpPr>
        <p:spPr>
          <a:xfrm>
            <a:off x="36909850" y="14842375"/>
            <a:ext cx="6610500" cy="2185800"/>
          </a:xfrm>
          <a:prstGeom prst="rect">
            <a:avLst/>
          </a:prstGeom>
          <a:noFill/>
          <a:ln>
            <a:noFill/>
          </a:ln>
        </p:spPr>
        <p:txBody>
          <a:bodyPr anchorCtr="0" anchor="t" bIns="0" lIns="0" spcFirstLastPara="1" rIns="0" wrap="square" tIns="182875">
            <a:spAutoFit/>
          </a:bodyPr>
          <a:lstStyle/>
          <a:p>
            <a:pPr indent="0" lvl="0" marL="0" marR="0" rtl="0" algn="just">
              <a:lnSpc>
                <a:spcPct val="100000"/>
              </a:lnSpc>
              <a:spcBef>
                <a:spcPts val="0"/>
              </a:spcBef>
              <a:spcAft>
                <a:spcPts val="0"/>
              </a:spcAft>
              <a:buClr>
                <a:srgbClr val="000000"/>
              </a:buClr>
              <a:buSzPts val="1100"/>
              <a:buFont typeface="Arial"/>
              <a:buNone/>
            </a:pPr>
            <a:r>
              <a:rPr b="1" lang="en-US" sz="2600">
                <a:solidFill>
                  <a:srgbClr val="595959"/>
                </a:solidFill>
              </a:rPr>
              <a:t>Visibility</a:t>
            </a:r>
            <a:endParaRPr b="1" sz="2600" u="none" cap="none" strike="noStrike">
              <a:solidFill>
                <a:srgbClr val="595959"/>
              </a:solidFill>
              <a:latin typeface="Arial"/>
              <a:ea typeface="Arial"/>
              <a:cs typeface="Arial"/>
              <a:sym typeface="Arial"/>
            </a:endParaRPr>
          </a:p>
          <a:p>
            <a:pPr indent="0" lvl="0" marL="0" rtl="0" algn="just">
              <a:spcBef>
                <a:spcPts val="0"/>
              </a:spcBef>
              <a:spcAft>
                <a:spcPts val="0"/>
              </a:spcAft>
              <a:buClr>
                <a:schemeClr val="dk1"/>
              </a:buClr>
              <a:buSzPts val="1100"/>
              <a:buFont typeface="Arial"/>
              <a:buNone/>
            </a:pPr>
            <a:r>
              <a:rPr lang="en-US" sz="2600">
                <a:solidFill>
                  <a:srgbClr val="595959"/>
                </a:solidFill>
              </a:rPr>
              <a:t>A one-sample t-test revealed that categorization accuracy was significantly above chance accuracy for 67 ms primes (p = .002) but not for 33 ms primes (</a:t>
            </a:r>
            <a:r>
              <a:rPr i="1" lang="en-US" sz="2600">
                <a:solidFill>
                  <a:srgbClr val="595959"/>
                </a:solidFill>
              </a:rPr>
              <a:t>p </a:t>
            </a:r>
            <a:r>
              <a:rPr lang="en-US" sz="2600">
                <a:solidFill>
                  <a:srgbClr val="595959"/>
                </a:solidFill>
              </a:rPr>
              <a:t>= .595).</a:t>
            </a:r>
            <a:endParaRPr sz="2600">
              <a:solidFill>
                <a:srgbClr val="595959"/>
              </a:solidFill>
            </a:endParaRPr>
          </a:p>
        </p:txBody>
      </p:sp>
      <p:sp>
        <p:nvSpPr>
          <p:cNvPr id="144" name="Google Shape;144;g3189475cf00_0_0"/>
          <p:cNvSpPr txBox="1"/>
          <p:nvPr/>
        </p:nvSpPr>
        <p:spPr>
          <a:xfrm>
            <a:off x="841157" y="28566775"/>
            <a:ext cx="11898300" cy="523200"/>
          </a:xfrm>
          <a:prstGeom prst="rect">
            <a:avLst/>
          </a:prstGeom>
          <a:solidFill>
            <a:srgbClr val="E6E6E6"/>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lang="en-US" sz="2800">
                <a:solidFill>
                  <a:schemeClr val="dk1"/>
                </a:solidFill>
              </a:rPr>
              <a:t>Examples of Cross-language Pairs in Experiments 1 and 3</a:t>
            </a:r>
            <a:endParaRPr b="0" i="0" sz="2800" u="none" cap="none" strike="noStrike">
              <a:solidFill>
                <a:srgbClr val="000000"/>
              </a:solidFill>
              <a:latin typeface="Arial"/>
              <a:ea typeface="Arial"/>
              <a:cs typeface="Arial"/>
              <a:sym typeface="Arial"/>
            </a:endParaRPr>
          </a:p>
        </p:txBody>
      </p:sp>
      <p:sp>
        <p:nvSpPr>
          <p:cNvPr id="145" name="Google Shape;145;g3189475cf00_0_0"/>
          <p:cNvSpPr/>
          <p:nvPr/>
        </p:nvSpPr>
        <p:spPr>
          <a:xfrm>
            <a:off x="832046" y="29047950"/>
            <a:ext cx="11898300" cy="300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aphicFrame>
        <p:nvGraphicFramePr>
          <p:cNvPr id="146" name="Google Shape;146;g3189475cf00_0_0"/>
          <p:cNvGraphicFramePr/>
          <p:nvPr/>
        </p:nvGraphicFramePr>
        <p:xfrm>
          <a:off x="898750" y="29562200"/>
          <a:ext cx="3000000" cy="3000000"/>
        </p:xfrm>
        <a:graphic>
          <a:graphicData uri="http://schemas.openxmlformats.org/drawingml/2006/table">
            <a:tbl>
              <a:tblPr>
                <a:noFill/>
                <a:tableStyleId>{59DCA3A7-1F5B-4DAE-B2A2-14AB9EC2825C}</a:tableStyleId>
              </a:tblPr>
              <a:tblGrid>
                <a:gridCol w="1412200"/>
                <a:gridCol w="1412200"/>
              </a:tblGrid>
              <a:tr h="381000">
                <a:tc>
                  <a:txBody>
                    <a:bodyPr/>
                    <a:lstStyle/>
                    <a:p>
                      <a:pPr indent="0" lvl="0" marL="0" rtl="0" algn="ctr">
                        <a:spcBef>
                          <a:spcPts val="0"/>
                        </a:spcBef>
                        <a:spcAft>
                          <a:spcPts val="0"/>
                        </a:spcAft>
                        <a:buClr>
                          <a:schemeClr val="dk1"/>
                        </a:buClr>
                        <a:buSzPts val="2600"/>
                        <a:buFont typeface="Arial"/>
                        <a:buNone/>
                      </a:pPr>
                      <a:r>
                        <a:rPr b="1" lang="en-US" sz="2400">
                          <a:solidFill>
                            <a:schemeClr val="dk1"/>
                          </a:solidFill>
                        </a:rPr>
                        <a:t>English</a:t>
                      </a:r>
                      <a:endParaRPr b="1"/>
                    </a:p>
                  </a:txBody>
                  <a:tcPr marT="91425" marB="91425" marR="91425" marL="91425">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US" sz="2400">
                          <a:solidFill>
                            <a:schemeClr val="dk1"/>
                          </a:solidFill>
                        </a:rPr>
                        <a:t>Chinese</a:t>
                      </a:r>
                      <a:endParaRPr b="1"/>
                    </a:p>
                  </a:txBody>
                  <a:tcPr marT="91425" marB="91425" marR="91425" marL="91425">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failure</a:t>
                      </a:r>
                      <a:endParaRPr/>
                    </a:p>
                  </a:txBody>
                  <a:tcPr marT="91425" marB="91425" marR="91425" marL="91425">
                    <a:solidFill>
                      <a:schemeClr val="lt1"/>
                    </a:solidFill>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失敗</a:t>
                      </a:r>
                      <a:endParaRPr/>
                    </a:p>
                  </a:txBody>
                  <a:tcPr marT="91425" marB="91425" marR="91425" marL="91425">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selfish</a:t>
                      </a:r>
                      <a:endParaRPr/>
                    </a:p>
                  </a:txBody>
                  <a:tcPr marT="91425" marB="91425" marR="91425" marL="91425">
                    <a:solidFill>
                      <a:schemeClr val="lt1"/>
                    </a:solidFill>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自私</a:t>
                      </a:r>
                      <a:endParaRPr/>
                    </a:p>
                  </a:txBody>
                  <a:tcPr marT="91425" marB="91425" marR="91425" marL="91425">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death</a:t>
                      </a:r>
                      <a:endParaRPr/>
                    </a:p>
                  </a:txBody>
                  <a:tcPr marT="91425" marB="91425" marR="91425" marL="91425">
                    <a:solidFill>
                      <a:schemeClr val="lt1"/>
                    </a:solidFill>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死亡</a:t>
                      </a:r>
                      <a:endParaRPr/>
                    </a:p>
                  </a:txBody>
                  <a:tcPr marT="91425" marB="91425" marR="91425" marL="91425">
                    <a:solidFill>
                      <a:schemeClr val="lt1"/>
                    </a:solidFill>
                  </a:tcPr>
                </a:tc>
              </a:tr>
            </a:tbl>
          </a:graphicData>
        </a:graphic>
      </p:graphicFrame>
      <p:sp>
        <p:nvSpPr>
          <p:cNvPr id="147" name="Google Shape;147;g3189475cf00_0_0"/>
          <p:cNvSpPr/>
          <p:nvPr/>
        </p:nvSpPr>
        <p:spPr>
          <a:xfrm>
            <a:off x="443575" y="29034550"/>
            <a:ext cx="3762600" cy="36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lang="en-US" sz="2400">
                <a:solidFill>
                  <a:schemeClr val="dk1"/>
                </a:solidFill>
              </a:rPr>
              <a:t>Expt 1 unpleasant</a:t>
            </a:r>
            <a:endParaRPr b="0" i="0" sz="2400" u="none" cap="none" strike="noStrike">
              <a:solidFill>
                <a:schemeClr val="dk1"/>
              </a:solidFill>
              <a:latin typeface="Arial"/>
              <a:ea typeface="Arial"/>
              <a:cs typeface="Arial"/>
              <a:sym typeface="Arial"/>
            </a:endParaRPr>
          </a:p>
        </p:txBody>
      </p:sp>
      <p:graphicFrame>
        <p:nvGraphicFramePr>
          <p:cNvPr id="148" name="Google Shape;148;g3189475cf00_0_0"/>
          <p:cNvGraphicFramePr/>
          <p:nvPr/>
        </p:nvGraphicFramePr>
        <p:xfrm>
          <a:off x="3870600" y="29562188"/>
          <a:ext cx="3000000" cy="3000000"/>
        </p:xfrm>
        <a:graphic>
          <a:graphicData uri="http://schemas.openxmlformats.org/drawingml/2006/table">
            <a:tbl>
              <a:tblPr>
                <a:noFill/>
                <a:tableStyleId>{59DCA3A7-1F5B-4DAE-B2A2-14AB9EC2825C}</a:tableStyleId>
              </a:tblPr>
              <a:tblGrid>
                <a:gridCol w="1412200"/>
                <a:gridCol w="1412200"/>
              </a:tblGrid>
              <a:tr h="381000">
                <a:tc>
                  <a:txBody>
                    <a:bodyPr/>
                    <a:lstStyle/>
                    <a:p>
                      <a:pPr indent="0" lvl="0" marL="0" rtl="0" algn="ctr">
                        <a:spcBef>
                          <a:spcPts val="0"/>
                        </a:spcBef>
                        <a:spcAft>
                          <a:spcPts val="0"/>
                        </a:spcAft>
                        <a:buNone/>
                      </a:pPr>
                      <a:r>
                        <a:rPr b="1" lang="en-US" sz="2400">
                          <a:solidFill>
                            <a:schemeClr val="dk1"/>
                          </a:solidFill>
                        </a:rPr>
                        <a:t>English</a:t>
                      </a:r>
                      <a:endParaRPr b="1"/>
                    </a:p>
                  </a:txBody>
                  <a:tcPr marT="91425" marB="91425" marR="91425" marL="91425">
                    <a:solidFill>
                      <a:schemeClr val="lt1"/>
                    </a:solidFill>
                  </a:tcPr>
                </a:tc>
                <a:tc>
                  <a:txBody>
                    <a:bodyPr/>
                    <a:lstStyle/>
                    <a:p>
                      <a:pPr indent="0" lvl="0" marL="0" rtl="0" algn="ctr">
                        <a:spcBef>
                          <a:spcPts val="0"/>
                        </a:spcBef>
                        <a:spcAft>
                          <a:spcPts val="0"/>
                        </a:spcAft>
                        <a:buNone/>
                      </a:pPr>
                      <a:r>
                        <a:rPr b="1" lang="en-US" sz="2400">
                          <a:solidFill>
                            <a:schemeClr val="dk1"/>
                          </a:solidFill>
                        </a:rPr>
                        <a:t>Chinese</a:t>
                      </a:r>
                      <a:endParaRPr b="1"/>
                    </a:p>
                  </a:txBody>
                  <a:tcPr marT="91425" marB="91425" marR="91425" marL="91425">
                    <a:solidFill>
                      <a:schemeClr val="lt1"/>
                    </a:solidFill>
                  </a:tcPr>
                </a:tc>
              </a:tr>
              <a:tr h="381000">
                <a:tc>
                  <a:txBody>
                    <a:bodyPr/>
                    <a:lstStyle/>
                    <a:p>
                      <a:pPr indent="0" lvl="0" marL="0" rtl="0" algn="ctr">
                        <a:spcBef>
                          <a:spcPts val="0"/>
                        </a:spcBef>
                        <a:spcAft>
                          <a:spcPts val="0"/>
                        </a:spcAft>
                        <a:buNone/>
                      </a:pPr>
                      <a:r>
                        <a:rPr lang="en-US" sz="2400">
                          <a:solidFill>
                            <a:schemeClr val="dk1"/>
                          </a:solidFill>
                        </a:rPr>
                        <a:t>friend</a:t>
                      </a:r>
                      <a:endParaRPr/>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朋友</a:t>
                      </a:r>
                      <a:endParaRPr/>
                    </a:p>
                  </a:txBody>
                  <a:tcPr marT="91425" marB="91425" marR="91425" marL="91425">
                    <a:solidFill>
                      <a:schemeClr val="lt1"/>
                    </a:solidFill>
                  </a:tcPr>
                </a:tc>
              </a:tr>
              <a:tr h="381000">
                <a:tc>
                  <a:txBody>
                    <a:bodyPr/>
                    <a:lstStyle/>
                    <a:p>
                      <a:pPr indent="0" lvl="0" marL="0" rtl="0" algn="ctr">
                        <a:spcBef>
                          <a:spcPts val="0"/>
                        </a:spcBef>
                        <a:spcAft>
                          <a:spcPts val="0"/>
                        </a:spcAft>
                        <a:buNone/>
                      </a:pPr>
                      <a:r>
                        <a:rPr lang="en-US" sz="2400">
                          <a:solidFill>
                            <a:schemeClr val="dk1"/>
                          </a:solidFill>
                        </a:rPr>
                        <a:t>rainbow</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US" sz="2400">
                          <a:solidFill>
                            <a:schemeClr val="dk1"/>
                          </a:solidFill>
                        </a:rPr>
                        <a:t>彩虹</a:t>
                      </a:r>
                      <a:endParaRPr/>
                    </a:p>
                  </a:txBody>
                  <a:tcPr marT="91425" marB="91425" marR="91425" marL="91425">
                    <a:lnL cap="flat" cmpd="sng" w="9525">
                      <a:solidFill>
                        <a:srgbClr val="9E9E9E"/>
                      </a:solidFill>
                      <a:prstDash val="solid"/>
                      <a:round/>
                      <a:headEnd len="sm" w="sm" type="none"/>
                      <a:tailEnd len="sm" w="sm" type="none"/>
                    </a:lnL>
                    <a:solidFill>
                      <a:schemeClr val="lt1"/>
                    </a:solidFill>
                  </a:tcPr>
                </a:tc>
              </a:tr>
              <a:tr h="381000">
                <a:tc>
                  <a:txBody>
                    <a:bodyPr/>
                    <a:lstStyle/>
                    <a:p>
                      <a:pPr indent="0" lvl="0" marL="0" rtl="0" algn="ctr">
                        <a:spcBef>
                          <a:spcPts val="0"/>
                        </a:spcBef>
                        <a:spcAft>
                          <a:spcPts val="0"/>
                        </a:spcAft>
                        <a:buNone/>
                      </a:pPr>
                      <a:r>
                        <a:rPr lang="en-US" sz="2400">
                          <a:solidFill>
                            <a:schemeClr val="dk1"/>
                          </a:solidFill>
                        </a:rPr>
                        <a:t>warm</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US" sz="2400">
                          <a:solidFill>
                            <a:schemeClr val="dk1"/>
                          </a:solidFill>
                        </a:rPr>
                        <a:t>溫暖</a:t>
                      </a:r>
                      <a:endParaRPr/>
                    </a:p>
                  </a:txBody>
                  <a:tcPr marT="91425" marB="91425" marR="91425" marL="91425">
                    <a:lnL cap="flat" cmpd="sng" w="9525">
                      <a:solidFill>
                        <a:srgbClr val="9E9E9E"/>
                      </a:solidFill>
                      <a:prstDash val="solid"/>
                      <a:round/>
                      <a:headEnd len="sm" w="sm" type="none"/>
                      <a:tailEnd len="sm" w="sm" type="none"/>
                    </a:lnL>
                    <a:solidFill>
                      <a:schemeClr val="lt1"/>
                    </a:solidFill>
                  </a:tcPr>
                </a:tc>
              </a:tr>
            </a:tbl>
          </a:graphicData>
        </a:graphic>
      </p:graphicFrame>
      <p:sp>
        <p:nvSpPr>
          <p:cNvPr id="149" name="Google Shape;149;g3189475cf00_0_0"/>
          <p:cNvSpPr/>
          <p:nvPr/>
        </p:nvSpPr>
        <p:spPr>
          <a:xfrm>
            <a:off x="3923050" y="29040825"/>
            <a:ext cx="2619600" cy="36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lang="en-US" sz="2400">
                <a:solidFill>
                  <a:schemeClr val="dk1"/>
                </a:solidFill>
              </a:rPr>
              <a:t>Expt</a:t>
            </a:r>
            <a:r>
              <a:rPr lang="en-US" sz="2400">
                <a:solidFill>
                  <a:schemeClr val="dk1"/>
                </a:solidFill>
              </a:rPr>
              <a:t> 1 pleasant</a:t>
            </a:r>
            <a:endParaRPr b="0" i="0" sz="2400" u="none" cap="none" strike="noStrike">
              <a:solidFill>
                <a:schemeClr val="dk1"/>
              </a:solidFill>
              <a:latin typeface="Arial"/>
              <a:ea typeface="Arial"/>
              <a:cs typeface="Arial"/>
              <a:sym typeface="Arial"/>
            </a:endParaRPr>
          </a:p>
        </p:txBody>
      </p:sp>
      <p:graphicFrame>
        <p:nvGraphicFramePr>
          <p:cNvPr id="150" name="Google Shape;150;g3189475cf00_0_0"/>
          <p:cNvGraphicFramePr/>
          <p:nvPr/>
        </p:nvGraphicFramePr>
        <p:xfrm>
          <a:off x="6884988" y="29535150"/>
          <a:ext cx="3000000" cy="3000000"/>
        </p:xfrm>
        <a:graphic>
          <a:graphicData uri="http://schemas.openxmlformats.org/drawingml/2006/table">
            <a:tbl>
              <a:tblPr>
                <a:noFill/>
                <a:tableStyleId>{59DCA3A7-1F5B-4DAE-B2A2-14AB9EC2825C}</a:tableStyleId>
              </a:tblPr>
              <a:tblGrid>
                <a:gridCol w="1412200"/>
                <a:gridCol w="1412200"/>
              </a:tblGrid>
              <a:tr h="381000">
                <a:tc>
                  <a:txBody>
                    <a:bodyPr/>
                    <a:lstStyle/>
                    <a:p>
                      <a:pPr indent="0" lvl="0" marL="0" rtl="0" algn="ctr">
                        <a:spcBef>
                          <a:spcPts val="0"/>
                        </a:spcBef>
                        <a:spcAft>
                          <a:spcPts val="0"/>
                        </a:spcAft>
                        <a:buNone/>
                      </a:pPr>
                      <a:r>
                        <a:rPr b="1" lang="en-US" sz="2400">
                          <a:solidFill>
                            <a:schemeClr val="dk1"/>
                          </a:solidFill>
                        </a:rPr>
                        <a:t>English</a:t>
                      </a:r>
                      <a:endParaRPr b="1"/>
                    </a:p>
                  </a:txBody>
                  <a:tcPr marT="91425" marB="91425" marR="91425" marL="91425">
                    <a:solidFill>
                      <a:schemeClr val="lt1"/>
                    </a:solidFill>
                  </a:tcPr>
                </a:tc>
                <a:tc>
                  <a:txBody>
                    <a:bodyPr/>
                    <a:lstStyle/>
                    <a:p>
                      <a:pPr indent="0" lvl="0" marL="0" rtl="0" algn="ctr">
                        <a:spcBef>
                          <a:spcPts val="0"/>
                        </a:spcBef>
                        <a:spcAft>
                          <a:spcPts val="0"/>
                        </a:spcAft>
                        <a:buNone/>
                      </a:pPr>
                      <a:r>
                        <a:rPr b="1" lang="en-US" sz="2400">
                          <a:solidFill>
                            <a:schemeClr val="dk1"/>
                          </a:solidFill>
                        </a:rPr>
                        <a:t>Spanish</a:t>
                      </a:r>
                      <a:endParaRPr b="1"/>
                    </a:p>
                  </a:txBody>
                  <a:tcPr marT="91425" marB="91425" marR="91425" marL="91425">
                    <a:solidFill>
                      <a:schemeClr val="lt1"/>
                    </a:solidFill>
                  </a:tcPr>
                </a:tc>
              </a:tr>
              <a:tr h="381000">
                <a:tc>
                  <a:txBody>
                    <a:bodyPr/>
                    <a:lstStyle/>
                    <a:p>
                      <a:pPr indent="0" lvl="0" marL="0" rtl="0" algn="ctr">
                        <a:spcBef>
                          <a:spcPts val="0"/>
                        </a:spcBef>
                        <a:spcAft>
                          <a:spcPts val="0"/>
                        </a:spcAft>
                        <a:buNone/>
                      </a:pPr>
                      <a:r>
                        <a:rPr lang="en-US" sz="2400">
                          <a:solidFill>
                            <a:schemeClr val="dk1"/>
                          </a:solidFill>
                        </a:rPr>
                        <a:t>trash</a:t>
                      </a:r>
                      <a:endParaRPr/>
                    </a:p>
                  </a:txBody>
                  <a:tcPr marT="91425" marB="91425" marR="91425" marL="91425">
                    <a:solidFill>
                      <a:schemeClr val="lt1"/>
                    </a:solidFill>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basura</a:t>
                      </a:r>
                      <a:endParaRPr/>
                    </a:p>
                  </a:txBody>
                  <a:tcPr marT="91425" marB="91425" marR="91425" marL="91425">
                    <a:solidFill>
                      <a:schemeClr val="lt1"/>
                    </a:solidFill>
                  </a:tcPr>
                </a:tc>
              </a:tr>
              <a:tr h="381000">
                <a:tc>
                  <a:txBody>
                    <a:bodyPr/>
                    <a:lstStyle/>
                    <a:p>
                      <a:pPr indent="0" lvl="0" marL="0" rtl="0" algn="ctr">
                        <a:spcBef>
                          <a:spcPts val="0"/>
                        </a:spcBef>
                        <a:spcAft>
                          <a:spcPts val="0"/>
                        </a:spcAft>
                        <a:buNone/>
                      </a:pPr>
                      <a:r>
                        <a:rPr lang="en-US" sz="2400">
                          <a:solidFill>
                            <a:schemeClr val="dk1"/>
                          </a:solidFill>
                        </a:rPr>
                        <a:t>danger</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US" sz="2400">
                          <a:solidFill>
                            <a:schemeClr val="dk1"/>
                          </a:solidFill>
                        </a:rPr>
                        <a:t>peligro</a:t>
                      </a:r>
                      <a:endParaRPr/>
                    </a:p>
                  </a:txBody>
                  <a:tcPr marT="91425" marB="91425" marR="91425" marL="91425">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death</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US" sz="2400">
                          <a:solidFill>
                            <a:schemeClr val="dk1"/>
                          </a:solidFill>
                        </a:rPr>
                        <a:t>muerte</a:t>
                      </a:r>
                      <a:endParaRPr/>
                    </a:p>
                  </a:txBody>
                  <a:tcPr marT="91425" marB="91425" marR="91425" marL="91425">
                    <a:solidFill>
                      <a:schemeClr val="lt1"/>
                    </a:solidFill>
                  </a:tcPr>
                </a:tc>
              </a:tr>
            </a:tbl>
          </a:graphicData>
        </a:graphic>
      </p:graphicFrame>
      <p:sp>
        <p:nvSpPr>
          <p:cNvPr id="151" name="Google Shape;151;g3189475cf00_0_0"/>
          <p:cNvSpPr/>
          <p:nvPr/>
        </p:nvSpPr>
        <p:spPr>
          <a:xfrm>
            <a:off x="6808800" y="29040825"/>
            <a:ext cx="2960100" cy="36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lang="en-US" sz="2400">
                <a:solidFill>
                  <a:schemeClr val="dk1"/>
                </a:solidFill>
              </a:rPr>
              <a:t>Expt</a:t>
            </a:r>
            <a:r>
              <a:rPr lang="en-US" sz="2400">
                <a:solidFill>
                  <a:schemeClr val="dk1"/>
                </a:solidFill>
              </a:rPr>
              <a:t> 3 unpleasant</a:t>
            </a:r>
            <a:endParaRPr b="0" i="0" sz="2400" u="none" cap="none" strike="noStrike">
              <a:solidFill>
                <a:schemeClr val="dk1"/>
              </a:solidFill>
              <a:latin typeface="Arial"/>
              <a:ea typeface="Arial"/>
              <a:cs typeface="Arial"/>
              <a:sym typeface="Arial"/>
            </a:endParaRPr>
          </a:p>
        </p:txBody>
      </p:sp>
      <p:graphicFrame>
        <p:nvGraphicFramePr>
          <p:cNvPr id="152" name="Google Shape;152;g3189475cf00_0_0"/>
          <p:cNvGraphicFramePr/>
          <p:nvPr/>
        </p:nvGraphicFramePr>
        <p:xfrm>
          <a:off x="9823188" y="29611338"/>
          <a:ext cx="3000000" cy="3000000"/>
        </p:xfrm>
        <a:graphic>
          <a:graphicData uri="http://schemas.openxmlformats.org/drawingml/2006/table">
            <a:tbl>
              <a:tblPr>
                <a:noFill/>
                <a:tableStyleId>{59DCA3A7-1F5B-4DAE-B2A2-14AB9EC2825C}</a:tableStyleId>
              </a:tblPr>
              <a:tblGrid>
                <a:gridCol w="1412200"/>
                <a:gridCol w="1412200"/>
              </a:tblGrid>
              <a:tr h="381000">
                <a:tc>
                  <a:txBody>
                    <a:bodyPr/>
                    <a:lstStyle/>
                    <a:p>
                      <a:pPr indent="0" lvl="0" marL="0" rtl="0" algn="ctr">
                        <a:spcBef>
                          <a:spcPts val="0"/>
                        </a:spcBef>
                        <a:spcAft>
                          <a:spcPts val="0"/>
                        </a:spcAft>
                        <a:buNone/>
                      </a:pPr>
                      <a:r>
                        <a:rPr b="1" lang="en-US" sz="2400">
                          <a:solidFill>
                            <a:schemeClr val="dk1"/>
                          </a:solidFill>
                        </a:rPr>
                        <a:t>English</a:t>
                      </a:r>
                      <a:endParaRPr b="1"/>
                    </a:p>
                  </a:txBody>
                  <a:tcPr marT="91425" marB="91425" marR="91425" marL="91425">
                    <a:solidFill>
                      <a:schemeClr val="lt1"/>
                    </a:solidFill>
                  </a:tcPr>
                </a:tc>
                <a:tc>
                  <a:txBody>
                    <a:bodyPr/>
                    <a:lstStyle/>
                    <a:p>
                      <a:pPr indent="0" lvl="0" marL="0" rtl="0" algn="ctr">
                        <a:spcBef>
                          <a:spcPts val="0"/>
                        </a:spcBef>
                        <a:spcAft>
                          <a:spcPts val="0"/>
                        </a:spcAft>
                        <a:buNone/>
                      </a:pPr>
                      <a:r>
                        <a:rPr b="1" lang="en-US" sz="2400">
                          <a:solidFill>
                            <a:schemeClr val="dk1"/>
                          </a:solidFill>
                        </a:rPr>
                        <a:t>Spanish</a:t>
                      </a:r>
                      <a:endParaRPr b="1"/>
                    </a:p>
                  </a:txBody>
                  <a:tcPr marT="91425" marB="91425" marR="91425" marL="91425">
                    <a:solidFill>
                      <a:schemeClr val="lt1"/>
                    </a:solidFill>
                  </a:tcPr>
                </a:tc>
              </a:tr>
              <a:tr h="381000">
                <a:tc>
                  <a:txBody>
                    <a:bodyPr/>
                    <a:lstStyle/>
                    <a:p>
                      <a:pPr indent="0" lvl="0" marL="0" rtl="0" algn="ctr">
                        <a:spcBef>
                          <a:spcPts val="0"/>
                        </a:spcBef>
                        <a:spcAft>
                          <a:spcPts val="0"/>
                        </a:spcAft>
                        <a:buNone/>
                      </a:pPr>
                      <a:r>
                        <a:rPr lang="en-US" sz="2400">
                          <a:solidFill>
                            <a:schemeClr val="dk1"/>
                          </a:solidFill>
                        </a:rPr>
                        <a:t>friend</a:t>
                      </a:r>
                      <a:endParaRPr/>
                    </a:p>
                  </a:txBody>
                  <a:tcPr marT="91425" marB="91425" marR="91425" marL="91425">
                    <a:solidFill>
                      <a:schemeClr val="lt1"/>
                    </a:solidFill>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amigo</a:t>
                      </a:r>
                      <a:endParaRPr/>
                    </a:p>
                  </a:txBody>
                  <a:tcPr marT="91425" marB="91425" marR="91425" marL="91425">
                    <a:solidFill>
                      <a:schemeClr val="lt1"/>
                    </a:solidFill>
                  </a:tcPr>
                </a:tc>
              </a:tr>
              <a:tr h="381000">
                <a:tc>
                  <a:txBody>
                    <a:bodyPr/>
                    <a:lstStyle/>
                    <a:p>
                      <a:pPr indent="0" lvl="0" marL="0" rtl="0" algn="ctr">
                        <a:spcBef>
                          <a:spcPts val="0"/>
                        </a:spcBef>
                        <a:spcAft>
                          <a:spcPts val="0"/>
                        </a:spcAft>
                        <a:buNone/>
                      </a:pPr>
                      <a:r>
                        <a:rPr lang="en-US" sz="2400">
                          <a:solidFill>
                            <a:schemeClr val="dk1"/>
                          </a:solidFill>
                        </a:rPr>
                        <a:t>rainbow</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US" sz="2400">
                          <a:solidFill>
                            <a:schemeClr val="dk1"/>
                          </a:solidFill>
                        </a:rPr>
                        <a:t>arcoíris</a:t>
                      </a:r>
                      <a:endParaRPr/>
                    </a:p>
                  </a:txBody>
                  <a:tcPr marT="91425" marB="91425" marR="91425" marL="91425">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en-US" sz="2400">
                          <a:solidFill>
                            <a:schemeClr val="dk1"/>
                          </a:solidFill>
                        </a:rPr>
                        <a:t>warm</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US" sz="2400">
                          <a:solidFill>
                            <a:schemeClr val="dk1"/>
                          </a:solidFill>
                        </a:rPr>
                        <a:t>cálido</a:t>
                      </a:r>
                      <a:endParaRPr/>
                    </a:p>
                  </a:txBody>
                  <a:tcPr marT="91425" marB="91425" marR="91425" marL="91425">
                    <a:solidFill>
                      <a:schemeClr val="lt1"/>
                    </a:solidFill>
                  </a:tcPr>
                </a:tc>
              </a:tr>
            </a:tbl>
          </a:graphicData>
        </a:graphic>
      </p:graphicFrame>
      <p:sp>
        <p:nvSpPr>
          <p:cNvPr id="153" name="Google Shape;153;g3189475cf00_0_0"/>
          <p:cNvSpPr/>
          <p:nvPr/>
        </p:nvSpPr>
        <p:spPr>
          <a:xfrm>
            <a:off x="9556932" y="29110750"/>
            <a:ext cx="3225900" cy="36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lang="en-US" sz="2400">
                <a:solidFill>
                  <a:schemeClr val="dk1"/>
                </a:solidFill>
              </a:rPr>
              <a:t>Expt</a:t>
            </a:r>
            <a:r>
              <a:rPr lang="en-US" sz="2400">
                <a:solidFill>
                  <a:schemeClr val="dk1"/>
                </a:solidFill>
              </a:rPr>
              <a:t> 3 pleasant</a:t>
            </a:r>
            <a:endParaRPr b="0" i="0" sz="2400" u="none" cap="none" strike="noStrike">
              <a:solidFill>
                <a:schemeClr val="dk1"/>
              </a:solidFill>
              <a:latin typeface="Arial"/>
              <a:ea typeface="Arial"/>
              <a:cs typeface="Arial"/>
              <a:sym typeface="Arial"/>
            </a:endParaRPr>
          </a:p>
        </p:txBody>
      </p:sp>
      <p:sp>
        <p:nvSpPr>
          <p:cNvPr id="154" name="Google Shape;154;g3189475cf00_0_0"/>
          <p:cNvSpPr txBox="1"/>
          <p:nvPr/>
        </p:nvSpPr>
        <p:spPr>
          <a:xfrm>
            <a:off x="30039487" y="4129500"/>
            <a:ext cx="13401300" cy="282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2600">
                <a:solidFill>
                  <a:srgbClr val="595959"/>
                </a:solidFill>
              </a:rPr>
              <a:t>Objective</a:t>
            </a:r>
            <a:r>
              <a:rPr lang="en-US" sz="2600">
                <a:solidFill>
                  <a:srgbClr val="595959"/>
                </a:solidFill>
              </a:rPr>
              <a:t>: </a:t>
            </a:r>
            <a:endParaRPr sz="2600">
              <a:solidFill>
                <a:srgbClr val="595959"/>
              </a:solidFill>
            </a:endParaRPr>
          </a:p>
          <a:p>
            <a:pPr indent="-393700" lvl="0" marL="457200" rtl="0" algn="just">
              <a:lnSpc>
                <a:spcPct val="115000"/>
              </a:lnSpc>
              <a:spcBef>
                <a:spcPts val="0"/>
              </a:spcBef>
              <a:spcAft>
                <a:spcPts val="0"/>
              </a:spcAft>
              <a:buClr>
                <a:srgbClr val="595959"/>
              </a:buClr>
              <a:buSzPts val="2600"/>
              <a:buChar char="•"/>
            </a:pPr>
            <a:r>
              <a:rPr lang="en-US" sz="2600">
                <a:solidFill>
                  <a:srgbClr val="595959"/>
                </a:solidFill>
              </a:rPr>
              <a:t>This experiment further investigates our conclusion from Experiment 1 that priming effects for never-before practiced cross-language primes may depend on visibility levels. Building on Experiment 2, we tested Spanish-English cross-language pairs in conditions with presumed low visibility (233 forward mask, 33 ms primes) and high visibility (233 forward mask, 67 ms primes). </a:t>
            </a:r>
            <a:endParaRPr sz="2600">
              <a:solidFill>
                <a:srgbClr val="595959"/>
              </a:solidFill>
            </a:endParaRPr>
          </a:p>
        </p:txBody>
      </p:sp>
      <p:sp>
        <p:nvSpPr>
          <p:cNvPr id="155" name="Google Shape;155;g3189475cf00_0_0"/>
          <p:cNvSpPr txBox="1"/>
          <p:nvPr/>
        </p:nvSpPr>
        <p:spPr>
          <a:xfrm>
            <a:off x="13661867" y="8793050"/>
            <a:ext cx="7291500" cy="4971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800"/>
              <a:buFont typeface="Arial"/>
              <a:buNone/>
            </a:pPr>
            <a:r>
              <a:rPr b="1" lang="en-US" sz="2600" u="none" cap="none" strike="noStrike">
                <a:solidFill>
                  <a:srgbClr val="595959"/>
                </a:solidFill>
                <a:latin typeface="Arial"/>
                <a:ea typeface="Arial"/>
                <a:cs typeface="Arial"/>
                <a:sym typeface="Arial"/>
              </a:rPr>
              <a:t>Priming Effect (accuracy)</a:t>
            </a:r>
            <a:endParaRPr b="1" sz="2600" u="none" cap="none" strike="noStrike">
              <a:solidFill>
                <a:srgbClr val="595959"/>
              </a:solidFill>
              <a:latin typeface="Arial"/>
              <a:ea typeface="Arial"/>
              <a:cs typeface="Arial"/>
              <a:sym typeface="Arial"/>
            </a:endParaRPr>
          </a:p>
          <a:p>
            <a:pPr indent="-393700" lvl="0" marL="457200" rtl="0" algn="just">
              <a:spcBef>
                <a:spcPts val="0"/>
              </a:spcBef>
              <a:spcAft>
                <a:spcPts val="0"/>
              </a:spcAft>
              <a:buClr>
                <a:srgbClr val="595959"/>
              </a:buClr>
              <a:buSzPts val="2600"/>
              <a:buChar char="•"/>
            </a:pPr>
            <a:r>
              <a:rPr lang="en-US" sz="2600">
                <a:solidFill>
                  <a:srgbClr val="595959"/>
                </a:solidFill>
              </a:rPr>
              <a:t>A 2x2 ANOVA on accuracy for within subjects congruence (congruent, incongruent) and between subjects duration (33, 50 ms) revealed significant main effects of congruence (</a:t>
            </a:r>
            <a:r>
              <a:rPr i="1" lang="en-US" sz="2600">
                <a:solidFill>
                  <a:srgbClr val="595959"/>
                </a:solidFill>
              </a:rPr>
              <a:t>p</a:t>
            </a:r>
            <a:r>
              <a:rPr lang="en-US" sz="2600">
                <a:solidFill>
                  <a:srgbClr val="595959"/>
                </a:solidFill>
              </a:rPr>
              <a:t> = .013) and duration (</a:t>
            </a:r>
            <a:r>
              <a:rPr i="1" lang="en-US" sz="2600">
                <a:solidFill>
                  <a:srgbClr val="595959"/>
                </a:solidFill>
              </a:rPr>
              <a:t>p</a:t>
            </a:r>
            <a:r>
              <a:rPr lang="en-US" sz="2600">
                <a:solidFill>
                  <a:srgbClr val="595959"/>
                </a:solidFill>
              </a:rPr>
              <a:t> = .036).  </a:t>
            </a:r>
            <a:endParaRPr sz="2600">
              <a:solidFill>
                <a:srgbClr val="595959"/>
              </a:solidFill>
            </a:endParaRPr>
          </a:p>
          <a:p>
            <a:pPr indent="-393700" lvl="0" marL="457200" rtl="0" algn="just">
              <a:spcBef>
                <a:spcPts val="1500"/>
              </a:spcBef>
              <a:spcAft>
                <a:spcPts val="0"/>
              </a:spcAft>
              <a:buClr>
                <a:srgbClr val="595959"/>
              </a:buClr>
              <a:buSzPts val="2600"/>
              <a:buChar char="•"/>
            </a:pPr>
            <a:r>
              <a:rPr lang="en-US" sz="2600">
                <a:solidFill>
                  <a:srgbClr val="595959"/>
                </a:solidFill>
              </a:rPr>
              <a:t>No significant interaction was observed.</a:t>
            </a:r>
            <a:endParaRPr sz="2600">
              <a:solidFill>
                <a:srgbClr val="595959"/>
              </a:solidFill>
            </a:endParaRPr>
          </a:p>
          <a:p>
            <a:pPr indent="-393700" lvl="0" marL="457200" rtl="0" algn="just">
              <a:spcBef>
                <a:spcPts val="1500"/>
              </a:spcBef>
              <a:spcAft>
                <a:spcPts val="1500"/>
              </a:spcAft>
              <a:buClr>
                <a:srgbClr val="595959"/>
              </a:buClr>
              <a:buSzPts val="2600"/>
              <a:buChar char="•"/>
            </a:pPr>
            <a:r>
              <a:rPr b="1" lang="en-US" sz="2600">
                <a:solidFill>
                  <a:srgbClr val="595959"/>
                </a:solidFill>
              </a:rPr>
              <a:t>Contrasts revealed a significant priming effect for both prime durations: 33 ms (</a:t>
            </a:r>
            <a:r>
              <a:rPr b="1" i="1" lang="en-US" sz="2600">
                <a:solidFill>
                  <a:srgbClr val="595959"/>
                </a:solidFill>
              </a:rPr>
              <a:t>p</a:t>
            </a:r>
            <a:r>
              <a:rPr b="1" lang="en-US" sz="2600">
                <a:solidFill>
                  <a:srgbClr val="595959"/>
                </a:solidFill>
              </a:rPr>
              <a:t> = .025) and 50 ms (</a:t>
            </a:r>
            <a:r>
              <a:rPr b="1" i="1" lang="en-US" sz="2600">
                <a:solidFill>
                  <a:srgbClr val="595959"/>
                </a:solidFill>
              </a:rPr>
              <a:t>p</a:t>
            </a:r>
            <a:r>
              <a:rPr b="1" lang="en-US" sz="2600">
                <a:solidFill>
                  <a:srgbClr val="595959"/>
                </a:solidFill>
              </a:rPr>
              <a:t> = .022).</a:t>
            </a:r>
            <a:r>
              <a:rPr lang="en-US" sz="2600">
                <a:solidFill>
                  <a:srgbClr val="595959"/>
                </a:solidFill>
              </a:rPr>
              <a:t>  </a:t>
            </a:r>
            <a:endParaRPr sz="2600">
              <a:solidFill>
                <a:srgbClr val="595959"/>
              </a:solidFill>
            </a:endParaRPr>
          </a:p>
        </p:txBody>
      </p:sp>
      <p:sp>
        <p:nvSpPr>
          <p:cNvPr id="156" name="Google Shape;156;g3189475cf00_0_0"/>
          <p:cNvSpPr/>
          <p:nvPr/>
        </p:nvSpPr>
        <p:spPr>
          <a:xfrm>
            <a:off x="30271450" y="27539675"/>
            <a:ext cx="13254000" cy="769500"/>
          </a:xfrm>
          <a:prstGeom prst="rect">
            <a:avLst/>
          </a:prstGeom>
          <a:solidFill>
            <a:srgbClr val="D069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lang="en-US" sz="4400">
                <a:solidFill>
                  <a:schemeClr val="lt1"/>
                </a:solidFill>
              </a:rPr>
              <a:t>References</a:t>
            </a:r>
            <a:endParaRPr b="0" i="0" sz="1400" u="none" cap="none" strike="noStrike">
              <a:solidFill>
                <a:srgbClr val="000000"/>
              </a:solidFill>
              <a:latin typeface="Arial"/>
              <a:ea typeface="Arial"/>
              <a:cs typeface="Arial"/>
              <a:sym typeface="Arial"/>
            </a:endParaRPr>
          </a:p>
        </p:txBody>
      </p:sp>
      <p:sp>
        <p:nvSpPr>
          <p:cNvPr id="157" name="Google Shape;157;g3189475cf00_0_0"/>
          <p:cNvSpPr txBox="1"/>
          <p:nvPr/>
        </p:nvSpPr>
        <p:spPr>
          <a:xfrm>
            <a:off x="30271467" y="28570925"/>
            <a:ext cx="13254000" cy="31785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lang="en-US" sz="2600">
                <a:solidFill>
                  <a:srgbClr val="595959"/>
                </a:solidFill>
              </a:rPr>
              <a:t>Draine, S. C., &amp; Greenwald, A. G. (1998). Replicable unconscious semantic priming. </a:t>
            </a:r>
            <a:r>
              <a:rPr i="1" lang="en-US" sz="2600">
                <a:solidFill>
                  <a:srgbClr val="595959"/>
                </a:solidFill>
              </a:rPr>
              <a:t>Journal of Experimental Psychology: General, 127</a:t>
            </a:r>
            <a:r>
              <a:rPr lang="en-US" sz="2600">
                <a:solidFill>
                  <a:srgbClr val="595959"/>
                </a:solidFill>
              </a:rPr>
              <a:t>(3), 286.</a:t>
            </a:r>
            <a:endParaRPr sz="2600">
              <a:solidFill>
                <a:srgbClr val="595959"/>
              </a:solidFill>
            </a:endParaRPr>
          </a:p>
          <a:p>
            <a:pPr indent="0" lvl="0" marL="0" rtl="0" algn="just">
              <a:lnSpc>
                <a:spcPct val="100000"/>
              </a:lnSpc>
              <a:spcBef>
                <a:spcPts val="1500"/>
              </a:spcBef>
              <a:spcAft>
                <a:spcPts val="1500"/>
              </a:spcAft>
              <a:buNone/>
            </a:pPr>
            <a:r>
              <a:rPr lang="en-US" sz="2600">
                <a:solidFill>
                  <a:srgbClr val="595959"/>
                </a:solidFill>
              </a:rPr>
              <a:t>Nakayama, Mariko, and Stephen J. Lupker. “Is there lexical competition in the recognition of L2 words for different-script bilinguals? an examination using masked priming with Japanese-English bilinguals.” </a:t>
            </a:r>
            <a:r>
              <a:rPr i="1" lang="en-US" sz="2600">
                <a:solidFill>
                  <a:srgbClr val="595959"/>
                </a:solidFill>
              </a:rPr>
              <a:t>Journal of Experimental Psychology: Human Perception and Performance</a:t>
            </a:r>
            <a:r>
              <a:rPr lang="en-US" sz="2600">
                <a:solidFill>
                  <a:srgbClr val="595959"/>
                </a:solidFill>
              </a:rPr>
              <a:t>, vol. 44, no. 8, Aug. 2018, pp. 1168–1185, https://doi.org/10.1037/xhp0000525. </a:t>
            </a:r>
            <a:endParaRPr sz="2600">
              <a:solidFill>
                <a:srgbClr val="59595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2020-02-11T19:37:46Z</dcterms:created>
  <dc:creator>Vishnevsky, Simona</dc:creator>
</cp:coreProperties>
</file>