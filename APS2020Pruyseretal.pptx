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3"/>
  </p:notesMasterIdLst>
  <p:handoutMasterIdLst>
    <p:handoutMasterId r:id="rId4"/>
  </p:handoutMasterIdLst>
  <p:sldIdLst>
    <p:sldId id="277" r:id="rId2"/>
  </p:sldIdLst>
  <p:sldSz cx="43891200" cy="32918400"/>
  <p:notesSz cx="9296400" cy="7010400"/>
  <p:defaultTextStyle>
    <a:defPPr>
      <a:defRPr lang="en-US"/>
    </a:defPPr>
    <a:lvl1pPr marL="0" algn="l" defTabSz="4388419" rtl="0" eaLnBrk="1" latinLnBrk="0" hangingPunct="1">
      <a:defRPr sz="8640" kern="1200">
        <a:solidFill>
          <a:schemeClr val="tx1"/>
        </a:solidFill>
        <a:latin typeface="+mn-lt"/>
        <a:ea typeface="+mn-ea"/>
        <a:cs typeface="+mn-cs"/>
      </a:defRPr>
    </a:lvl1pPr>
    <a:lvl2pPr marL="2194210" algn="l" defTabSz="4388419" rtl="0" eaLnBrk="1" latinLnBrk="0" hangingPunct="1">
      <a:defRPr sz="8640" kern="1200">
        <a:solidFill>
          <a:schemeClr val="tx1"/>
        </a:solidFill>
        <a:latin typeface="+mn-lt"/>
        <a:ea typeface="+mn-ea"/>
        <a:cs typeface="+mn-cs"/>
      </a:defRPr>
    </a:lvl2pPr>
    <a:lvl3pPr marL="4388419" algn="l" defTabSz="4388419" rtl="0" eaLnBrk="1" latinLnBrk="0" hangingPunct="1">
      <a:defRPr sz="8640" kern="1200">
        <a:solidFill>
          <a:schemeClr val="tx1"/>
        </a:solidFill>
        <a:latin typeface="+mn-lt"/>
        <a:ea typeface="+mn-ea"/>
        <a:cs typeface="+mn-cs"/>
      </a:defRPr>
    </a:lvl3pPr>
    <a:lvl4pPr marL="6582629" algn="l" defTabSz="4388419" rtl="0" eaLnBrk="1" latinLnBrk="0" hangingPunct="1">
      <a:defRPr sz="8640" kern="1200">
        <a:solidFill>
          <a:schemeClr val="tx1"/>
        </a:solidFill>
        <a:latin typeface="+mn-lt"/>
        <a:ea typeface="+mn-ea"/>
        <a:cs typeface="+mn-cs"/>
      </a:defRPr>
    </a:lvl4pPr>
    <a:lvl5pPr marL="8776834" algn="l" defTabSz="4388419" rtl="0" eaLnBrk="1" latinLnBrk="0" hangingPunct="1">
      <a:defRPr sz="8640" kern="1200">
        <a:solidFill>
          <a:schemeClr val="tx1"/>
        </a:solidFill>
        <a:latin typeface="+mn-lt"/>
        <a:ea typeface="+mn-ea"/>
        <a:cs typeface="+mn-cs"/>
      </a:defRPr>
    </a:lvl5pPr>
    <a:lvl6pPr marL="10971043" algn="l" defTabSz="4388419" rtl="0" eaLnBrk="1" latinLnBrk="0" hangingPunct="1">
      <a:defRPr sz="8640" kern="1200">
        <a:solidFill>
          <a:schemeClr val="tx1"/>
        </a:solidFill>
        <a:latin typeface="+mn-lt"/>
        <a:ea typeface="+mn-ea"/>
        <a:cs typeface="+mn-cs"/>
      </a:defRPr>
    </a:lvl6pPr>
    <a:lvl7pPr marL="13165253" algn="l" defTabSz="4388419" rtl="0" eaLnBrk="1" latinLnBrk="0" hangingPunct="1">
      <a:defRPr sz="8640" kern="1200">
        <a:solidFill>
          <a:schemeClr val="tx1"/>
        </a:solidFill>
        <a:latin typeface="+mn-lt"/>
        <a:ea typeface="+mn-ea"/>
        <a:cs typeface="+mn-cs"/>
      </a:defRPr>
    </a:lvl7pPr>
    <a:lvl8pPr marL="15359462" algn="l" defTabSz="4388419" rtl="0" eaLnBrk="1" latinLnBrk="0" hangingPunct="1">
      <a:defRPr sz="8640" kern="1200">
        <a:solidFill>
          <a:schemeClr val="tx1"/>
        </a:solidFill>
        <a:latin typeface="+mn-lt"/>
        <a:ea typeface="+mn-ea"/>
        <a:cs typeface="+mn-cs"/>
      </a:defRPr>
    </a:lvl8pPr>
    <a:lvl9pPr marL="17553672" algn="l" defTabSz="4388419" rtl="0" eaLnBrk="1" latinLnBrk="0" hangingPunct="1">
      <a:defRPr sz="864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 uri="{2D200454-40CA-4A62-9FC3-DE9A4176ACB9}">
      <p15:notesGuideLst xmlns:p15="http://schemas.microsoft.com/office/powerpoint/2012/main">
        <p15:guide id="1" orient="horz" pos="2208" userDrawn="1">
          <p15:clr>
            <a:srgbClr val="A4A3A4"/>
          </p15:clr>
        </p15:guide>
        <p15:guide id="2" pos="292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7FA"/>
    <a:srgbClr val="9F9F9F"/>
    <a:srgbClr val="ABD9D8"/>
    <a:srgbClr val="CFDFED"/>
    <a:srgbClr val="BDE7E7"/>
    <a:srgbClr val="AFE5D6"/>
    <a:srgbClr val="AFE3D2"/>
    <a:srgbClr val="F1CCAC"/>
    <a:srgbClr val="C0A483"/>
    <a:srgbClr val="E8B3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4843" autoAdjust="0"/>
    <p:restoredTop sz="95552" autoAdjust="0"/>
  </p:normalViewPr>
  <p:slideViewPr>
    <p:cSldViewPr snapToGrid="0">
      <p:cViewPr>
        <p:scale>
          <a:sx n="37" d="100"/>
          <a:sy n="37" d="100"/>
        </p:scale>
        <p:origin x="160" y="-224"/>
      </p:cViewPr>
      <p:guideLst>
        <p:guide orient="horz" pos="10368"/>
        <p:guide pos="13824"/>
      </p:guideLst>
    </p:cSldViewPr>
  </p:slideViewPr>
  <p:notesTextViewPr>
    <p:cViewPr>
      <p:scale>
        <a:sx n="1" d="1"/>
        <a:sy n="1" d="1"/>
      </p:scale>
      <p:origin x="0" y="0"/>
    </p:cViewPr>
  </p:notesTextViewPr>
  <p:notesViewPr>
    <p:cSldViewPr snapToGrid="0">
      <p:cViewPr varScale="1">
        <p:scale>
          <a:sx n="84" d="100"/>
          <a:sy n="84" d="100"/>
        </p:scale>
        <p:origin x="3828" y="60"/>
      </p:cViewPr>
      <p:guideLst>
        <p:guide orient="horz" pos="2208"/>
        <p:guide pos="292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7D7FFC6-1CDD-4B00-821E-1C5E506D6A6C}"/>
              </a:ext>
            </a:extLst>
          </p:cNvPr>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a:p>
        </p:txBody>
      </p:sp>
      <p:sp>
        <p:nvSpPr>
          <p:cNvPr id="3" name="Date Placeholder 2">
            <a:extLst>
              <a:ext uri="{FF2B5EF4-FFF2-40B4-BE49-F238E27FC236}">
                <a16:creationId xmlns:a16="http://schemas.microsoft.com/office/drawing/2014/main" id="{35346F5A-F3CE-4EA5-991B-0BCE3E9BDFD0}"/>
              </a:ext>
            </a:extLst>
          </p:cNvPr>
          <p:cNvSpPr>
            <a:spLocks noGrp="1"/>
          </p:cNvSpPr>
          <p:nvPr>
            <p:ph type="dt" sz="quarter" idx="1"/>
          </p:nvPr>
        </p:nvSpPr>
        <p:spPr>
          <a:xfrm>
            <a:off x="5265809" y="1"/>
            <a:ext cx="4028440" cy="351737"/>
          </a:xfrm>
          <a:prstGeom prst="rect">
            <a:avLst/>
          </a:prstGeom>
        </p:spPr>
        <p:txBody>
          <a:bodyPr vert="horz" lIns="93177" tIns="46589" rIns="93177" bIns="46589" rtlCol="0"/>
          <a:lstStyle>
            <a:lvl1pPr algn="r">
              <a:defRPr sz="1200"/>
            </a:lvl1pPr>
          </a:lstStyle>
          <a:p>
            <a:fld id="{88011932-3728-4320-8B58-9EC381C1CE87}" type="datetimeFigureOut">
              <a:rPr lang="en-US" smtClean="0"/>
              <a:t>5/26/20</a:t>
            </a:fld>
            <a:endParaRPr lang="en-US"/>
          </a:p>
        </p:txBody>
      </p:sp>
      <p:sp>
        <p:nvSpPr>
          <p:cNvPr id="4" name="Footer Placeholder 3">
            <a:extLst>
              <a:ext uri="{FF2B5EF4-FFF2-40B4-BE49-F238E27FC236}">
                <a16:creationId xmlns:a16="http://schemas.microsoft.com/office/drawing/2014/main" id="{D2C67746-D6C5-4BC0-83E0-B6581CA6CC23}"/>
              </a:ext>
            </a:extLst>
          </p:cNvPr>
          <p:cNvSpPr>
            <a:spLocks noGrp="1"/>
          </p:cNvSpPr>
          <p:nvPr>
            <p:ph type="ftr" sz="quarter" idx="2"/>
          </p:nvPr>
        </p:nvSpPr>
        <p:spPr>
          <a:xfrm>
            <a:off x="0" y="6658664"/>
            <a:ext cx="4028440" cy="351736"/>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8CCD75B-4A95-4CA0-82A1-6AD2EBFC0878}"/>
              </a:ext>
            </a:extLst>
          </p:cNvPr>
          <p:cNvSpPr>
            <a:spLocks noGrp="1"/>
          </p:cNvSpPr>
          <p:nvPr>
            <p:ph type="sldNum" sz="quarter" idx="3"/>
          </p:nvPr>
        </p:nvSpPr>
        <p:spPr>
          <a:xfrm>
            <a:off x="5265809" y="6658664"/>
            <a:ext cx="4028440" cy="351736"/>
          </a:xfrm>
          <a:prstGeom prst="rect">
            <a:avLst/>
          </a:prstGeom>
        </p:spPr>
        <p:txBody>
          <a:bodyPr vert="horz" lIns="93177" tIns="46589" rIns="93177" bIns="46589" rtlCol="0" anchor="b"/>
          <a:lstStyle>
            <a:lvl1pPr algn="r">
              <a:defRPr sz="1200"/>
            </a:lvl1pPr>
          </a:lstStyle>
          <a:p>
            <a:fld id="{62CE23B0-2409-4CA3-A8B5-6A510FC80F85}" type="slidenum">
              <a:rPr lang="en-US" smtClean="0"/>
              <a:t>‹#›</a:t>
            </a:fld>
            <a:endParaRPr lang="en-US"/>
          </a:p>
        </p:txBody>
      </p:sp>
    </p:spTree>
    <p:extLst>
      <p:ext uri="{BB962C8B-B14F-4D97-AF65-F5344CB8AC3E}">
        <p14:creationId xmlns:p14="http://schemas.microsoft.com/office/powerpoint/2010/main" val="17475465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5265809" y="1"/>
            <a:ext cx="4028440" cy="351737"/>
          </a:xfrm>
          <a:prstGeom prst="rect">
            <a:avLst/>
          </a:prstGeom>
        </p:spPr>
        <p:txBody>
          <a:bodyPr vert="horz" lIns="93177" tIns="46589" rIns="93177" bIns="46589" rtlCol="0"/>
          <a:lstStyle>
            <a:lvl1pPr algn="r">
              <a:defRPr sz="1200"/>
            </a:lvl1pPr>
          </a:lstStyle>
          <a:p>
            <a:fld id="{2EDD3BB6-0E10-4123-8757-4C1495A087C5}" type="datetimeFigureOut">
              <a:rPr lang="en-US" smtClean="0"/>
              <a:t>5/26/20</a:t>
            </a:fld>
            <a:endParaRPr lang="en-US"/>
          </a:p>
        </p:txBody>
      </p:sp>
      <p:sp>
        <p:nvSpPr>
          <p:cNvPr id="4" name="Slide Image Placeholder 3"/>
          <p:cNvSpPr>
            <a:spLocks noGrp="1" noRot="1" noChangeAspect="1"/>
          </p:cNvSpPr>
          <p:nvPr>
            <p:ph type="sldImg" idx="2"/>
          </p:nvPr>
        </p:nvSpPr>
        <p:spPr>
          <a:xfrm>
            <a:off x="3071813" y="876300"/>
            <a:ext cx="3152775" cy="2365375"/>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929640" y="3373754"/>
            <a:ext cx="7437120" cy="2760346"/>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4"/>
            <a:ext cx="4028440" cy="351736"/>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5265809" y="6658664"/>
            <a:ext cx="4028440" cy="351736"/>
          </a:xfrm>
          <a:prstGeom prst="rect">
            <a:avLst/>
          </a:prstGeom>
        </p:spPr>
        <p:txBody>
          <a:bodyPr vert="horz" lIns="93177" tIns="46589" rIns="93177" bIns="46589" rtlCol="0" anchor="b"/>
          <a:lstStyle>
            <a:lvl1pPr algn="r">
              <a:defRPr sz="1200"/>
            </a:lvl1pPr>
          </a:lstStyle>
          <a:p>
            <a:fld id="{95725CCA-F9A6-4BF9-8B8D-CE46FF46D84E}" type="slidenum">
              <a:rPr lang="en-US" smtClean="0"/>
              <a:t>‹#›</a:t>
            </a:fld>
            <a:endParaRPr lang="en-US"/>
          </a:p>
        </p:txBody>
      </p:sp>
    </p:spTree>
    <p:extLst>
      <p:ext uri="{BB962C8B-B14F-4D97-AF65-F5344CB8AC3E}">
        <p14:creationId xmlns:p14="http://schemas.microsoft.com/office/powerpoint/2010/main" val="560939681"/>
      </p:ext>
    </p:extLst>
  </p:cSld>
  <p:clrMap bg1="lt1" tx1="dk1" bg2="lt2" tx2="dk2" accent1="accent1" accent2="accent2" accent3="accent3" accent4="accent4" accent5="accent5" accent6="accent6" hlink="hlink" folHlink="folHlink"/>
  <p:notesStyle>
    <a:lvl1pPr marL="0" algn="l" defTabSz="4388419" rtl="0" eaLnBrk="1" latinLnBrk="0" hangingPunct="1">
      <a:defRPr sz="5760" kern="1200">
        <a:solidFill>
          <a:schemeClr val="tx1"/>
        </a:solidFill>
        <a:latin typeface="+mn-lt"/>
        <a:ea typeface="+mn-ea"/>
        <a:cs typeface="+mn-cs"/>
      </a:defRPr>
    </a:lvl1pPr>
    <a:lvl2pPr marL="2194210" algn="l" defTabSz="4388419" rtl="0" eaLnBrk="1" latinLnBrk="0" hangingPunct="1">
      <a:defRPr sz="5760" kern="1200">
        <a:solidFill>
          <a:schemeClr val="tx1"/>
        </a:solidFill>
        <a:latin typeface="+mn-lt"/>
        <a:ea typeface="+mn-ea"/>
        <a:cs typeface="+mn-cs"/>
      </a:defRPr>
    </a:lvl2pPr>
    <a:lvl3pPr marL="4388419" algn="l" defTabSz="4388419" rtl="0" eaLnBrk="1" latinLnBrk="0" hangingPunct="1">
      <a:defRPr sz="5760" kern="1200">
        <a:solidFill>
          <a:schemeClr val="tx1"/>
        </a:solidFill>
        <a:latin typeface="+mn-lt"/>
        <a:ea typeface="+mn-ea"/>
        <a:cs typeface="+mn-cs"/>
      </a:defRPr>
    </a:lvl3pPr>
    <a:lvl4pPr marL="6582629" algn="l" defTabSz="4388419" rtl="0" eaLnBrk="1" latinLnBrk="0" hangingPunct="1">
      <a:defRPr sz="5760" kern="1200">
        <a:solidFill>
          <a:schemeClr val="tx1"/>
        </a:solidFill>
        <a:latin typeface="+mn-lt"/>
        <a:ea typeface="+mn-ea"/>
        <a:cs typeface="+mn-cs"/>
      </a:defRPr>
    </a:lvl4pPr>
    <a:lvl5pPr marL="8776834" algn="l" defTabSz="4388419" rtl="0" eaLnBrk="1" latinLnBrk="0" hangingPunct="1">
      <a:defRPr sz="5760" kern="1200">
        <a:solidFill>
          <a:schemeClr val="tx1"/>
        </a:solidFill>
        <a:latin typeface="+mn-lt"/>
        <a:ea typeface="+mn-ea"/>
        <a:cs typeface="+mn-cs"/>
      </a:defRPr>
    </a:lvl5pPr>
    <a:lvl6pPr marL="10971043" algn="l" defTabSz="4388419" rtl="0" eaLnBrk="1" latinLnBrk="0" hangingPunct="1">
      <a:defRPr sz="5760" kern="1200">
        <a:solidFill>
          <a:schemeClr val="tx1"/>
        </a:solidFill>
        <a:latin typeface="+mn-lt"/>
        <a:ea typeface="+mn-ea"/>
        <a:cs typeface="+mn-cs"/>
      </a:defRPr>
    </a:lvl6pPr>
    <a:lvl7pPr marL="13165253" algn="l" defTabSz="4388419" rtl="0" eaLnBrk="1" latinLnBrk="0" hangingPunct="1">
      <a:defRPr sz="5760" kern="1200">
        <a:solidFill>
          <a:schemeClr val="tx1"/>
        </a:solidFill>
        <a:latin typeface="+mn-lt"/>
        <a:ea typeface="+mn-ea"/>
        <a:cs typeface="+mn-cs"/>
      </a:defRPr>
    </a:lvl7pPr>
    <a:lvl8pPr marL="15359462" algn="l" defTabSz="4388419" rtl="0" eaLnBrk="1" latinLnBrk="0" hangingPunct="1">
      <a:defRPr sz="5760" kern="1200">
        <a:solidFill>
          <a:schemeClr val="tx1"/>
        </a:solidFill>
        <a:latin typeface="+mn-lt"/>
        <a:ea typeface="+mn-ea"/>
        <a:cs typeface="+mn-cs"/>
      </a:defRPr>
    </a:lvl8pPr>
    <a:lvl9pPr marL="17553672" algn="l" defTabSz="4388419" rtl="0" eaLnBrk="1" latinLnBrk="0" hangingPunct="1">
      <a:defRPr sz="576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5725CCA-F9A6-4BF9-8B8D-CE46FF46D84E}" type="slidenum">
              <a:rPr lang="en-US" smtClean="0"/>
              <a:t>1</a:t>
            </a:fld>
            <a:endParaRPr lang="en-US"/>
          </a:p>
        </p:txBody>
      </p:sp>
    </p:spTree>
    <p:extLst>
      <p:ext uri="{BB962C8B-B14F-4D97-AF65-F5344CB8AC3E}">
        <p14:creationId xmlns:p14="http://schemas.microsoft.com/office/powerpoint/2010/main" val="3424750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wo Lin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B543E-40CE-446A-AA01-FFFC77DEB99E}"/>
              </a:ext>
            </a:extLst>
          </p:cNvPr>
          <p:cNvSpPr>
            <a:spLocks noGrp="1"/>
          </p:cNvSpPr>
          <p:nvPr>
            <p:ph type="title" hasCustomPrompt="1"/>
          </p:nvPr>
        </p:nvSpPr>
        <p:spPr>
          <a:xfrm>
            <a:off x="914400" y="914400"/>
            <a:ext cx="20116800" cy="3200400"/>
          </a:xfrm>
        </p:spPr>
        <p:txBody>
          <a:bodyPr anchor="ctr">
            <a:normAutofit/>
          </a:bodyPr>
          <a:lstStyle>
            <a:lvl1pPr>
              <a:defRPr sz="8000" cap="all" baseline="0">
                <a:latin typeface="Arial" panose="020B0604020202020204" pitchFamily="34" charset="0"/>
                <a:cs typeface="Arial" panose="020B0604020202020204" pitchFamily="34" charset="0"/>
              </a:defRPr>
            </a:lvl1pPr>
          </a:lstStyle>
          <a:p>
            <a:r>
              <a:rPr lang="en-US" dirty="0"/>
              <a:t>Click to edit </a:t>
            </a:r>
            <a:br>
              <a:rPr lang="en-US" dirty="0"/>
            </a:br>
            <a:r>
              <a:rPr lang="en-US" dirty="0"/>
              <a:t>Master title style</a:t>
            </a:r>
          </a:p>
        </p:txBody>
      </p:sp>
      <p:sp>
        <p:nvSpPr>
          <p:cNvPr id="4" name="Text Placeholder 3">
            <a:extLst>
              <a:ext uri="{FF2B5EF4-FFF2-40B4-BE49-F238E27FC236}">
                <a16:creationId xmlns:a16="http://schemas.microsoft.com/office/drawing/2014/main" id="{3368BB9A-D69A-4843-BB94-AAD9F55DFD4C}"/>
              </a:ext>
            </a:extLst>
          </p:cNvPr>
          <p:cNvSpPr>
            <a:spLocks noGrp="1"/>
          </p:cNvSpPr>
          <p:nvPr>
            <p:ph type="body" sz="quarter" idx="10"/>
          </p:nvPr>
        </p:nvSpPr>
        <p:spPr>
          <a:xfrm>
            <a:off x="914400" y="5535109"/>
            <a:ext cx="13075920" cy="25603200"/>
          </a:xfrm>
          <a:prstGeom prst="rect">
            <a:avLst/>
          </a:prstGeom>
        </p:spPr>
        <p:txBody>
          <a:bodyPr lIns="0" tIns="0" rIns="0" bIns="0"/>
          <a:lstStyle>
            <a:lvl1pPr>
              <a:spcAft>
                <a:spcPts val="0"/>
              </a:spcAft>
              <a:defRPr sz="4400" b="1">
                <a:latin typeface="Arial" panose="020B0604020202020204" pitchFamily="34" charset="0"/>
                <a:cs typeface="Arial" panose="020B0604020202020204" pitchFamily="34" charset="0"/>
              </a:defRPr>
            </a:lvl1pPr>
            <a:lvl2pPr marL="1828800" indent="-457200">
              <a:spcAft>
                <a:spcPts val="0"/>
              </a:spcAft>
              <a:defRPr sz="3600">
                <a:latin typeface="Arial" panose="020B0604020202020204" pitchFamily="34" charset="0"/>
                <a:cs typeface="Arial" panose="020B0604020202020204" pitchFamily="34" charset="0"/>
              </a:defRPr>
            </a:lvl2pPr>
            <a:lvl3pPr marL="2743200" indent="-457200">
              <a:spcAft>
                <a:spcPts val="0"/>
              </a:spcAft>
              <a:defRPr sz="3600">
                <a:latin typeface="Arial" panose="020B0604020202020204" pitchFamily="34" charset="0"/>
                <a:cs typeface="Arial" panose="020B0604020202020204" pitchFamily="34" charset="0"/>
              </a:defRPr>
            </a:lvl3pPr>
            <a:lvl4pPr marL="3657600" indent="-457200">
              <a:spcAft>
                <a:spcPts val="0"/>
              </a:spcAft>
              <a:defRPr sz="3600">
                <a:latin typeface="Arial" panose="020B0604020202020204" pitchFamily="34" charset="0"/>
                <a:cs typeface="Arial" panose="020B0604020202020204" pitchFamily="34" charset="0"/>
              </a:defRPr>
            </a:lvl4pPr>
            <a:lvl5pPr marL="4572000" indent="-457200">
              <a:spcAft>
                <a:spcPts val="0"/>
              </a:spcAft>
              <a:defRPr sz="36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970CBFC6-C7E8-4FC9-A1F8-BDB2EDA91869}"/>
              </a:ext>
            </a:extLst>
          </p:cNvPr>
          <p:cNvSpPr>
            <a:spLocks noGrp="1"/>
          </p:cNvSpPr>
          <p:nvPr>
            <p:ph sz="quarter" idx="11"/>
          </p:nvPr>
        </p:nvSpPr>
        <p:spPr>
          <a:xfrm>
            <a:off x="15407640" y="5535109"/>
            <a:ext cx="13075920" cy="25603200"/>
          </a:xfrm>
          <a:prstGeom prst="rect">
            <a:avLst/>
          </a:prstGeom>
        </p:spPr>
        <p:txBody>
          <a:bodyPr lIns="0" tIns="0" rIns="0" bIns="0"/>
          <a:lstStyle>
            <a:lvl1pPr>
              <a:spcAft>
                <a:spcPts val="0"/>
              </a:spcAft>
              <a:defRPr sz="4400" b="1">
                <a:latin typeface="Arial" panose="020B0604020202020204" pitchFamily="34" charset="0"/>
                <a:cs typeface="Arial" panose="020B0604020202020204" pitchFamily="34" charset="0"/>
              </a:defRPr>
            </a:lvl1pPr>
            <a:lvl2pPr marL="1828800" indent="-457200">
              <a:spcAft>
                <a:spcPts val="0"/>
              </a:spcAft>
              <a:defRPr sz="3600">
                <a:latin typeface="Arial" panose="020B0604020202020204" pitchFamily="34" charset="0"/>
                <a:cs typeface="Arial" panose="020B0604020202020204" pitchFamily="34" charset="0"/>
              </a:defRPr>
            </a:lvl2pPr>
            <a:lvl3pPr marL="2743200" indent="-457200">
              <a:spcAft>
                <a:spcPts val="0"/>
              </a:spcAft>
              <a:defRPr sz="3600">
                <a:latin typeface="Arial" panose="020B0604020202020204" pitchFamily="34" charset="0"/>
                <a:cs typeface="Arial" panose="020B0604020202020204" pitchFamily="34" charset="0"/>
              </a:defRPr>
            </a:lvl3pPr>
            <a:lvl4pPr marL="3657600" indent="-457200">
              <a:spcAft>
                <a:spcPts val="0"/>
              </a:spcAft>
              <a:defRPr sz="3600">
                <a:latin typeface="Arial" panose="020B0604020202020204" pitchFamily="34" charset="0"/>
                <a:cs typeface="Arial" panose="020B0604020202020204" pitchFamily="34" charset="0"/>
              </a:defRPr>
            </a:lvl4pPr>
            <a:lvl5pPr marL="4572000" indent="-457200">
              <a:spcAft>
                <a:spcPts val="0"/>
              </a:spcAft>
              <a:defRPr sz="36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a:extLst>
              <a:ext uri="{FF2B5EF4-FFF2-40B4-BE49-F238E27FC236}">
                <a16:creationId xmlns:a16="http://schemas.microsoft.com/office/drawing/2014/main" id="{E1644E12-CE5A-4D62-B4BE-1ED438C7CFE2}"/>
              </a:ext>
            </a:extLst>
          </p:cNvPr>
          <p:cNvSpPr>
            <a:spLocks noGrp="1"/>
          </p:cNvSpPr>
          <p:nvPr>
            <p:ph type="body" sz="quarter" idx="12"/>
          </p:nvPr>
        </p:nvSpPr>
        <p:spPr>
          <a:xfrm>
            <a:off x="29900880" y="5535109"/>
            <a:ext cx="13075920" cy="25603200"/>
          </a:xfrm>
          <a:prstGeom prst="rect">
            <a:avLst/>
          </a:prstGeom>
        </p:spPr>
        <p:txBody>
          <a:bodyPr lIns="0" tIns="0" rIns="0" bIns="0"/>
          <a:lstStyle>
            <a:lvl1pPr>
              <a:spcAft>
                <a:spcPts val="0"/>
              </a:spcAft>
              <a:defRPr sz="4400" b="1">
                <a:latin typeface="Arial" panose="020B0604020202020204" pitchFamily="34" charset="0"/>
                <a:cs typeface="Arial" panose="020B0604020202020204" pitchFamily="34" charset="0"/>
              </a:defRPr>
            </a:lvl1pPr>
            <a:lvl2pPr marL="1828800" indent="-457200">
              <a:spcAft>
                <a:spcPts val="0"/>
              </a:spcAft>
              <a:defRPr sz="3600">
                <a:latin typeface="Arial" panose="020B0604020202020204" pitchFamily="34" charset="0"/>
                <a:cs typeface="Arial" panose="020B0604020202020204" pitchFamily="34" charset="0"/>
              </a:defRPr>
            </a:lvl2pPr>
            <a:lvl3pPr marL="2743200" indent="-457200">
              <a:spcAft>
                <a:spcPts val="0"/>
              </a:spcAft>
              <a:defRPr sz="3600">
                <a:latin typeface="Arial" panose="020B0604020202020204" pitchFamily="34" charset="0"/>
                <a:cs typeface="Arial" panose="020B0604020202020204" pitchFamily="34" charset="0"/>
              </a:defRPr>
            </a:lvl3pPr>
            <a:lvl4pPr marL="3657600" indent="-457200">
              <a:spcAft>
                <a:spcPts val="0"/>
              </a:spcAft>
              <a:defRPr sz="3600">
                <a:latin typeface="Arial" panose="020B0604020202020204" pitchFamily="34" charset="0"/>
                <a:cs typeface="Arial" panose="020B0604020202020204" pitchFamily="34" charset="0"/>
              </a:defRPr>
            </a:lvl4pPr>
            <a:lvl5pPr marL="4572000" indent="-457200">
              <a:spcAft>
                <a:spcPts val="0"/>
              </a:spcAft>
              <a:defRPr sz="36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a:extLst>
              <a:ext uri="{FF2B5EF4-FFF2-40B4-BE49-F238E27FC236}">
                <a16:creationId xmlns:a16="http://schemas.microsoft.com/office/drawing/2014/main" id="{93203E7C-D30C-44B5-AF49-166AF5E43305}"/>
              </a:ext>
            </a:extLst>
          </p:cNvPr>
          <p:cNvSpPr>
            <a:spLocks noGrp="1"/>
          </p:cNvSpPr>
          <p:nvPr>
            <p:ph type="body" sz="quarter" idx="13" hasCustomPrompt="1"/>
          </p:nvPr>
        </p:nvSpPr>
        <p:spPr>
          <a:xfrm>
            <a:off x="22860000" y="914400"/>
            <a:ext cx="20116800" cy="3200400"/>
          </a:xfrm>
          <a:prstGeom prst="rect">
            <a:avLst/>
          </a:prstGeom>
        </p:spPr>
        <p:txBody>
          <a:bodyPr anchor="ctr"/>
          <a:lstStyle>
            <a:lvl1pPr algn="r">
              <a:spcAft>
                <a:spcPts val="0"/>
              </a:spcAft>
              <a:defRPr sz="6000" b="1">
                <a:latin typeface="Arial" panose="020B0604020202020204" pitchFamily="34" charset="0"/>
                <a:cs typeface="Arial" panose="020B0604020202020204" pitchFamily="34" charset="0"/>
              </a:defRPr>
            </a:lvl1pPr>
            <a:lvl2pPr marL="2194210" indent="0" algn="r">
              <a:spcAft>
                <a:spcPts val="0"/>
              </a:spcAft>
              <a:buNone/>
              <a:defRPr sz="6000">
                <a:latin typeface="Arial" panose="020B0604020202020204" pitchFamily="34" charset="0"/>
                <a:cs typeface="Arial" panose="020B0604020202020204" pitchFamily="34" charset="0"/>
              </a:defRPr>
            </a:lvl2pPr>
            <a:lvl3pPr algn="r">
              <a:spcAft>
                <a:spcPts val="0"/>
              </a:spcAft>
              <a:defRPr sz="6000">
                <a:latin typeface="Arial" panose="020B0604020202020204" pitchFamily="34" charset="0"/>
                <a:cs typeface="Arial" panose="020B0604020202020204" pitchFamily="34" charset="0"/>
              </a:defRPr>
            </a:lvl3pPr>
            <a:lvl4pPr algn="r">
              <a:spcAft>
                <a:spcPts val="0"/>
              </a:spcAft>
              <a:defRPr sz="6000">
                <a:latin typeface="Arial" panose="020B0604020202020204" pitchFamily="34" charset="0"/>
                <a:cs typeface="Arial" panose="020B0604020202020204" pitchFamily="34" charset="0"/>
              </a:defRPr>
            </a:lvl4pPr>
            <a:lvl5pPr algn="r">
              <a:spcAft>
                <a:spcPts val="0"/>
              </a:spcAft>
              <a:defRPr sz="6000">
                <a:latin typeface="Arial" panose="020B0604020202020204" pitchFamily="34" charset="0"/>
                <a:cs typeface="Arial" panose="020B0604020202020204" pitchFamily="34" charset="0"/>
              </a:defRPr>
            </a:lvl5pPr>
          </a:lstStyle>
          <a:p>
            <a:pPr lvl="0"/>
            <a:r>
              <a:rPr lang="en-US" dirty="0"/>
              <a:t>Edit Master text styles</a:t>
            </a:r>
            <a:br>
              <a:rPr lang="en-US" dirty="0"/>
            </a:br>
            <a:r>
              <a:rPr lang="en-US" dirty="0"/>
              <a:t>[Researcher in Bold, Mentors not in Bold]</a:t>
            </a:r>
          </a:p>
        </p:txBody>
      </p:sp>
    </p:spTree>
    <p:extLst>
      <p:ext uri="{BB962C8B-B14F-4D97-AF65-F5344CB8AC3E}">
        <p14:creationId xmlns:p14="http://schemas.microsoft.com/office/powerpoint/2010/main" val="2890837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e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B543E-40CE-446A-AA01-FFFC77DEB99E}"/>
              </a:ext>
            </a:extLst>
          </p:cNvPr>
          <p:cNvSpPr>
            <a:spLocks noGrp="1"/>
          </p:cNvSpPr>
          <p:nvPr>
            <p:ph type="title" hasCustomPrompt="1"/>
          </p:nvPr>
        </p:nvSpPr>
        <p:spPr>
          <a:xfrm>
            <a:off x="914400" y="914400"/>
            <a:ext cx="42062400" cy="3200400"/>
          </a:xfrm>
        </p:spPr>
        <p:txBody>
          <a:bodyPr anchor="ctr">
            <a:normAutofit/>
          </a:bodyPr>
          <a:lstStyle>
            <a:lvl1pPr>
              <a:defRPr sz="8000" cap="all" baseline="0">
                <a:latin typeface="Arial" panose="020B0604020202020204" pitchFamily="34" charset="0"/>
                <a:cs typeface="Arial" panose="020B0604020202020204" pitchFamily="34" charset="0"/>
              </a:defRPr>
            </a:lvl1pPr>
          </a:lstStyle>
          <a:p>
            <a:r>
              <a:rPr lang="en-US" dirty="0"/>
              <a:t>Click to edit Master title style [Title]</a:t>
            </a:r>
            <a:br>
              <a:rPr lang="en-US" dirty="0"/>
            </a:br>
            <a:r>
              <a:rPr lang="en-US" dirty="0"/>
              <a:t>[Researcher]</a:t>
            </a:r>
            <a:br>
              <a:rPr lang="en-US" dirty="0"/>
            </a:br>
            <a:r>
              <a:rPr lang="en-US" dirty="0"/>
              <a:t>[Research Mentors]</a:t>
            </a:r>
          </a:p>
        </p:txBody>
      </p:sp>
      <p:sp>
        <p:nvSpPr>
          <p:cNvPr id="4" name="Text Placeholder 3">
            <a:extLst>
              <a:ext uri="{FF2B5EF4-FFF2-40B4-BE49-F238E27FC236}">
                <a16:creationId xmlns:a16="http://schemas.microsoft.com/office/drawing/2014/main" id="{3368BB9A-D69A-4843-BB94-AAD9F55DFD4C}"/>
              </a:ext>
            </a:extLst>
          </p:cNvPr>
          <p:cNvSpPr>
            <a:spLocks noGrp="1"/>
          </p:cNvSpPr>
          <p:nvPr>
            <p:ph type="body" sz="quarter" idx="10"/>
          </p:nvPr>
        </p:nvSpPr>
        <p:spPr>
          <a:xfrm>
            <a:off x="914400" y="5535109"/>
            <a:ext cx="13075920" cy="25603200"/>
          </a:xfrm>
          <a:prstGeom prst="rect">
            <a:avLst/>
          </a:prstGeom>
        </p:spPr>
        <p:txBody>
          <a:bodyPr lIns="0" tIns="0" rIns="0" bIns="0"/>
          <a:lstStyle>
            <a:lvl1pPr>
              <a:spcAft>
                <a:spcPts val="0"/>
              </a:spcAft>
              <a:defRPr sz="4400" b="1">
                <a:latin typeface="Arial" panose="020B0604020202020204" pitchFamily="34" charset="0"/>
                <a:cs typeface="Arial" panose="020B0604020202020204" pitchFamily="34" charset="0"/>
              </a:defRPr>
            </a:lvl1pPr>
            <a:lvl2pPr marL="1828800" indent="-457200">
              <a:spcAft>
                <a:spcPts val="0"/>
              </a:spcAft>
              <a:defRPr sz="3600">
                <a:latin typeface="Arial" panose="020B0604020202020204" pitchFamily="34" charset="0"/>
                <a:cs typeface="Arial" panose="020B0604020202020204" pitchFamily="34" charset="0"/>
              </a:defRPr>
            </a:lvl2pPr>
            <a:lvl3pPr marL="2743200" indent="-457200">
              <a:spcAft>
                <a:spcPts val="0"/>
              </a:spcAft>
              <a:defRPr sz="3600">
                <a:latin typeface="Arial" panose="020B0604020202020204" pitchFamily="34" charset="0"/>
                <a:cs typeface="Arial" panose="020B0604020202020204" pitchFamily="34" charset="0"/>
              </a:defRPr>
            </a:lvl3pPr>
            <a:lvl4pPr marL="3657600" indent="-457200">
              <a:spcAft>
                <a:spcPts val="0"/>
              </a:spcAft>
              <a:defRPr sz="2800">
                <a:latin typeface="Arial" panose="020B0604020202020204" pitchFamily="34" charset="0"/>
                <a:cs typeface="Arial" panose="020B0604020202020204" pitchFamily="34" charset="0"/>
              </a:defRPr>
            </a:lvl4pPr>
            <a:lvl5pPr marL="4572000" indent="-457200">
              <a:spcAft>
                <a:spcPts val="0"/>
              </a:spcAft>
              <a:defRPr sz="2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970CBFC6-C7E8-4FC9-A1F8-BDB2EDA91869}"/>
              </a:ext>
            </a:extLst>
          </p:cNvPr>
          <p:cNvSpPr>
            <a:spLocks noGrp="1"/>
          </p:cNvSpPr>
          <p:nvPr>
            <p:ph sz="quarter" idx="11"/>
          </p:nvPr>
        </p:nvSpPr>
        <p:spPr>
          <a:xfrm>
            <a:off x="15407640" y="5535109"/>
            <a:ext cx="13075920" cy="25603200"/>
          </a:xfrm>
          <a:prstGeom prst="rect">
            <a:avLst/>
          </a:prstGeom>
        </p:spPr>
        <p:txBody>
          <a:bodyPr lIns="0" tIns="0" rIns="0" bIns="0"/>
          <a:lstStyle>
            <a:lvl1pPr>
              <a:spcAft>
                <a:spcPts val="0"/>
              </a:spcAft>
              <a:defRPr sz="4400" b="1">
                <a:latin typeface="Arial" panose="020B0604020202020204" pitchFamily="34" charset="0"/>
                <a:cs typeface="Arial" panose="020B0604020202020204" pitchFamily="34" charset="0"/>
              </a:defRPr>
            </a:lvl1pPr>
            <a:lvl2pPr marL="1828800" indent="-457200">
              <a:spcAft>
                <a:spcPts val="0"/>
              </a:spcAft>
              <a:defRPr sz="3600">
                <a:latin typeface="Arial" panose="020B0604020202020204" pitchFamily="34" charset="0"/>
                <a:cs typeface="Arial" panose="020B0604020202020204" pitchFamily="34" charset="0"/>
              </a:defRPr>
            </a:lvl2pPr>
            <a:lvl3pPr marL="2743200" indent="-457200">
              <a:spcAft>
                <a:spcPts val="0"/>
              </a:spcAft>
              <a:defRPr sz="3600">
                <a:latin typeface="Arial" panose="020B0604020202020204" pitchFamily="34" charset="0"/>
                <a:cs typeface="Arial" panose="020B0604020202020204" pitchFamily="34" charset="0"/>
              </a:defRPr>
            </a:lvl3pPr>
            <a:lvl4pPr marL="3657600" indent="-457200">
              <a:spcAft>
                <a:spcPts val="0"/>
              </a:spcAft>
              <a:defRPr sz="2800">
                <a:latin typeface="Arial" panose="020B0604020202020204" pitchFamily="34" charset="0"/>
                <a:cs typeface="Arial" panose="020B0604020202020204" pitchFamily="34" charset="0"/>
              </a:defRPr>
            </a:lvl4pPr>
            <a:lvl5pPr marL="4572000" indent="-457200">
              <a:spcAft>
                <a:spcPts val="0"/>
              </a:spcAft>
              <a:defRPr sz="2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a:extLst>
              <a:ext uri="{FF2B5EF4-FFF2-40B4-BE49-F238E27FC236}">
                <a16:creationId xmlns:a16="http://schemas.microsoft.com/office/drawing/2014/main" id="{E1644E12-CE5A-4D62-B4BE-1ED438C7CFE2}"/>
              </a:ext>
            </a:extLst>
          </p:cNvPr>
          <p:cNvSpPr>
            <a:spLocks noGrp="1"/>
          </p:cNvSpPr>
          <p:nvPr>
            <p:ph type="body" sz="quarter" idx="12"/>
          </p:nvPr>
        </p:nvSpPr>
        <p:spPr>
          <a:xfrm>
            <a:off x="29900880" y="5535109"/>
            <a:ext cx="13075920" cy="25603200"/>
          </a:xfrm>
          <a:prstGeom prst="rect">
            <a:avLst/>
          </a:prstGeom>
        </p:spPr>
        <p:txBody>
          <a:bodyPr lIns="0" tIns="0" rIns="0" bIns="0"/>
          <a:lstStyle>
            <a:lvl1pPr>
              <a:spcAft>
                <a:spcPts val="0"/>
              </a:spcAft>
              <a:defRPr sz="4400" b="1">
                <a:latin typeface="Arial" panose="020B0604020202020204" pitchFamily="34" charset="0"/>
                <a:cs typeface="Arial" panose="020B0604020202020204" pitchFamily="34" charset="0"/>
              </a:defRPr>
            </a:lvl1pPr>
            <a:lvl2pPr marL="1828800" indent="-457200">
              <a:spcAft>
                <a:spcPts val="0"/>
              </a:spcAft>
              <a:defRPr sz="3600">
                <a:latin typeface="Arial" panose="020B0604020202020204" pitchFamily="34" charset="0"/>
                <a:cs typeface="Arial" panose="020B0604020202020204" pitchFamily="34" charset="0"/>
              </a:defRPr>
            </a:lvl2pPr>
            <a:lvl3pPr marL="2743200" indent="-457200">
              <a:spcAft>
                <a:spcPts val="0"/>
              </a:spcAft>
              <a:defRPr sz="3600">
                <a:latin typeface="Arial" panose="020B0604020202020204" pitchFamily="34" charset="0"/>
                <a:cs typeface="Arial" panose="020B0604020202020204" pitchFamily="34" charset="0"/>
              </a:defRPr>
            </a:lvl3pPr>
            <a:lvl4pPr marL="3657600" indent="-457200">
              <a:spcAft>
                <a:spcPts val="0"/>
              </a:spcAft>
              <a:defRPr sz="2800">
                <a:latin typeface="Arial" panose="020B0604020202020204" pitchFamily="34" charset="0"/>
                <a:cs typeface="Arial" panose="020B0604020202020204" pitchFamily="34" charset="0"/>
              </a:defRPr>
            </a:lvl4pPr>
            <a:lvl5pPr marL="4572000" indent="-457200">
              <a:spcAft>
                <a:spcPts val="0"/>
              </a:spcAft>
              <a:defRPr sz="2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23843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le's Instru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B543E-40CE-446A-AA01-FFFC77DEB99E}"/>
              </a:ext>
            </a:extLst>
          </p:cNvPr>
          <p:cNvSpPr>
            <a:spLocks noGrp="1"/>
          </p:cNvSpPr>
          <p:nvPr>
            <p:ph type="title" hasCustomPrompt="1"/>
          </p:nvPr>
        </p:nvSpPr>
        <p:spPr>
          <a:xfrm>
            <a:off x="914400" y="914400"/>
            <a:ext cx="42062400" cy="3200400"/>
          </a:xfrm>
        </p:spPr>
        <p:txBody>
          <a:bodyPr anchor="ctr">
            <a:noAutofit/>
          </a:bodyPr>
          <a:lstStyle>
            <a:lvl1pPr>
              <a:defRPr sz="12000" cap="none" baseline="0">
                <a:latin typeface="Arial" panose="020B0604020202020204" pitchFamily="34" charset="0"/>
                <a:cs typeface="Arial" panose="020B0604020202020204" pitchFamily="34" charset="0"/>
              </a:defRPr>
            </a:lvl1pPr>
          </a:lstStyle>
          <a:p>
            <a:r>
              <a:rPr lang="en-US" dirty="0"/>
              <a:t>Click to edit Master title </a:t>
            </a:r>
            <a:r>
              <a:rPr lang="en-US" dirty="0" err="1"/>
              <a:t>stylE</a:t>
            </a:r>
            <a:endParaRPr lang="en-US" dirty="0"/>
          </a:p>
        </p:txBody>
      </p:sp>
      <p:sp>
        <p:nvSpPr>
          <p:cNvPr id="4" name="Text Placeholder 3">
            <a:extLst>
              <a:ext uri="{FF2B5EF4-FFF2-40B4-BE49-F238E27FC236}">
                <a16:creationId xmlns:a16="http://schemas.microsoft.com/office/drawing/2014/main" id="{3368BB9A-D69A-4843-BB94-AAD9F55DFD4C}"/>
              </a:ext>
            </a:extLst>
          </p:cNvPr>
          <p:cNvSpPr>
            <a:spLocks noGrp="1"/>
          </p:cNvSpPr>
          <p:nvPr>
            <p:ph type="body" sz="quarter" idx="10"/>
          </p:nvPr>
        </p:nvSpPr>
        <p:spPr>
          <a:xfrm>
            <a:off x="914400" y="5535109"/>
            <a:ext cx="42062400" cy="25603200"/>
          </a:xfrm>
          <a:prstGeom prst="rect">
            <a:avLst/>
          </a:prstGeom>
        </p:spPr>
        <p:txBody>
          <a:bodyPr lIns="0" tIns="0" rIns="0" bIns="0"/>
          <a:lstStyle>
            <a:lvl1pPr>
              <a:spcAft>
                <a:spcPts val="0"/>
              </a:spcAft>
              <a:defRPr sz="7000" b="1">
                <a:latin typeface="Arial" panose="020B0604020202020204" pitchFamily="34" charset="0"/>
                <a:cs typeface="Arial" panose="020B0604020202020204" pitchFamily="34" charset="0"/>
              </a:defRPr>
            </a:lvl1pPr>
            <a:lvl2pPr marL="1828800" indent="-457200">
              <a:spcAft>
                <a:spcPts val="0"/>
              </a:spcAft>
              <a:defRPr sz="7000">
                <a:latin typeface="Arial" panose="020B0604020202020204" pitchFamily="34" charset="0"/>
                <a:cs typeface="Arial" panose="020B0604020202020204" pitchFamily="34" charset="0"/>
              </a:defRPr>
            </a:lvl2pPr>
            <a:lvl3pPr marL="2743200" indent="-457200">
              <a:spcAft>
                <a:spcPts val="0"/>
              </a:spcAft>
              <a:defRPr sz="7000">
                <a:latin typeface="Arial" panose="020B0604020202020204" pitchFamily="34" charset="0"/>
                <a:cs typeface="Arial" panose="020B0604020202020204" pitchFamily="34" charset="0"/>
              </a:defRPr>
            </a:lvl3pPr>
            <a:lvl4pPr marL="3657600" indent="-457200">
              <a:spcAft>
                <a:spcPts val="0"/>
              </a:spcAft>
              <a:defRPr sz="7000">
                <a:latin typeface="Arial" panose="020B0604020202020204" pitchFamily="34" charset="0"/>
                <a:cs typeface="Arial" panose="020B0604020202020204" pitchFamily="34" charset="0"/>
              </a:defRPr>
            </a:lvl4pPr>
            <a:lvl5pPr marL="4572000" indent="-457200">
              <a:spcAft>
                <a:spcPts val="0"/>
              </a:spcAft>
              <a:defRPr sz="70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18565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273045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alpha val="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914400"/>
            <a:ext cx="42062400" cy="3200400"/>
          </a:xfrm>
          <a:prstGeom prst="rect">
            <a:avLst/>
          </a:prstGeom>
        </p:spPr>
        <p:txBody>
          <a:bodyPr vert="horz" lIns="91440" tIns="45720" rIns="91440" bIns="45720" rtlCol="0" anchor="t">
            <a:normAutofit/>
          </a:bodyPr>
          <a:lstStyle/>
          <a:p>
            <a:r>
              <a:rPr lang="en-US"/>
              <a:t>Click to edit Master title style</a:t>
            </a:r>
            <a:endParaRPr lang="en-US" dirty="0"/>
          </a:p>
        </p:txBody>
      </p:sp>
    </p:spTree>
    <p:extLst>
      <p:ext uri="{BB962C8B-B14F-4D97-AF65-F5344CB8AC3E}">
        <p14:creationId xmlns:p14="http://schemas.microsoft.com/office/powerpoint/2010/main" val="2537856210"/>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2" r:id="rId3"/>
    <p:sldLayoutId id="2147483681" r:id="rId4"/>
  </p:sldLayoutIdLst>
  <p:txStyles>
    <p:titleStyle>
      <a:lvl1pPr algn="l" defTabSz="4388419" rtl="0" eaLnBrk="1" latinLnBrk="0" hangingPunct="1">
        <a:spcBef>
          <a:spcPct val="0"/>
        </a:spcBef>
        <a:buNone/>
        <a:defRPr sz="13440" b="1" kern="1200" cap="none"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4388419" rtl="0" eaLnBrk="1" latinLnBrk="0" hangingPunct="1">
        <a:spcBef>
          <a:spcPts val="0"/>
        </a:spcBef>
        <a:spcAft>
          <a:spcPts val="5760"/>
        </a:spcAft>
        <a:buFont typeface="Arial" panose="020B0604020202020204" pitchFamily="34" charset="0"/>
        <a:buNone/>
        <a:defRPr sz="11520" kern="1200">
          <a:solidFill>
            <a:schemeClr val="tx1"/>
          </a:solidFill>
          <a:latin typeface="Soleil" pitchFamily="50" charset="0"/>
          <a:ea typeface="+mn-ea"/>
          <a:cs typeface="+mn-cs"/>
        </a:defRPr>
      </a:lvl1pPr>
      <a:lvl2pPr marL="3839866" indent="-1645656" algn="l" defTabSz="4388419" rtl="0" eaLnBrk="1" latinLnBrk="0" hangingPunct="1">
        <a:spcBef>
          <a:spcPts val="0"/>
        </a:spcBef>
        <a:spcAft>
          <a:spcPts val="5760"/>
        </a:spcAft>
        <a:buFont typeface="Arial" panose="020B0604020202020204" pitchFamily="34" charset="0"/>
        <a:buChar char="•"/>
        <a:defRPr sz="11520" kern="1200">
          <a:solidFill>
            <a:schemeClr val="tx1"/>
          </a:solidFill>
          <a:latin typeface="Soleil" pitchFamily="50" charset="0"/>
          <a:ea typeface="+mn-ea"/>
          <a:cs typeface="+mn-cs"/>
        </a:defRPr>
      </a:lvl2pPr>
      <a:lvl3pPr marL="6034075" indent="-1645656" algn="l" defTabSz="4388419" rtl="0" eaLnBrk="1" latinLnBrk="0" hangingPunct="1">
        <a:spcBef>
          <a:spcPts val="0"/>
        </a:spcBef>
        <a:spcAft>
          <a:spcPts val="5760"/>
        </a:spcAft>
        <a:buFont typeface="Soleil" pitchFamily="50" charset="0"/>
        <a:buChar char="–"/>
        <a:defRPr sz="9600" kern="1200">
          <a:solidFill>
            <a:schemeClr val="tx1"/>
          </a:solidFill>
          <a:latin typeface="Soleil" pitchFamily="50" charset="0"/>
          <a:ea typeface="+mn-ea"/>
          <a:cs typeface="+mn-cs"/>
        </a:defRPr>
      </a:lvl3pPr>
      <a:lvl4pPr marL="8228285" indent="-1645656" algn="l" defTabSz="4388419" rtl="0" eaLnBrk="1" latinLnBrk="0" hangingPunct="1">
        <a:spcBef>
          <a:spcPts val="0"/>
        </a:spcBef>
        <a:spcAft>
          <a:spcPts val="5760"/>
        </a:spcAft>
        <a:buFont typeface="Arial" panose="020B0604020202020204" pitchFamily="34" charset="0"/>
        <a:buChar char="•"/>
        <a:defRPr sz="9600" kern="1200">
          <a:solidFill>
            <a:schemeClr val="tx1"/>
          </a:solidFill>
          <a:latin typeface="Soleil" pitchFamily="50" charset="0"/>
          <a:ea typeface="+mn-ea"/>
          <a:cs typeface="+mn-cs"/>
        </a:defRPr>
      </a:lvl4pPr>
      <a:lvl5pPr marL="10148218" indent="-1371379" algn="l" defTabSz="4388419" rtl="0" eaLnBrk="1" latinLnBrk="0" hangingPunct="1">
        <a:spcBef>
          <a:spcPts val="0"/>
        </a:spcBef>
        <a:spcAft>
          <a:spcPts val="5760"/>
        </a:spcAft>
        <a:buFont typeface="Soleil" pitchFamily="50" charset="0"/>
        <a:buChar char="»"/>
        <a:defRPr sz="8640" kern="1200">
          <a:solidFill>
            <a:schemeClr val="tx1"/>
          </a:solidFill>
          <a:latin typeface="Soleil" pitchFamily="50" charset="0"/>
          <a:ea typeface="+mn-ea"/>
          <a:cs typeface="+mn-cs"/>
        </a:defRPr>
      </a:lvl5pPr>
      <a:lvl6pPr marL="12616699" indent="-1645656" algn="l" defTabSz="4388419" rtl="0" eaLnBrk="1" latinLnBrk="0" hangingPunct="1">
        <a:spcBef>
          <a:spcPct val="20000"/>
        </a:spcBef>
        <a:buFont typeface="Soleil" pitchFamily="50" charset="0"/>
        <a:buChar char="»"/>
        <a:defRPr sz="8640" kern="1200">
          <a:solidFill>
            <a:schemeClr val="tx1"/>
          </a:solidFill>
          <a:latin typeface="+mn-lt"/>
          <a:ea typeface="+mn-ea"/>
          <a:cs typeface="+mn-cs"/>
        </a:defRPr>
      </a:lvl6pPr>
      <a:lvl7pPr marL="14262360" indent="-1097102" algn="l" defTabSz="4388419"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7pPr>
      <a:lvl8pPr marL="16456565" indent="-1097102" algn="l" defTabSz="4388419"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8pPr>
      <a:lvl9pPr marL="18650774" indent="-1097102" algn="l" defTabSz="4388419"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9pPr>
    </p:bodyStyle>
    <p:otherStyle>
      <a:defPPr>
        <a:defRPr lang="en-US"/>
      </a:defPPr>
      <a:lvl1pPr marL="0" algn="l" defTabSz="4388419" rtl="0" eaLnBrk="1" latinLnBrk="0" hangingPunct="1">
        <a:defRPr sz="8640" kern="1200">
          <a:solidFill>
            <a:schemeClr val="tx1"/>
          </a:solidFill>
          <a:latin typeface="+mn-lt"/>
          <a:ea typeface="+mn-ea"/>
          <a:cs typeface="+mn-cs"/>
        </a:defRPr>
      </a:lvl1pPr>
      <a:lvl2pPr marL="2194210" algn="l" defTabSz="4388419" rtl="0" eaLnBrk="1" latinLnBrk="0" hangingPunct="1">
        <a:defRPr sz="8640" kern="1200">
          <a:solidFill>
            <a:schemeClr val="tx1"/>
          </a:solidFill>
          <a:latin typeface="+mn-lt"/>
          <a:ea typeface="+mn-ea"/>
          <a:cs typeface="+mn-cs"/>
        </a:defRPr>
      </a:lvl2pPr>
      <a:lvl3pPr marL="4388419" algn="l" defTabSz="4388419" rtl="0" eaLnBrk="1" latinLnBrk="0" hangingPunct="1">
        <a:defRPr sz="8640" kern="1200">
          <a:solidFill>
            <a:schemeClr val="tx1"/>
          </a:solidFill>
          <a:latin typeface="+mn-lt"/>
          <a:ea typeface="+mn-ea"/>
          <a:cs typeface="+mn-cs"/>
        </a:defRPr>
      </a:lvl3pPr>
      <a:lvl4pPr marL="6582629" algn="l" defTabSz="4388419" rtl="0" eaLnBrk="1" latinLnBrk="0" hangingPunct="1">
        <a:defRPr sz="8640" kern="1200">
          <a:solidFill>
            <a:schemeClr val="tx1"/>
          </a:solidFill>
          <a:latin typeface="+mn-lt"/>
          <a:ea typeface="+mn-ea"/>
          <a:cs typeface="+mn-cs"/>
        </a:defRPr>
      </a:lvl4pPr>
      <a:lvl5pPr marL="8776834" algn="l" defTabSz="4388419" rtl="0" eaLnBrk="1" latinLnBrk="0" hangingPunct="1">
        <a:defRPr sz="8640" kern="1200">
          <a:solidFill>
            <a:schemeClr val="tx1"/>
          </a:solidFill>
          <a:latin typeface="+mn-lt"/>
          <a:ea typeface="+mn-ea"/>
          <a:cs typeface="+mn-cs"/>
        </a:defRPr>
      </a:lvl5pPr>
      <a:lvl6pPr marL="10971043" algn="l" defTabSz="4388419" rtl="0" eaLnBrk="1" latinLnBrk="0" hangingPunct="1">
        <a:defRPr sz="8640" kern="1200">
          <a:solidFill>
            <a:schemeClr val="tx1"/>
          </a:solidFill>
          <a:latin typeface="+mn-lt"/>
          <a:ea typeface="+mn-ea"/>
          <a:cs typeface="+mn-cs"/>
        </a:defRPr>
      </a:lvl6pPr>
      <a:lvl7pPr marL="13165253" algn="l" defTabSz="4388419" rtl="0" eaLnBrk="1" latinLnBrk="0" hangingPunct="1">
        <a:defRPr sz="8640" kern="1200">
          <a:solidFill>
            <a:schemeClr val="tx1"/>
          </a:solidFill>
          <a:latin typeface="+mn-lt"/>
          <a:ea typeface="+mn-ea"/>
          <a:cs typeface="+mn-cs"/>
        </a:defRPr>
      </a:lvl7pPr>
      <a:lvl8pPr marL="15359462" algn="l" defTabSz="4388419" rtl="0" eaLnBrk="1" latinLnBrk="0" hangingPunct="1">
        <a:defRPr sz="8640" kern="1200">
          <a:solidFill>
            <a:schemeClr val="tx1"/>
          </a:solidFill>
          <a:latin typeface="+mn-lt"/>
          <a:ea typeface="+mn-ea"/>
          <a:cs typeface="+mn-cs"/>
        </a:defRPr>
      </a:lvl8pPr>
      <a:lvl9pPr marL="17553672" algn="l" defTabSz="4388419"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DE1A8-AD2F-4CE9-B082-0A3170ACFABF}"/>
              </a:ext>
            </a:extLst>
          </p:cNvPr>
          <p:cNvSpPr>
            <a:spLocks noGrp="1"/>
          </p:cNvSpPr>
          <p:nvPr>
            <p:ph type="title"/>
          </p:nvPr>
        </p:nvSpPr>
        <p:spPr>
          <a:xfrm>
            <a:off x="1" y="405705"/>
            <a:ext cx="43891199" cy="4177891"/>
          </a:xfrm>
          <a:solidFill>
            <a:srgbClr val="FDF7FA"/>
          </a:solidFill>
        </p:spPr>
        <p:txBody>
          <a:bodyPr lIns="0" tIns="0" rIns="0" bIns="0">
            <a:noAutofit/>
          </a:bodyPr>
          <a:lstStyle/>
          <a:p>
            <a:pPr algn="ctr">
              <a:spcAft>
                <a:spcPts val="600"/>
              </a:spcAft>
            </a:pPr>
            <a:r>
              <a:rPr lang="en-US" sz="7200" cap="none" dirty="0">
                <a:solidFill>
                  <a:schemeClr val="bg1"/>
                </a:solidFill>
              </a:rPr>
              <a:t>Rapid and Durable Recruitment of Novel Words Into Unconscious Processing </a:t>
            </a:r>
            <a:br>
              <a:rPr lang="en-US" sz="7200" cap="none" dirty="0">
                <a:solidFill>
                  <a:schemeClr val="bg1"/>
                </a:solidFill>
              </a:rPr>
            </a:br>
            <a:r>
              <a:rPr lang="en-US" sz="6000" cap="none" dirty="0">
                <a:solidFill>
                  <a:schemeClr val="bg1"/>
                </a:solidFill>
              </a:rPr>
              <a:t>Ariel </a:t>
            </a:r>
            <a:r>
              <a:rPr lang="en-US" sz="6000" cap="none" dirty="0" err="1">
                <a:solidFill>
                  <a:schemeClr val="bg1"/>
                </a:solidFill>
              </a:rPr>
              <a:t>Pruyser</a:t>
            </a:r>
            <a:r>
              <a:rPr lang="en-US" sz="6000" cap="none" dirty="0">
                <a:solidFill>
                  <a:schemeClr val="bg1"/>
                </a:solidFill>
              </a:rPr>
              <a:t>, </a:t>
            </a:r>
            <a:r>
              <a:rPr lang="en-US" sz="6000" cap="none" dirty="0" err="1">
                <a:solidFill>
                  <a:schemeClr val="bg1"/>
                </a:solidFill>
              </a:rPr>
              <a:t>Demarko</a:t>
            </a:r>
            <a:r>
              <a:rPr lang="en-US" sz="6000" cap="none" dirty="0">
                <a:solidFill>
                  <a:schemeClr val="bg1"/>
                </a:solidFill>
              </a:rPr>
              <a:t> Flanagan, Samantha </a:t>
            </a:r>
            <a:r>
              <a:rPr lang="en-US" sz="6000" cap="none" dirty="0" err="1">
                <a:solidFill>
                  <a:schemeClr val="bg1"/>
                </a:solidFill>
              </a:rPr>
              <a:t>Aniceto</a:t>
            </a:r>
            <a:r>
              <a:rPr lang="en-US" sz="6000" cap="none" dirty="0">
                <a:solidFill>
                  <a:schemeClr val="bg1"/>
                </a:solidFill>
              </a:rPr>
              <a:t>, Reed Morgan, Richard L. Abrams, Ph.D.</a:t>
            </a:r>
            <a:br>
              <a:rPr lang="en-US" sz="6000" cap="none" dirty="0">
                <a:solidFill>
                  <a:schemeClr val="bg1"/>
                </a:solidFill>
              </a:rPr>
            </a:br>
            <a:r>
              <a:rPr lang="en-US" sz="6000" b="0" cap="none" dirty="0">
                <a:solidFill>
                  <a:schemeClr val="bg1"/>
                </a:solidFill>
              </a:rPr>
              <a:t>Psychology Department, Loyola Marymount University</a:t>
            </a:r>
          </a:p>
        </p:txBody>
      </p:sp>
      <p:sp>
        <p:nvSpPr>
          <p:cNvPr id="16" name="TextBox 15"/>
          <p:cNvSpPr txBox="1"/>
          <p:nvPr/>
        </p:nvSpPr>
        <p:spPr>
          <a:xfrm>
            <a:off x="2974" y="4344342"/>
            <a:ext cx="15939391" cy="12926616"/>
          </a:xfrm>
          <a:prstGeom prst="rect">
            <a:avLst/>
          </a:prstGeom>
          <a:noFill/>
          <a:ln w="12700">
            <a:noFill/>
          </a:ln>
          <a:effectLst>
            <a:softEdge rad="50800"/>
          </a:effectLst>
        </p:spPr>
        <p:txBody>
          <a:bodyPr wrap="square" lIns="182880" tIns="365760" rIns="182880" bIns="365760" rtlCol="0" anchor="t">
            <a:spAutoFit/>
          </a:bodyPr>
          <a:lstStyle/>
          <a:p>
            <a:r>
              <a:rPr lang="en-US" sz="3600" b="1" dirty="0">
                <a:latin typeface="Arial" panose="020B0604020202020204" pitchFamily="34" charset="0"/>
                <a:cs typeface="Arial" panose="020B0604020202020204" pitchFamily="34" charset="0"/>
              </a:rPr>
              <a:t>Introduction</a:t>
            </a:r>
          </a:p>
          <a:p>
            <a:pPr marL="571500" indent="-571500">
              <a:buFont typeface="Arial" panose="020B0604020202020204" pitchFamily="34" charset="0"/>
              <a:buChar char="•"/>
            </a:pPr>
            <a:r>
              <a:rPr lang="en-US" sz="3600" dirty="0">
                <a:latin typeface="Arial" panose="020B0604020202020204" pitchFamily="34" charset="0"/>
                <a:cs typeface="Arial" panose="020B0604020202020204" pitchFamily="34" charset="0"/>
              </a:rPr>
              <a:t>Unconscious visual processing is a phenomenon in which a briefly flashed, consciously imperceptible word influences the categorization of a different target word that participants are instructed to attend to.</a:t>
            </a:r>
          </a:p>
          <a:p>
            <a:pPr marL="571500" indent="-571500">
              <a:buFont typeface="Arial" panose="020B0604020202020204" pitchFamily="34" charset="0"/>
              <a:buChar char="•"/>
            </a:pPr>
            <a:r>
              <a:rPr lang="en-US" sz="3600" dirty="0">
                <a:latin typeface="Arial" panose="020B0604020202020204" pitchFamily="34" charset="0"/>
                <a:cs typeface="Arial" panose="020B0604020202020204" pitchFamily="34" charset="0"/>
              </a:rPr>
              <a:t>Studies conducted on unconscious visual processing typically use everyday, “overlearned” words as both primes and targets. Earlier findings indicate overlearned words yield robust priming only after an interval of relearning (Greenwald &amp; Abrams, 2000</a:t>
            </a:r>
            <a:r>
              <a:rPr lang="en-US" sz="3600">
                <a:latin typeface="Arial" panose="020B0604020202020204" pitchFamily="34" charset="0"/>
                <a:cs typeface="Arial" panose="020B0604020202020204" pitchFamily="34" charset="0"/>
              </a:rPr>
              <a:t>; Damian</a:t>
            </a:r>
            <a:r>
              <a:rPr lang="en-US" sz="3600" dirty="0">
                <a:latin typeface="Arial" panose="020B0604020202020204" pitchFamily="34" charset="0"/>
                <a:cs typeface="Arial" panose="020B0604020202020204" pitchFamily="34" charset="0"/>
              </a:rPr>
              <a:t>, 2001).</a:t>
            </a:r>
          </a:p>
          <a:p>
            <a:pPr marL="571500" indent="-571500">
              <a:buFont typeface="Arial" panose="020B0604020202020204" pitchFamily="34" charset="0"/>
              <a:buChar char="•"/>
            </a:pPr>
            <a:r>
              <a:rPr lang="en-US" sz="3600" dirty="0">
                <a:latin typeface="Arial" panose="020B0604020202020204" pitchFamily="34" charset="0"/>
                <a:cs typeface="Arial" panose="020B0604020202020204" pitchFamily="34" charset="0"/>
              </a:rPr>
              <a:t>Some research reports that after extensive learning, novel words successfully acted as semantic primes (</a:t>
            </a:r>
            <a:r>
              <a:rPr lang="en-US" sz="3600" dirty="0" err="1">
                <a:latin typeface="Arial" panose="020B0604020202020204" pitchFamily="34" charset="0"/>
                <a:cs typeface="Arial" panose="020B0604020202020204" pitchFamily="34" charset="0"/>
              </a:rPr>
              <a:t>Dagenbach</a:t>
            </a:r>
            <a:r>
              <a:rPr lang="en-US" sz="3600" dirty="0">
                <a:latin typeface="Arial" panose="020B0604020202020204" pitchFamily="34" charset="0"/>
                <a:cs typeface="Arial" panose="020B0604020202020204" pitchFamily="34" charset="0"/>
              </a:rPr>
              <a:t>, Horst, and </a:t>
            </a:r>
            <a:r>
              <a:rPr lang="en-US" sz="3600" dirty="0" err="1">
                <a:latin typeface="Arial" panose="020B0604020202020204" pitchFamily="34" charset="0"/>
                <a:cs typeface="Arial" panose="020B0604020202020204" pitchFamily="34" charset="0"/>
              </a:rPr>
              <a:t>Carr</a:t>
            </a:r>
            <a:r>
              <a:rPr lang="en-US" sz="3600" dirty="0">
                <a:latin typeface="Arial" panose="020B0604020202020204" pitchFamily="34" charset="0"/>
                <a:cs typeface="Arial" panose="020B0604020202020204" pitchFamily="34" charset="0"/>
              </a:rPr>
              <a:t>, 1990; </a:t>
            </a:r>
            <a:r>
              <a:rPr lang="en-US" sz="3600" dirty="0" err="1">
                <a:latin typeface="Arial" panose="020B0604020202020204" pitchFamily="34" charset="0"/>
                <a:cs typeface="Arial" panose="020B0604020202020204" pitchFamily="34" charset="0"/>
              </a:rPr>
              <a:t>Tamien</a:t>
            </a:r>
            <a:r>
              <a:rPr lang="en-US" sz="3600" dirty="0">
                <a:latin typeface="Arial" panose="020B0604020202020204" pitchFamily="34" charset="0"/>
                <a:cs typeface="Arial" panose="020B0604020202020204" pitchFamily="34" charset="0"/>
              </a:rPr>
              <a:t> and Gaskell, 2013).</a:t>
            </a:r>
          </a:p>
          <a:p>
            <a:pPr marL="571500" indent="-571500">
              <a:buFont typeface="Arial" panose="020B0604020202020204" pitchFamily="34" charset="0"/>
              <a:buChar char="•"/>
            </a:pPr>
            <a:r>
              <a:rPr lang="en-US" sz="3600" dirty="0">
                <a:latin typeface="Arial" panose="020B0604020202020204" pitchFamily="34" charset="0"/>
                <a:cs typeface="Arial" panose="020B0604020202020204" pitchFamily="34" charset="0"/>
              </a:rPr>
              <a:t>Our studies extended these findings by investigating the recruitment of newly acquired words into language processing systems that involve solely unconscious processing. </a:t>
            </a:r>
          </a:p>
          <a:p>
            <a:pPr marL="571500" indent="-571500">
              <a:buFont typeface="Arial" panose="020B0604020202020204" pitchFamily="34" charset="0"/>
              <a:buChar char="•"/>
            </a:pPr>
            <a:r>
              <a:rPr lang="en-US" sz="3600" dirty="0">
                <a:latin typeface="Arial" panose="020B0604020202020204" pitchFamily="34" charset="0"/>
                <a:cs typeface="Arial" panose="020B0604020202020204" pitchFamily="34" charset="0"/>
              </a:rPr>
              <a:t>Over the course of two experiments, the acquisition of rare and presumed-to-be unfamiliar exemplars of two common categories, fish and flower, was examined. We manipulated (a) the duration between practice and  priming task sessions, (b) whether or not participants  received a brief second round of practice, and (c) prime duration. Our objective of this study is to evaluate the process by which newly-acquired vocabulary is recruited in to the unconscious systems and to examine the role of relearning/reactivation.</a:t>
            </a:r>
          </a:p>
        </p:txBody>
      </p:sp>
      <p:sp>
        <p:nvSpPr>
          <p:cNvPr id="17" name="Rectangle 16"/>
          <p:cNvSpPr/>
          <p:nvPr/>
        </p:nvSpPr>
        <p:spPr>
          <a:xfrm>
            <a:off x="273788" y="16862606"/>
            <a:ext cx="15668578" cy="8401787"/>
          </a:xfrm>
          <a:prstGeom prst="rect">
            <a:avLst/>
          </a:prstGeom>
          <a:noFill/>
          <a:effectLst>
            <a:softEdge rad="50800"/>
          </a:effectLst>
        </p:spPr>
        <p:txBody>
          <a:bodyPr wrap="square" lIns="182880" tIns="365760" rIns="182880" bIns="365760" anchor="t">
            <a:spAutoFit/>
          </a:bodyPr>
          <a:lstStyle/>
          <a:p>
            <a:pPr>
              <a:lnSpc>
                <a:spcPct val="107000"/>
              </a:lnSpc>
            </a:pPr>
            <a:r>
              <a:rPr lang="en-US" sz="3600" b="1" dirty="0">
                <a:latin typeface="Arial" panose="020B0604020202020204" pitchFamily="34" charset="0"/>
                <a:ea typeface="Calibri" panose="020F0502020204030204" pitchFamily="34" charset="0"/>
                <a:cs typeface="Arial" panose="020B0604020202020204" pitchFamily="34" charset="0"/>
              </a:rPr>
              <a:t>Method</a:t>
            </a:r>
            <a:endParaRPr lang="en-US" sz="3200" b="1" dirty="0">
              <a:latin typeface="Arial" panose="020B0604020202020204" pitchFamily="34" charset="0"/>
              <a:ea typeface="Calibri" panose="020F0502020204030204" pitchFamily="34" charset="0"/>
              <a:cs typeface="Arial" panose="020B0604020202020204" pitchFamily="34" charset="0"/>
            </a:endParaRPr>
          </a:p>
          <a:p>
            <a:pPr marL="571500" marR="0" lvl="0" indent="-571500">
              <a:lnSpc>
                <a:spcPct val="107000"/>
              </a:lnSpc>
              <a:spcBef>
                <a:spcPts val="0"/>
              </a:spcBef>
              <a:spcAft>
                <a:spcPts val="0"/>
              </a:spcAft>
              <a:buFont typeface="Arial" panose="020B0604020202020204" pitchFamily="34" charset="0"/>
              <a:buChar char="•"/>
            </a:pPr>
            <a:r>
              <a:rPr lang="en-US" sz="3600" dirty="0">
                <a:latin typeface="Arial" panose="020B0604020202020204" pitchFamily="34" charset="0"/>
                <a:ea typeface="Calibri" panose="020F0502020204030204" pitchFamily="34" charset="0"/>
                <a:cs typeface="Arial" panose="020B0604020202020204" pitchFamily="34" charset="0"/>
              </a:rPr>
              <a:t>All experiments began with a session of extensive learning (30-45 minutes) in which participants were introduced to the novel exemplars first by pairing the words with pictures of the corresponding fish or flower, then practiced categorizing the words alone</a:t>
            </a:r>
          </a:p>
          <a:p>
            <a:pPr marL="571500" marR="0" lvl="0" indent="-571500">
              <a:lnSpc>
                <a:spcPct val="107000"/>
              </a:lnSpc>
              <a:spcBef>
                <a:spcPts val="0"/>
              </a:spcBef>
              <a:spcAft>
                <a:spcPts val="0"/>
              </a:spcAft>
              <a:buFont typeface="Arial" panose="020B0604020202020204" pitchFamily="34" charset="0"/>
              <a:buChar char="•"/>
            </a:pPr>
            <a:r>
              <a:rPr lang="en-US" sz="3600" dirty="0">
                <a:latin typeface="Arial" panose="020B0604020202020204" pitchFamily="34" charset="0"/>
                <a:ea typeface="Calibri" panose="020F0502020204030204" pitchFamily="34" charset="0"/>
                <a:cs typeface="Arial" panose="020B0604020202020204" pitchFamily="34" charset="0"/>
              </a:rPr>
              <a:t>After a time-varied interval, participants performed a priming task with the newly-acquired (NA) exemplars as the masked primes, and common fish and flower names as the visible targets</a:t>
            </a:r>
          </a:p>
          <a:p>
            <a:pPr marL="571500" marR="0" lvl="0" indent="-571500">
              <a:lnSpc>
                <a:spcPct val="107000"/>
              </a:lnSpc>
              <a:spcBef>
                <a:spcPts val="0"/>
              </a:spcBef>
              <a:spcAft>
                <a:spcPts val="0"/>
              </a:spcAft>
              <a:buFont typeface="Arial" panose="020B0604020202020204" pitchFamily="34" charset="0"/>
              <a:buChar char="•"/>
            </a:pPr>
            <a:r>
              <a:rPr lang="en-US" sz="3600" dirty="0">
                <a:latin typeface="Arial" panose="020B0604020202020204" pitchFamily="34" charset="0"/>
                <a:ea typeface="Calibri" panose="020F0502020204030204" pitchFamily="34" charset="0"/>
                <a:cs typeface="Arial" panose="020B0604020202020204" pitchFamily="34" charset="0"/>
              </a:rPr>
              <a:t>The presence of a relearning session with the newly-acquired exemplars just before the priming task was present amongst all participants in experiment 1 but varied in experiments 2. Priming tasks were followed by a test of prime visibility, in which participants categorized the briefly-flashed, visually masked primes. </a:t>
            </a:r>
          </a:p>
        </p:txBody>
      </p:sp>
      <p:pic>
        <p:nvPicPr>
          <p:cNvPr id="6" name="Picture 5">
            <a:extLst>
              <a:ext uri="{FF2B5EF4-FFF2-40B4-BE49-F238E27FC236}">
                <a16:creationId xmlns:a16="http://schemas.microsoft.com/office/drawing/2014/main" id="{BB24F567-C5A3-184F-B3D7-E1C25582F6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871252" y="1068350"/>
            <a:ext cx="2852600" cy="2852600"/>
          </a:xfrm>
          <a:prstGeom prst="rect">
            <a:avLst/>
          </a:prstGeom>
        </p:spPr>
      </p:pic>
      <p:sp>
        <p:nvSpPr>
          <p:cNvPr id="54" name="Text Placeholder 3"/>
          <p:cNvSpPr txBox="1">
            <a:spLocks/>
          </p:cNvSpPr>
          <p:nvPr/>
        </p:nvSpPr>
        <p:spPr>
          <a:xfrm>
            <a:off x="16627259" y="31219542"/>
            <a:ext cx="27263942" cy="1487768"/>
          </a:xfrm>
          <a:prstGeom prst="rect">
            <a:avLst/>
          </a:prstGeom>
          <a:noFill/>
          <a:ln w="12700">
            <a:noFill/>
          </a:ln>
          <a:effectLst>
            <a:softEdge rad="50800"/>
          </a:effectLst>
        </p:spPr>
        <p:txBody>
          <a:bodyPr lIns="182880" tIns="365760" rIns="182880" bIns="365760" anchor="t"/>
          <a:lstStyle>
            <a:lvl1pPr marL="0" indent="0" algn="l" defTabSz="4388419" rtl="0" eaLnBrk="1" latinLnBrk="0" hangingPunct="1">
              <a:spcBef>
                <a:spcPts val="0"/>
              </a:spcBef>
              <a:spcAft>
                <a:spcPts val="5760"/>
              </a:spcAft>
              <a:buFont typeface="Arial" panose="020B0604020202020204" pitchFamily="34" charset="0"/>
              <a:buNone/>
              <a:defRPr sz="11520" kern="1200">
                <a:solidFill>
                  <a:schemeClr val="tx1"/>
                </a:solidFill>
                <a:latin typeface="Soleil" pitchFamily="50" charset="0"/>
                <a:ea typeface="+mn-ea"/>
                <a:cs typeface="+mn-cs"/>
              </a:defRPr>
            </a:lvl1pPr>
            <a:lvl2pPr marL="3839866" indent="-1645656" algn="l" defTabSz="4388419" rtl="0" eaLnBrk="1" latinLnBrk="0" hangingPunct="1">
              <a:spcBef>
                <a:spcPts val="0"/>
              </a:spcBef>
              <a:spcAft>
                <a:spcPts val="5760"/>
              </a:spcAft>
              <a:buFont typeface="Arial" panose="020B0604020202020204" pitchFamily="34" charset="0"/>
              <a:buChar char="•"/>
              <a:defRPr sz="11520" kern="1200">
                <a:solidFill>
                  <a:schemeClr val="tx1"/>
                </a:solidFill>
                <a:latin typeface="Soleil" pitchFamily="50" charset="0"/>
                <a:ea typeface="+mn-ea"/>
                <a:cs typeface="+mn-cs"/>
              </a:defRPr>
            </a:lvl2pPr>
            <a:lvl3pPr marL="6034075" indent="-1645656" algn="l" defTabSz="4388419" rtl="0" eaLnBrk="1" latinLnBrk="0" hangingPunct="1">
              <a:spcBef>
                <a:spcPts val="0"/>
              </a:spcBef>
              <a:spcAft>
                <a:spcPts val="5760"/>
              </a:spcAft>
              <a:buFont typeface="Soleil" pitchFamily="50" charset="0"/>
              <a:buChar char="–"/>
              <a:defRPr sz="9600" kern="1200">
                <a:solidFill>
                  <a:schemeClr val="tx1"/>
                </a:solidFill>
                <a:latin typeface="Soleil" pitchFamily="50" charset="0"/>
                <a:ea typeface="+mn-ea"/>
                <a:cs typeface="+mn-cs"/>
              </a:defRPr>
            </a:lvl3pPr>
            <a:lvl4pPr marL="8228285" indent="-1645656" algn="l" defTabSz="4388419" rtl="0" eaLnBrk="1" latinLnBrk="0" hangingPunct="1">
              <a:spcBef>
                <a:spcPts val="0"/>
              </a:spcBef>
              <a:spcAft>
                <a:spcPts val="5760"/>
              </a:spcAft>
              <a:buFont typeface="Arial" panose="020B0604020202020204" pitchFamily="34" charset="0"/>
              <a:buChar char="•"/>
              <a:defRPr sz="9600" kern="1200">
                <a:solidFill>
                  <a:schemeClr val="tx1"/>
                </a:solidFill>
                <a:latin typeface="Soleil" pitchFamily="50" charset="0"/>
                <a:ea typeface="+mn-ea"/>
                <a:cs typeface="+mn-cs"/>
              </a:defRPr>
            </a:lvl4pPr>
            <a:lvl5pPr marL="10148218" indent="-1371379" algn="l" defTabSz="4388419" rtl="0" eaLnBrk="1" latinLnBrk="0" hangingPunct="1">
              <a:spcBef>
                <a:spcPts val="0"/>
              </a:spcBef>
              <a:spcAft>
                <a:spcPts val="5760"/>
              </a:spcAft>
              <a:buFont typeface="Soleil" pitchFamily="50" charset="0"/>
              <a:buChar char="»"/>
              <a:defRPr sz="8640" kern="1200">
                <a:solidFill>
                  <a:schemeClr val="tx1"/>
                </a:solidFill>
                <a:latin typeface="Soleil" pitchFamily="50" charset="0"/>
                <a:ea typeface="+mn-ea"/>
                <a:cs typeface="+mn-cs"/>
              </a:defRPr>
            </a:lvl5pPr>
            <a:lvl6pPr marL="12616699" indent="-1645656" algn="l" defTabSz="4388419" rtl="0" eaLnBrk="1" latinLnBrk="0" hangingPunct="1">
              <a:spcBef>
                <a:spcPct val="20000"/>
              </a:spcBef>
              <a:buFont typeface="Soleil" pitchFamily="50" charset="0"/>
              <a:buChar char="»"/>
              <a:defRPr sz="8640" kern="1200">
                <a:solidFill>
                  <a:schemeClr val="tx1"/>
                </a:solidFill>
                <a:latin typeface="+mn-lt"/>
                <a:ea typeface="+mn-ea"/>
                <a:cs typeface="+mn-cs"/>
              </a:defRPr>
            </a:lvl6pPr>
            <a:lvl7pPr marL="14262360" indent="-1097102" algn="l" defTabSz="4388419"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7pPr>
            <a:lvl8pPr marL="16456565" indent="-1097102" algn="l" defTabSz="4388419"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8pPr>
            <a:lvl9pPr marL="18650774" indent="-1097102" algn="l" defTabSz="4388419"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9pPr>
          </a:lstStyle>
          <a:p>
            <a:pPr>
              <a:spcAft>
                <a:spcPts val="0"/>
              </a:spcAft>
            </a:pPr>
            <a:r>
              <a:rPr lang="en-US" sz="2400" b="1" dirty="0">
                <a:latin typeface="Arial" panose="020B0604020202020204" pitchFamily="34" charset="0"/>
                <a:ea typeface="Calibri" panose="020F0502020204030204" pitchFamily="34" charset="0"/>
                <a:cs typeface="Arial" panose="020B0604020202020204" pitchFamily="34" charset="0"/>
              </a:rPr>
              <a:t>Acknowledgements: </a:t>
            </a:r>
            <a:endParaRPr lang="en-US" sz="2400" dirty="0">
              <a:latin typeface="Arial" panose="020B0604020202020204" pitchFamily="34" charset="0"/>
              <a:ea typeface="Calibri" panose="020F0502020204030204" pitchFamily="34" charset="0"/>
              <a:cs typeface="Arial" panose="020B0604020202020204" pitchFamily="34" charset="0"/>
            </a:endParaRPr>
          </a:p>
          <a:p>
            <a:pPr>
              <a:spcAft>
                <a:spcPts val="0"/>
              </a:spcAft>
            </a:pPr>
            <a:r>
              <a:rPr lang="en-US" sz="2400" dirty="0">
                <a:latin typeface="Arial" panose="020B0604020202020204" pitchFamily="34" charset="0"/>
                <a:ea typeface="Calibri" panose="020F0502020204030204" pitchFamily="34" charset="0"/>
                <a:cs typeface="Arial" panose="020B0604020202020204" pitchFamily="34" charset="0"/>
              </a:rPr>
              <a:t>This research would not be possible without the support of the Monica Lester Endowment to the Department of Psychology at Loyola Marymount University for funding undergraduate student research. We would also like to acknowledge the </a:t>
            </a:r>
            <a:r>
              <a:rPr lang="en-US" sz="2400" dirty="0">
                <a:latin typeface="Arial" panose="020B0604020202020204" pitchFamily="34" charset="0"/>
                <a:ea typeface="Times New Roman" panose="02020603050405020304" pitchFamily="18" charset="0"/>
                <a:cs typeface="Arial" panose="020B0604020202020204" pitchFamily="34" charset="0"/>
              </a:rPr>
              <a:t>Bellarmine College of Liberal Arts at LMU for their support in conference funding.</a:t>
            </a:r>
            <a:endParaRPr lang="en-US" sz="2400" dirty="0">
              <a:latin typeface="Arial" panose="020B0604020202020204" pitchFamily="34" charset="0"/>
              <a:ea typeface="Calibri" panose="020F0502020204030204" pitchFamily="34" charset="0"/>
              <a:cs typeface="Arial" panose="020B0604020202020204" pitchFamily="34" charset="0"/>
            </a:endParaRPr>
          </a:p>
          <a:p>
            <a:pPr algn="ctr">
              <a:spcAft>
                <a:spcPts val="0"/>
              </a:spcAft>
            </a:pPr>
            <a:endParaRPr lang="en-US" sz="2400" dirty="0">
              <a:latin typeface="Arial" panose="020B0604020202020204" pitchFamily="34" charset="0"/>
              <a:cs typeface="Arial" panose="020B0604020202020204" pitchFamily="34" charset="0"/>
            </a:endParaRPr>
          </a:p>
        </p:txBody>
      </p:sp>
      <p:grpSp>
        <p:nvGrpSpPr>
          <p:cNvPr id="31" name="Group 30">
            <a:extLst>
              <a:ext uri="{FF2B5EF4-FFF2-40B4-BE49-F238E27FC236}">
                <a16:creationId xmlns:a16="http://schemas.microsoft.com/office/drawing/2014/main" id="{A87AE8E8-9296-744F-BDF6-387396B29F62}"/>
              </a:ext>
            </a:extLst>
          </p:cNvPr>
          <p:cNvGrpSpPr/>
          <p:nvPr/>
        </p:nvGrpSpPr>
        <p:grpSpPr>
          <a:xfrm>
            <a:off x="933132" y="25264393"/>
            <a:ext cx="15215425" cy="7355580"/>
            <a:chOff x="15597089" y="3867789"/>
            <a:chExt cx="13780975" cy="6488363"/>
          </a:xfrm>
          <a:solidFill>
            <a:schemeClr val="tx1"/>
          </a:solidFill>
        </p:grpSpPr>
        <p:sp>
          <p:nvSpPr>
            <p:cNvPr id="34" name="Rectangle 33">
              <a:extLst>
                <a:ext uri="{FF2B5EF4-FFF2-40B4-BE49-F238E27FC236}">
                  <a16:creationId xmlns:a16="http://schemas.microsoft.com/office/drawing/2014/main" id="{D20BAAD3-4F84-024D-874E-EEA4927BBE13}"/>
                </a:ext>
              </a:extLst>
            </p:cNvPr>
            <p:cNvSpPr/>
            <p:nvPr/>
          </p:nvSpPr>
          <p:spPr>
            <a:xfrm>
              <a:off x="15597089" y="3867789"/>
              <a:ext cx="13780975" cy="6488363"/>
            </a:xfrm>
            <a:prstGeom prst="rect">
              <a:avLst/>
            </a:prstGeom>
            <a:solidFill>
              <a:srgbClr val="FDF7FA"/>
            </a:solidFill>
            <a:effectLst>
              <a:outerShdw blurRad="50800" dist="50800" dir="5400000" algn="ctr" rotWithShape="0">
                <a:schemeClr val="tx1">
                  <a:lumMod val="95000"/>
                </a:schemeClr>
              </a:outerShdw>
              <a:softEdge rad="50800"/>
            </a:effectLst>
          </p:spPr>
          <p:txBody>
            <a:bodyPr wrap="square" lIns="182880" tIns="365760" rIns="182880" bIns="365760" anchor="t">
              <a:spAutoFit/>
            </a:bodyPr>
            <a:lstStyle/>
            <a:p>
              <a:pPr algn="ctr">
                <a:spcAft>
                  <a:spcPts val="600"/>
                </a:spcAft>
              </a:pPr>
              <a:endParaRPr lang="en-US" sz="3600" b="1" dirty="0">
                <a:solidFill>
                  <a:schemeClr val="bg1"/>
                </a:solidFill>
                <a:latin typeface="Arial" panose="020B0604020202020204" pitchFamily="34" charset="0"/>
                <a:cs typeface="Arial" panose="020B0604020202020204" pitchFamily="34" charset="0"/>
              </a:endParaRPr>
            </a:p>
            <a:p>
              <a:pPr algn="ctr">
                <a:spcAft>
                  <a:spcPts val="600"/>
                </a:spcAft>
              </a:pPr>
              <a:endParaRPr lang="en-US" sz="3600" b="1" dirty="0">
                <a:solidFill>
                  <a:schemeClr val="bg1"/>
                </a:solidFill>
                <a:latin typeface="Arial" panose="020B0604020202020204" pitchFamily="34" charset="0"/>
                <a:cs typeface="Arial" panose="020B0604020202020204" pitchFamily="34" charset="0"/>
              </a:endParaRPr>
            </a:p>
            <a:p>
              <a:pPr algn="ctr">
                <a:spcAft>
                  <a:spcPts val="600"/>
                </a:spcAft>
              </a:pPr>
              <a:endParaRPr lang="en-US" sz="3600" b="1" dirty="0">
                <a:solidFill>
                  <a:schemeClr val="bg1"/>
                </a:solidFill>
                <a:latin typeface="Arial" panose="020B0604020202020204" pitchFamily="34" charset="0"/>
                <a:cs typeface="Arial" panose="020B0604020202020204" pitchFamily="34" charset="0"/>
              </a:endParaRPr>
            </a:p>
            <a:p>
              <a:pPr algn="ctr">
                <a:spcAft>
                  <a:spcPts val="600"/>
                </a:spcAft>
              </a:pPr>
              <a:endParaRPr lang="en-US" sz="3600" b="1" dirty="0">
                <a:solidFill>
                  <a:schemeClr val="bg1"/>
                </a:solidFill>
                <a:latin typeface="Arial" panose="020B0604020202020204" pitchFamily="34" charset="0"/>
                <a:cs typeface="Arial" panose="020B0604020202020204" pitchFamily="34" charset="0"/>
              </a:endParaRPr>
            </a:p>
            <a:p>
              <a:pPr algn="ctr">
                <a:spcAft>
                  <a:spcPts val="600"/>
                </a:spcAft>
              </a:pPr>
              <a:endParaRPr lang="en-US" sz="3600" b="1" dirty="0">
                <a:solidFill>
                  <a:schemeClr val="bg1"/>
                </a:solidFill>
                <a:latin typeface="Arial" panose="020B0604020202020204" pitchFamily="34" charset="0"/>
                <a:cs typeface="Arial" panose="020B0604020202020204" pitchFamily="34" charset="0"/>
              </a:endParaRPr>
            </a:p>
            <a:p>
              <a:pPr algn="ctr">
                <a:spcAft>
                  <a:spcPts val="600"/>
                </a:spcAft>
              </a:pPr>
              <a:endParaRPr lang="en-US" sz="3600" b="1" dirty="0">
                <a:solidFill>
                  <a:schemeClr val="bg1"/>
                </a:solidFill>
                <a:latin typeface="Arial" panose="020B0604020202020204" pitchFamily="34" charset="0"/>
                <a:cs typeface="Arial" panose="020B0604020202020204" pitchFamily="34" charset="0"/>
              </a:endParaRPr>
            </a:p>
            <a:p>
              <a:pPr algn="ctr">
                <a:spcAft>
                  <a:spcPts val="600"/>
                </a:spcAft>
              </a:pPr>
              <a:endParaRPr lang="en-US" sz="3600" b="1" dirty="0">
                <a:solidFill>
                  <a:schemeClr val="bg1"/>
                </a:solidFill>
                <a:latin typeface="Arial" panose="020B0604020202020204" pitchFamily="34" charset="0"/>
                <a:cs typeface="Arial" panose="020B0604020202020204" pitchFamily="34" charset="0"/>
              </a:endParaRPr>
            </a:p>
            <a:p>
              <a:pPr algn="ctr">
                <a:spcAft>
                  <a:spcPts val="600"/>
                </a:spcAft>
              </a:pPr>
              <a:endParaRPr lang="en-US" sz="3600" b="1" dirty="0">
                <a:solidFill>
                  <a:schemeClr val="bg1"/>
                </a:solidFill>
                <a:latin typeface="Arial" panose="020B0604020202020204" pitchFamily="34" charset="0"/>
                <a:cs typeface="Arial" panose="020B0604020202020204" pitchFamily="34" charset="0"/>
              </a:endParaRPr>
            </a:p>
            <a:p>
              <a:pPr algn="ctr">
                <a:spcAft>
                  <a:spcPts val="600"/>
                </a:spcAft>
              </a:pPr>
              <a:endParaRPr lang="en-US" sz="3600" dirty="0">
                <a:solidFill>
                  <a:schemeClr val="bg1"/>
                </a:solidFill>
                <a:latin typeface="Arial"/>
                <a:cs typeface="Arial"/>
              </a:endParaRPr>
            </a:p>
          </p:txBody>
        </p:sp>
        <p:grpSp>
          <p:nvGrpSpPr>
            <p:cNvPr id="35" name="Group 34">
              <a:extLst>
                <a:ext uri="{FF2B5EF4-FFF2-40B4-BE49-F238E27FC236}">
                  <a16:creationId xmlns:a16="http://schemas.microsoft.com/office/drawing/2014/main" id="{277DA146-E55A-7B4D-91BA-720CDB2FE200}"/>
                </a:ext>
              </a:extLst>
            </p:cNvPr>
            <p:cNvGrpSpPr/>
            <p:nvPr/>
          </p:nvGrpSpPr>
          <p:grpSpPr>
            <a:xfrm>
              <a:off x="15803997" y="4030667"/>
              <a:ext cx="13216936" cy="5352816"/>
              <a:chOff x="13904898" y="5331565"/>
              <a:chExt cx="13216936" cy="5352816"/>
            </a:xfrm>
            <a:grpFill/>
          </p:grpSpPr>
          <p:sp>
            <p:nvSpPr>
              <p:cNvPr id="42" name="TextBox 41">
                <a:extLst>
                  <a:ext uri="{FF2B5EF4-FFF2-40B4-BE49-F238E27FC236}">
                    <a16:creationId xmlns:a16="http://schemas.microsoft.com/office/drawing/2014/main" id="{30445AE3-1E3D-074F-9A97-861EE0768B95}"/>
                  </a:ext>
                </a:extLst>
              </p:cNvPr>
              <p:cNvSpPr txBox="1"/>
              <p:nvPr/>
            </p:nvSpPr>
            <p:spPr>
              <a:xfrm>
                <a:off x="14037972" y="5331565"/>
                <a:ext cx="13083862" cy="1733261"/>
              </a:xfrm>
              <a:prstGeom prst="rect">
                <a:avLst/>
              </a:prstGeom>
              <a:grpFill/>
              <a:ln>
                <a:noFill/>
              </a:ln>
            </p:spPr>
            <p:txBody>
              <a:bodyPr wrap="square" rtlCol="0">
                <a:spAutoFit/>
              </a:bodyPr>
              <a:lstStyle/>
              <a:p>
                <a:pPr algn="ctr"/>
                <a:r>
                  <a:rPr lang="en-US" sz="3600" b="1" dirty="0">
                    <a:solidFill>
                      <a:schemeClr val="bg1"/>
                    </a:solidFill>
                    <a:latin typeface="Arial" panose="020B0604020202020204" pitchFamily="34" charset="0"/>
                    <a:cs typeface="Arial" panose="020B0604020202020204" pitchFamily="34" charset="0"/>
                  </a:rPr>
                  <a:t>Trial sequence in priming and visibility tasks</a:t>
                </a:r>
              </a:p>
              <a:p>
                <a:pPr algn="ctr"/>
                <a:r>
                  <a:rPr lang="en-US" sz="3600" dirty="0">
                    <a:solidFill>
                      <a:schemeClr val="bg1"/>
                    </a:solidFill>
                    <a:latin typeface="Arial" panose="020B0604020202020204" pitchFamily="34" charset="0"/>
                    <a:ea typeface="Calibri" panose="020F0502020204030204" pitchFamily="34" charset="0"/>
                    <a:cs typeface="Arial" panose="020B0604020202020204" pitchFamily="34" charset="0"/>
                  </a:rPr>
                  <a:t>(Same sequence in both tasks; in priming, instruction was to categorize the target; in visibility, instruction was to categorize the masked word)</a:t>
                </a:r>
                <a:endParaRPr lang="en-US" sz="3600" b="1" dirty="0">
                  <a:solidFill>
                    <a:schemeClr val="bg1"/>
                  </a:solidFill>
                  <a:latin typeface="Arial" panose="020B0604020202020204" pitchFamily="34" charset="0"/>
                  <a:cs typeface="Arial" panose="020B0604020202020204" pitchFamily="34" charset="0"/>
                </a:endParaRPr>
              </a:p>
            </p:txBody>
          </p:sp>
          <p:sp>
            <p:nvSpPr>
              <p:cNvPr id="43" name="TextBox 42">
                <a:extLst>
                  <a:ext uri="{FF2B5EF4-FFF2-40B4-BE49-F238E27FC236}">
                    <a16:creationId xmlns:a16="http://schemas.microsoft.com/office/drawing/2014/main" id="{0DD95FCE-3E7B-AF4E-A096-8FE323DA4848}"/>
                  </a:ext>
                </a:extLst>
              </p:cNvPr>
              <p:cNvSpPr txBox="1"/>
              <p:nvPr/>
            </p:nvSpPr>
            <p:spPr>
              <a:xfrm>
                <a:off x="20919027" y="10301889"/>
                <a:ext cx="3180624" cy="382492"/>
              </a:xfrm>
              <a:prstGeom prst="rect">
                <a:avLst/>
              </a:prstGeom>
              <a:grpFill/>
              <a:ln>
                <a:noFill/>
              </a:ln>
            </p:spPr>
            <p:txBody>
              <a:bodyPr wrap="none" rtlCol="0">
                <a:spAutoFit/>
              </a:bodyPr>
              <a:lstStyle/>
              <a:p>
                <a:r>
                  <a:rPr lang="en-US" sz="2600" dirty="0">
                    <a:solidFill>
                      <a:schemeClr val="bg1"/>
                    </a:solidFill>
                    <a:latin typeface="Arial" panose="020B0604020202020204" pitchFamily="34" charset="0"/>
                    <a:cs typeface="Arial" panose="020B0604020202020204" pitchFamily="34" charset="0"/>
                  </a:rPr>
                  <a:t>forward mask, 333 </a:t>
                </a:r>
                <a:r>
                  <a:rPr lang="en-US" sz="2600" dirty="0" err="1">
                    <a:solidFill>
                      <a:schemeClr val="bg1"/>
                    </a:solidFill>
                    <a:latin typeface="Arial" panose="020B0604020202020204" pitchFamily="34" charset="0"/>
                    <a:cs typeface="Arial" panose="020B0604020202020204" pitchFamily="34" charset="0"/>
                  </a:rPr>
                  <a:t>ms</a:t>
                </a:r>
                <a:endParaRPr lang="en-US" sz="2600" dirty="0">
                  <a:solidFill>
                    <a:schemeClr val="bg1"/>
                  </a:solidFill>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5C0E4FAB-6B02-F948-A6C9-B9BECC33EB82}"/>
                  </a:ext>
                </a:extLst>
              </p:cNvPr>
              <p:cNvSpPr txBox="1"/>
              <p:nvPr/>
            </p:nvSpPr>
            <p:spPr>
              <a:xfrm>
                <a:off x="22537598" y="9098878"/>
                <a:ext cx="3299722" cy="382492"/>
              </a:xfrm>
              <a:prstGeom prst="rect">
                <a:avLst/>
              </a:prstGeom>
              <a:grpFill/>
              <a:ln>
                <a:noFill/>
              </a:ln>
            </p:spPr>
            <p:txBody>
              <a:bodyPr wrap="none" rtlCol="0">
                <a:spAutoFit/>
              </a:bodyPr>
              <a:lstStyle/>
              <a:p>
                <a:r>
                  <a:rPr lang="en-US" sz="2600" dirty="0">
                    <a:solidFill>
                      <a:schemeClr val="bg1"/>
                    </a:solidFill>
                    <a:latin typeface="Arial" panose="020B0604020202020204" pitchFamily="34" charset="0"/>
                    <a:cs typeface="Arial" panose="020B0604020202020204" pitchFamily="34" charset="0"/>
                  </a:rPr>
                  <a:t>backward mask, 33 </a:t>
                </a:r>
                <a:r>
                  <a:rPr lang="en-US" sz="2600" dirty="0" err="1">
                    <a:solidFill>
                      <a:schemeClr val="bg1"/>
                    </a:solidFill>
                    <a:latin typeface="Arial" panose="020B0604020202020204" pitchFamily="34" charset="0"/>
                    <a:cs typeface="Arial" panose="020B0604020202020204" pitchFamily="34" charset="0"/>
                  </a:rPr>
                  <a:t>ms</a:t>
                </a:r>
                <a:endParaRPr lang="en-US" sz="2600" dirty="0">
                  <a:solidFill>
                    <a:schemeClr val="bg1"/>
                  </a:solidFill>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94FE4E96-4570-D540-9C1B-2F5397194E6F}"/>
                  </a:ext>
                </a:extLst>
              </p:cNvPr>
              <p:cNvSpPr txBox="1"/>
              <p:nvPr/>
            </p:nvSpPr>
            <p:spPr>
              <a:xfrm>
                <a:off x="16001932" y="8380618"/>
                <a:ext cx="4576024" cy="382492"/>
              </a:xfrm>
              <a:prstGeom prst="rect">
                <a:avLst/>
              </a:prstGeom>
              <a:grpFill/>
              <a:ln>
                <a:noFill/>
              </a:ln>
            </p:spPr>
            <p:txBody>
              <a:bodyPr wrap="square" rtlCol="0">
                <a:spAutoFit/>
              </a:bodyPr>
              <a:lstStyle/>
              <a:p>
                <a:pPr algn="r"/>
                <a:r>
                  <a:rPr lang="en-US" sz="2600" dirty="0">
                    <a:solidFill>
                      <a:schemeClr val="bg1"/>
                    </a:solidFill>
                    <a:latin typeface="Arial" panose="020B0604020202020204" pitchFamily="34" charset="0"/>
                    <a:cs typeface="Arial" panose="020B0604020202020204" pitchFamily="34" charset="0"/>
                  </a:rPr>
                  <a:t>target (common name), 333 ms</a:t>
                </a:r>
              </a:p>
            </p:txBody>
          </p:sp>
          <p:sp>
            <p:nvSpPr>
              <p:cNvPr id="46" name="Rectangle 45">
                <a:extLst>
                  <a:ext uri="{FF2B5EF4-FFF2-40B4-BE49-F238E27FC236}">
                    <a16:creationId xmlns:a16="http://schemas.microsoft.com/office/drawing/2014/main" id="{886D02FE-B1DA-E84E-BC0F-A7A5C8EE3788}"/>
                  </a:ext>
                </a:extLst>
              </p:cNvPr>
              <p:cNvSpPr/>
              <p:nvPr/>
            </p:nvSpPr>
            <p:spPr>
              <a:xfrm>
                <a:off x="13904898" y="9205689"/>
                <a:ext cx="4059705" cy="670194"/>
              </a:xfrm>
              <a:prstGeom prst="rect">
                <a:avLst/>
              </a:prstGeom>
              <a:grpFill/>
              <a:ln>
                <a:noFill/>
              </a:ln>
            </p:spPr>
            <p:txBody>
              <a:bodyPr wrap="square">
                <a:spAutoFit/>
              </a:bodyPr>
              <a:lstStyle/>
              <a:p>
                <a:pPr algn="r"/>
                <a:r>
                  <a:rPr lang="en-US" sz="2600" dirty="0">
                    <a:solidFill>
                      <a:schemeClr val="bg1"/>
                    </a:solidFill>
                    <a:latin typeface="Arial" panose="020B0604020202020204" pitchFamily="34" charset="0"/>
                    <a:cs typeface="Arial" panose="020B0604020202020204" pitchFamily="34" charset="0"/>
                  </a:rPr>
                  <a:t>prime (NA category exemplar) 33 or 50 ms</a:t>
                </a:r>
              </a:p>
            </p:txBody>
          </p:sp>
        </p:grpSp>
        <p:sp>
          <p:nvSpPr>
            <p:cNvPr id="36" name="Rectangle 35">
              <a:extLst>
                <a:ext uri="{FF2B5EF4-FFF2-40B4-BE49-F238E27FC236}">
                  <a16:creationId xmlns:a16="http://schemas.microsoft.com/office/drawing/2014/main" id="{8882DE04-B7E3-BE48-8D91-C0C1802D40E3}"/>
                </a:ext>
              </a:extLst>
            </p:cNvPr>
            <p:cNvSpPr/>
            <p:nvPr/>
          </p:nvSpPr>
          <p:spPr bwMode="auto">
            <a:xfrm>
              <a:off x="24305647" y="6597667"/>
              <a:ext cx="2902616" cy="648073"/>
            </a:xfrm>
            <a:prstGeom prst="rect">
              <a:avLst/>
            </a:prstGeom>
            <a:grp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3717925" rtl="0" eaLnBrk="1" fontAlgn="base" latinLnBrk="0" hangingPunct="1">
                <a:lnSpc>
                  <a:spcPct val="100000"/>
                </a:lnSpc>
                <a:spcBef>
                  <a:spcPct val="0"/>
                </a:spcBef>
                <a:spcAft>
                  <a:spcPct val="0"/>
                </a:spcAft>
                <a:buClrTx/>
                <a:buSzTx/>
                <a:buFontTx/>
                <a:buNone/>
                <a:tabLst/>
              </a:pPr>
              <a:r>
                <a:rPr lang="en-US" sz="3600" dirty="0">
                  <a:solidFill>
                    <a:srgbClr val="FF0000"/>
                  </a:solidFill>
                  <a:latin typeface="Arial" panose="020B0604020202020204" pitchFamily="34" charset="0"/>
                  <a:cs typeface="Arial" panose="020B0604020202020204" pitchFamily="34" charset="0"/>
                </a:rPr>
                <a:t>!</a:t>
              </a:r>
              <a:endParaRPr kumimoji="0" lang="en-US" sz="3600" b="0" i="0" u="none" strike="noStrike" cap="none" normalizeH="0" baseline="0" dirty="0">
                <a:ln>
                  <a:noFill/>
                </a:ln>
                <a:solidFill>
                  <a:srgbClr val="FF0000"/>
                </a:solidFill>
                <a:effectLst/>
                <a:latin typeface="Arial" panose="020B0604020202020204" pitchFamily="34" charset="0"/>
                <a:cs typeface="Arial" panose="020B0604020202020204" pitchFamily="34" charset="0"/>
              </a:endParaRPr>
            </a:p>
          </p:txBody>
        </p:sp>
        <p:sp>
          <p:nvSpPr>
            <p:cNvPr id="37" name="Rectangle 36">
              <a:extLst>
                <a:ext uri="{FF2B5EF4-FFF2-40B4-BE49-F238E27FC236}">
                  <a16:creationId xmlns:a16="http://schemas.microsoft.com/office/drawing/2014/main" id="{DF1DE4C3-D65F-BB45-A90B-3B2D170A85A1}"/>
                </a:ext>
              </a:extLst>
            </p:cNvPr>
            <p:cNvSpPr/>
            <p:nvPr/>
          </p:nvSpPr>
          <p:spPr bwMode="auto">
            <a:xfrm>
              <a:off x="22597182" y="7047069"/>
              <a:ext cx="2902616" cy="648072"/>
            </a:xfrm>
            <a:prstGeom prst="rect">
              <a:avLst/>
            </a:prstGeom>
            <a:grp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3717925" rtl="0" eaLnBrk="1" fontAlgn="base" latinLnBrk="0" hangingPunct="1">
                <a:lnSpc>
                  <a:spcPct val="100000"/>
                </a:lnSpc>
                <a:spcBef>
                  <a:spcPct val="0"/>
                </a:spcBef>
                <a:spcAft>
                  <a:spcPct val="0"/>
                </a:spcAft>
                <a:buClrTx/>
                <a:buSzTx/>
                <a:buFontTx/>
                <a:buNone/>
                <a:tabLst/>
              </a:pPr>
              <a:r>
                <a:rPr lang="en-US" sz="3600" dirty="0">
                  <a:solidFill>
                    <a:schemeClr val="bg1"/>
                  </a:solidFill>
                  <a:latin typeface="Arial" panose="020B0604020202020204" pitchFamily="34" charset="0"/>
                  <a:cs typeface="Arial" panose="020B0604020202020204" pitchFamily="34" charset="0"/>
                </a:rPr>
                <a:t>lavender</a:t>
              </a:r>
              <a:endParaRPr kumimoji="0" lang="en-US" sz="3600" b="0" i="0" u="none" strike="noStrike" cap="none" normalizeH="0" baseline="0" dirty="0">
                <a:ln>
                  <a:noFill/>
                </a:ln>
                <a:solidFill>
                  <a:schemeClr val="bg1"/>
                </a:solidFill>
                <a:effectLst/>
                <a:latin typeface="Arial" panose="020B0604020202020204" pitchFamily="34" charset="0"/>
                <a:cs typeface="Arial" panose="020B0604020202020204" pitchFamily="34" charset="0"/>
              </a:endParaRPr>
            </a:p>
          </p:txBody>
        </p:sp>
        <p:pic>
          <p:nvPicPr>
            <p:cNvPr id="38" name="Picture 37">
              <a:extLst>
                <a:ext uri="{FF2B5EF4-FFF2-40B4-BE49-F238E27FC236}">
                  <a16:creationId xmlns:a16="http://schemas.microsoft.com/office/drawing/2014/main" id="{88D07B43-4C7F-3B48-B348-4EE158AD8875}"/>
                </a:ext>
              </a:extLst>
            </p:cNvPr>
            <p:cNvPicPr>
              <a:picLocks noChangeAspect="1"/>
            </p:cNvPicPr>
            <p:nvPr/>
          </p:nvPicPr>
          <p:blipFill>
            <a:blip r:embed="rId4"/>
            <a:stretch>
              <a:fillRect/>
            </a:stretch>
          </p:blipFill>
          <p:spPr>
            <a:xfrm>
              <a:off x="20323853" y="7590220"/>
              <a:ext cx="3981794" cy="698902"/>
            </a:xfrm>
            <a:prstGeom prst="rect">
              <a:avLst/>
            </a:prstGeom>
            <a:grpFill/>
            <a:ln>
              <a:solidFill>
                <a:schemeClr val="bg1"/>
              </a:solidFill>
            </a:ln>
          </p:spPr>
        </p:pic>
        <p:sp>
          <p:nvSpPr>
            <p:cNvPr id="39" name="Rectangle 38">
              <a:extLst>
                <a:ext uri="{FF2B5EF4-FFF2-40B4-BE49-F238E27FC236}">
                  <a16:creationId xmlns:a16="http://schemas.microsoft.com/office/drawing/2014/main" id="{07B77DF3-C0BB-A64E-8CEF-03BC65340AFB}"/>
                </a:ext>
              </a:extLst>
            </p:cNvPr>
            <p:cNvSpPr/>
            <p:nvPr/>
          </p:nvSpPr>
          <p:spPr bwMode="auto">
            <a:xfrm>
              <a:off x="19974051" y="8251000"/>
              <a:ext cx="2902616" cy="648072"/>
            </a:xfrm>
            <a:prstGeom prst="rect">
              <a:avLst/>
            </a:prstGeom>
            <a:grp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3717925" rtl="0" eaLnBrk="1" fontAlgn="base" latinLnBrk="0" hangingPunct="1">
                <a:lnSpc>
                  <a:spcPct val="100000"/>
                </a:lnSpc>
                <a:spcBef>
                  <a:spcPct val="0"/>
                </a:spcBef>
                <a:spcAft>
                  <a:spcPct val="0"/>
                </a:spcAft>
                <a:buClrTx/>
                <a:buSzTx/>
                <a:buFontTx/>
                <a:buNone/>
                <a:tabLst/>
              </a:pPr>
              <a:r>
                <a:rPr kumimoji="0" lang="en-US" sz="3600" b="0" i="0" u="none" strike="noStrike" cap="none" normalizeH="0" baseline="0" dirty="0">
                  <a:ln>
                    <a:noFill/>
                  </a:ln>
                  <a:solidFill>
                    <a:schemeClr val="bg1"/>
                  </a:solidFill>
                  <a:effectLst/>
                  <a:latin typeface="Arial" charset="0"/>
                </a:rPr>
                <a:t>MANDUBA</a:t>
              </a:r>
            </a:p>
          </p:txBody>
        </p:sp>
        <p:pic>
          <p:nvPicPr>
            <p:cNvPr id="40" name="Picture 39">
              <a:extLst>
                <a:ext uri="{FF2B5EF4-FFF2-40B4-BE49-F238E27FC236}">
                  <a16:creationId xmlns:a16="http://schemas.microsoft.com/office/drawing/2014/main" id="{BF71A866-FD3E-5342-8212-AAA509C60F6A}"/>
                </a:ext>
              </a:extLst>
            </p:cNvPr>
            <p:cNvPicPr>
              <a:picLocks noChangeAspect="1"/>
            </p:cNvPicPr>
            <p:nvPr/>
          </p:nvPicPr>
          <p:blipFill>
            <a:blip r:embed="rId5"/>
            <a:stretch>
              <a:fillRect/>
            </a:stretch>
          </p:blipFill>
          <p:spPr>
            <a:xfrm>
              <a:off x="18634383" y="8810120"/>
              <a:ext cx="3981794" cy="698902"/>
            </a:xfrm>
            <a:prstGeom prst="rect">
              <a:avLst/>
            </a:prstGeom>
            <a:grpFill/>
            <a:ln>
              <a:solidFill>
                <a:schemeClr val="bg1"/>
              </a:solidFill>
            </a:ln>
          </p:spPr>
        </p:pic>
        <p:sp>
          <p:nvSpPr>
            <p:cNvPr id="41" name="TextBox 40">
              <a:extLst>
                <a:ext uri="{FF2B5EF4-FFF2-40B4-BE49-F238E27FC236}">
                  <a16:creationId xmlns:a16="http://schemas.microsoft.com/office/drawing/2014/main" id="{57327AE7-E7D1-0448-93A5-98B63A90739A}"/>
                </a:ext>
              </a:extLst>
            </p:cNvPr>
            <p:cNvSpPr txBox="1"/>
            <p:nvPr/>
          </p:nvSpPr>
          <p:spPr>
            <a:xfrm>
              <a:off x="17693290" y="5984375"/>
              <a:ext cx="6439453" cy="970627"/>
            </a:xfrm>
            <a:prstGeom prst="rect">
              <a:avLst/>
            </a:prstGeom>
            <a:grpFill/>
            <a:ln>
              <a:noFill/>
            </a:ln>
          </p:spPr>
          <p:txBody>
            <a:bodyPr wrap="square" rtlCol="0">
              <a:spAutoFit/>
            </a:bodyPr>
            <a:lstStyle/>
            <a:p>
              <a:pPr algn="r"/>
              <a:r>
                <a:rPr lang="en-US" sz="2600" dirty="0">
                  <a:solidFill>
                    <a:schemeClr val="bg1"/>
                  </a:solidFill>
                  <a:latin typeface="Arial" panose="020B0604020202020204" pitchFamily="34" charset="0"/>
                  <a:cs typeface="Arial" panose="020B0604020202020204" pitchFamily="34" charset="0"/>
                </a:rPr>
                <a:t>response window, 133 ms, to encourage responding when the unconsciously-perceived prime is still present in memory</a:t>
              </a:r>
            </a:p>
          </p:txBody>
        </p:sp>
      </p:grpSp>
      <p:sp>
        <p:nvSpPr>
          <p:cNvPr id="86" name="Text Placeholder 3"/>
          <p:cNvSpPr txBox="1">
            <a:spLocks/>
          </p:cNvSpPr>
          <p:nvPr/>
        </p:nvSpPr>
        <p:spPr>
          <a:xfrm>
            <a:off x="16627258" y="24661717"/>
            <a:ext cx="27676326" cy="7850978"/>
          </a:xfrm>
          <a:prstGeom prst="rect">
            <a:avLst/>
          </a:prstGeom>
          <a:noFill/>
          <a:ln w="12700">
            <a:noFill/>
          </a:ln>
          <a:effectLst>
            <a:softEdge rad="50800"/>
          </a:effectLst>
        </p:spPr>
        <p:txBody>
          <a:bodyPr lIns="182880" tIns="365760" rIns="182880" bIns="365760" anchor="t"/>
          <a:lstStyle>
            <a:lvl1pPr marL="0" indent="0" algn="l" defTabSz="4388419" rtl="0" eaLnBrk="1" latinLnBrk="0" hangingPunct="1">
              <a:spcBef>
                <a:spcPts val="0"/>
              </a:spcBef>
              <a:spcAft>
                <a:spcPts val="5760"/>
              </a:spcAft>
              <a:buFont typeface="Arial" panose="020B0604020202020204" pitchFamily="34" charset="0"/>
              <a:buNone/>
              <a:defRPr sz="11520" kern="1200">
                <a:solidFill>
                  <a:schemeClr val="tx1"/>
                </a:solidFill>
                <a:latin typeface="Soleil" pitchFamily="50" charset="0"/>
                <a:ea typeface="+mn-ea"/>
                <a:cs typeface="+mn-cs"/>
              </a:defRPr>
            </a:lvl1pPr>
            <a:lvl2pPr marL="3839866" indent="-1645656" algn="l" defTabSz="4388419" rtl="0" eaLnBrk="1" latinLnBrk="0" hangingPunct="1">
              <a:spcBef>
                <a:spcPts val="0"/>
              </a:spcBef>
              <a:spcAft>
                <a:spcPts val="5760"/>
              </a:spcAft>
              <a:buFont typeface="Arial" panose="020B0604020202020204" pitchFamily="34" charset="0"/>
              <a:buChar char="•"/>
              <a:defRPr sz="11520" kern="1200">
                <a:solidFill>
                  <a:schemeClr val="tx1"/>
                </a:solidFill>
                <a:latin typeface="Soleil" pitchFamily="50" charset="0"/>
                <a:ea typeface="+mn-ea"/>
                <a:cs typeface="+mn-cs"/>
              </a:defRPr>
            </a:lvl2pPr>
            <a:lvl3pPr marL="6034075" indent="-1645656" algn="l" defTabSz="4388419" rtl="0" eaLnBrk="1" latinLnBrk="0" hangingPunct="1">
              <a:spcBef>
                <a:spcPts val="0"/>
              </a:spcBef>
              <a:spcAft>
                <a:spcPts val="5760"/>
              </a:spcAft>
              <a:buFont typeface="Soleil" pitchFamily="50" charset="0"/>
              <a:buChar char="–"/>
              <a:defRPr sz="9600" kern="1200">
                <a:solidFill>
                  <a:schemeClr val="tx1"/>
                </a:solidFill>
                <a:latin typeface="Soleil" pitchFamily="50" charset="0"/>
                <a:ea typeface="+mn-ea"/>
                <a:cs typeface="+mn-cs"/>
              </a:defRPr>
            </a:lvl3pPr>
            <a:lvl4pPr marL="8228285" indent="-1645656" algn="l" defTabSz="4388419" rtl="0" eaLnBrk="1" latinLnBrk="0" hangingPunct="1">
              <a:spcBef>
                <a:spcPts val="0"/>
              </a:spcBef>
              <a:spcAft>
                <a:spcPts val="5760"/>
              </a:spcAft>
              <a:buFont typeface="Arial" panose="020B0604020202020204" pitchFamily="34" charset="0"/>
              <a:buChar char="•"/>
              <a:defRPr sz="9600" kern="1200">
                <a:solidFill>
                  <a:schemeClr val="tx1"/>
                </a:solidFill>
                <a:latin typeface="Soleil" pitchFamily="50" charset="0"/>
                <a:ea typeface="+mn-ea"/>
                <a:cs typeface="+mn-cs"/>
              </a:defRPr>
            </a:lvl4pPr>
            <a:lvl5pPr marL="10148218" indent="-1371379" algn="l" defTabSz="4388419" rtl="0" eaLnBrk="1" latinLnBrk="0" hangingPunct="1">
              <a:spcBef>
                <a:spcPts val="0"/>
              </a:spcBef>
              <a:spcAft>
                <a:spcPts val="5760"/>
              </a:spcAft>
              <a:buFont typeface="Soleil" pitchFamily="50" charset="0"/>
              <a:buChar char="»"/>
              <a:defRPr sz="8640" kern="1200">
                <a:solidFill>
                  <a:schemeClr val="tx1"/>
                </a:solidFill>
                <a:latin typeface="Soleil" pitchFamily="50" charset="0"/>
                <a:ea typeface="+mn-ea"/>
                <a:cs typeface="+mn-cs"/>
              </a:defRPr>
            </a:lvl5pPr>
            <a:lvl6pPr marL="12616699" indent="-1645656" algn="l" defTabSz="4388419" rtl="0" eaLnBrk="1" latinLnBrk="0" hangingPunct="1">
              <a:spcBef>
                <a:spcPct val="20000"/>
              </a:spcBef>
              <a:buFont typeface="Soleil" pitchFamily="50" charset="0"/>
              <a:buChar char="»"/>
              <a:defRPr sz="8640" kern="1200">
                <a:solidFill>
                  <a:schemeClr val="tx1"/>
                </a:solidFill>
                <a:latin typeface="+mn-lt"/>
                <a:ea typeface="+mn-ea"/>
                <a:cs typeface="+mn-cs"/>
              </a:defRPr>
            </a:lvl6pPr>
            <a:lvl7pPr marL="14262360" indent="-1097102" algn="l" defTabSz="4388419"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7pPr>
            <a:lvl8pPr marL="16456565" indent="-1097102" algn="l" defTabSz="4388419"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8pPr>
            <a:lvl9pPr marL="18650774" indent="-1097102" algn="l" defTabSz="4388419"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9pPr>
          </a:lstStyle>
          <a:p>
            <a:pPr>
              <a:spcAft>
                <a:spcPts val="600"/>
              </a:spcAft>
            </a:pPr>
            <a:r>
              <a:rPr lang="en-US" sz="3600" b="1" dirty="0">
                <a:latin typeface="Arial" panose="020B0604020202020204" pitchFamily="34" charset="0"/>
                <a:cs typeface="Arial" panose="020B0604020202020204" pitchFamily="34" charset="0"/>
              </a:rPr>
              <a:t>Discussion</a:t>
            </a:r>
            <a:endParaRPr lang="en-US" sz="3600" dirty="0">
              <a:latin typeface="Arial" panose="020B0604020202020204" pitchFamily="34" charset="0"/>
              <a:ea typeface="Calibri" panose="020F0502020204030204" pitchFamily="34" charset="0"/>
              <a:cs typeface="Arial" panose="020B0604020202020204" pitchFamily="34" charset="0"/>
            </a:endParaRPr>
          </a:p>
          <a:p>
            <a:pPr marL="571500" indent="-571500">
              <a:spcAft>
                <a:spcPts val="600"/>
              </a:spcAft>
              <a:buFont typeface="Arial" panose="020B0604020202020204" pitchFamily="34" charset="0"/>
              <a:buChar char="•"/>
            </a:pPr>
            <a:r>
              <a:rPr lang="en-US" sz="3600" dirty="0">
                <a:latin typeface="Arial" panose="020B0604020202020204" pitchFamily="34" charset="0"/>
                <a:cs typeface="Arial" panose="020B0604020202020204" pitchFamily="34" charset="0"/>
              </a:rPr>
              <a:t>These experiments demonstrate that novel category exemplars are rapidly recruited into systems that handle unconscious processing of visual language.</a:t>
            </a:r>
          </a:p>
          <a:p>
            <a:pPr marL="571500" indent="-571500">
              <a:spcAft>
                <a:spcPts val="600"/>
              </a:spcAft>
              <a:buFont typeface="Arial" panose="020B0604020202020204" pitchFamily="34" charset="0"/>
              <a:buChar char="•"/>
            </a:pPr>
            <a:r>
              <a:rPr lang="en-US" sz="3600" dirty="0">
                <a:latin typeface="Arial" panose="020B0604020202020204" pitchFamily="34" charset="0"/>
                <a:cs typeface="Arial" panose="020B0604020202020204" pitchFamily="34" charset="0"/>
              </a:rPr>
              <a:t>Similar to overlearned words ,these NA category exemplars function as unconscious primes only after a session of practice/relearning.</a:t>
            </a:r>
          </a:p>
          <a:p>
            <a:pPr marL="571500" indent="-571500">
              <a:spcAft>
                <a:spcPts val="600"/>
              </a:spcAft>
              <a:buFont typeface="Arial" panose="020B0604020202020204" pitchFamily="34" charset="0"/>
              <a:buChar char="•"/>
            </a:pPr>
            <a:r>
              <a:rPr lang="en-US" sz="3600" dirty="0">
                <a:latin typeface="Arial" panose="020B0604020202020204" pitchFamily="34" charset="0"/>
                <a:cs typeface="Arial" panose="020B0604020202020204" pitchFamily="34" charset="0"/>
              </a:rPr>
              <a:t>The novel category exemplars ability to function as unconscious primes lasts for at least 48 hours and is dependent on prime duration. </a:t>
            </a:r>
          </a:p>
          <a:p>
            <a:pPr marL="571500" indent="-571500">
              <a:spcAft>
                <a:spcPts val="600"/>
              </a:spcAft>
              <a:buFont typeface="Arial" panose="020B0604020202020204" pitchFamily="34" charset="0"/>
              <a:buChar char="•"/>
            </a:pPr>
            <a:r>
              <a:rPr lang="en-US" sz="3600" dirty="0">
                <a:latin typeface="Arial" panose="020B0604020202020204" pitchFamily="34" charset="0"/>
                <a:cs typeface="Arial" panose="020B0604020202020204" pitchFamily="34" charset="0"/>
              </a:rPr>
              <a:t>Successful priming after 48 hours suggests that rapid recruitment may depend upon a prolonged opportunity to consolidate the newly learned verbal material, such as the intensive consolidation that occurs during overnight sleep (e.g. </a:t>
            </a:r>
            <a:r>
              <a:rPr lang="en-US" sz="3600" dirty="0" err="1">
                <a:latin typeface="Arial" panose="020B0604020202020204" pitchFamily="34" charset="0"/>
                <a:cs typeface="Arial" panose="020B0604020202020204" pitchFamily="34" charset="0"/>
              </a:rPr>
              <a:t>Saletin</a:t>
            </a:r>
            <a:r>
              <a:rPr lang="en-US" sz="3600" dirty="0">
                <a:latin typeface="Arial" panose="020B0604020202020204" pitchFamily="34" charset="0"/>
                <a:cs typeface="Arial" panose="020B0604020202020204" pitchFamily="34" charset="0"/>
              </a:rPr>
              <a:t> &amp; Walker, 2012). This opens up the intriguing possibility that that overnight sleep is necessary for the recruitment of novel words in to unconscious processing systems. </a:t>
            </a:r>
          </a:p>
        </p:txBody>
      </p:sp>
      <p:sp>
        <p:nvSpPr>
          <p:cNvPr id="32" name="Rectangle 31"/>
          <p:cNvSpPr/>
          <p:nvPr/>
        </p:nvSpPr>
        <p:spPr>
          <a:xfrm>
            <a:off x="16475290" y="17270958"/>
            <a:ext cx="27142122" cy="7850978"/>
          </a:xfrm>
          <a:prstGeom prst="rect">
            <a:avLst/>
          </a:prstGeom>
          <a:noFill/>
          <a:effectLst>
            <a:softEdge rad="50800"/>
          </a:effectLst>
        </p:spPr>
        <p:txBody>
          <a:bodyPr wrap="square" lIns="182880" tIns="365760" rIns="182880" bIns="365760" anchor="t">
            <a:noAutofit/>
          </a:bodyPr>
          <a:lstStyle/>
          <a:p>
            <a:pPr>
              <a:lnSpc>
                <a:spcPct val="107000"/>
              </a:lnSpc>
              <a:spcAft>
                <a:spcPts val="300"/>
              </a:spcAft>
            </a:pPr>
            <a:r>
              <a:rPr lang="en-US" sz="3600" b="1" dirty="0">
                <a:latin typeface="Arial" panose="020B0604020202020204" pitchFamily="34" charset="0"/>
                <a:ea typeface="Calibri" panose="020F0502020204030204" pitchFamily="34" charset="0"/>
                <a:cs typeface="Arial" panose="020B0604020202020204" pitchFamily="34" charset="0"/>
              </a:rPr>
              <a:t>Results</a:t>
            </a:r>
          </a:p>
          <a:p>
            <a:pPr>
              <a:lnSpc>
                <a:spcPct val="107000"/>
              </a:lnSpc>
              <a:spcAft>
                <a:spcPts val="300"/>
              </a:spcAft>
            </a:pPr>
            <a:r>
              <a:rPr lang="en-US" sz="3600" b="1" dirty="0">
                <a:latin typeface="Arial" panose="020B0604020202020204" pitchFamily="34" charset="0"/>
                <a:ea typeface="Calibri" panose="020F0502020204030204" pitchFamily="34" charset="0"/>
                <a:cs typeface="Arial" panose="020B0604020202020204" pitchFamily="34" charset="0"/>
              </a:rPr>
              <a:t>Experiment 1 (relearning after a 24-hour interval with 33 </a:t>
            </a:r>
            <a:r>
              <a:rPr lang="en-US" sz="3600" b="1" dirty="0" err="1">
                <a:latin typeface="Arial" panose="020B0604020202020204" pitchFamily="34" charset="0"/>
                <a:ea typeface="Calibri" panose="020F0502020204030204" pitchFamily="34" charset="0"/>
                <a:cs typeface="Arial" panose="020B0604020202020204" pitchFamily="34" charset="0"/>
              </a:rPr>
              <a:t>ms</a:t>
            </a:r>
            <a:r>
              <a:rPr lang="en-US" sz="3600" b="1" dirty="0">
                <a:latin typeface="Arial" panose="020B0604020202020204" pitchFamily="34" charset="0"/>
                <a:ea typeface="Calibri" panose="020F0502020204030204" pitchFamily="34" charset="0"/>
                <a:cs typeface="Arial" panose="020B0604020202020204" pitchFamily="34" charset="0"/>
              </a:rPr>
              <a:t> primes)</a:t>
            </a:r>
          </a:p>
          <a:p>
            <a:pPr marL="571500" marR="0" lvl="0" indent="-571500">
              <a:lnSpc>
                <a:spcPct val="107000"/>
              </a:lnSpc>
              <a:spcBef>
                <a:spcPts val="0"/>
              </a:spcBef>
              <a:spcAft>
                <a:spcPts val="300"/>
              </a:spcAft>
              <a:buFont typeface="Arial" panose="020B0604020202020204" pitchFamily="34" charset="0"/>
              <a:buChar char="•"/>
            </a:pPr>
            <a:r>
              <a:rPr lang="en-US" sz="3600" dirty="0">
                <a:latin typeface="Arial" panose="020B0604020202020204" pitchFamily="34" charset="0"/>
                <a:ea typeface="Calibri" panose="020F0502020204030204" pitchFamily="34" charset="0"/>
                <a:cs typeface="Arial" panose="020B0604020202020204" pitchFamily="34" charset="0"/>
              </a:rPr>
              <a:t>Priming task yielded significant priming, </a:t>
            </a:r>
            <a:r>
              <a:rPr lang="en-US" sz="3600" i="1" dirty="0">
                <a:latin typeface="Arial" panose="020B0604020202020204" pitchFamily="34" charset="0"/>
                <a:ea typeface="Calibri" panose="020F0502020204030204" pitchFamily="34" charset="0"/>
                <a:cs typeface="Arial" panose="020B0604020202020204" pitchFamily="34" charset="0"/>
              </a:rPr>
              <a:t>p</a:t>
            </a:r>
            <a:r>
              <a:rPr lang="en-US" sz="3600" dirty="0">
                <a:latin typeface="Arial" panose="020B0604020202020204" pitchFamily="34" charset="0"/>
                <a:ea typeface="Calibri" panose="020F0502020204030204" pitchFamily="34" charset="0"/>
                <a:cs typeface="Arial" panose="020B0604020202020204" pitchFamily="34" charset="0"/>
              </a:rPr>
              <a:t> = .008 or the difference in accuracy between congruent and incongruent trials for the NA exemplars from 33 </a:t>
            </a:r>
            <a:r>
              <a:rPr lang="en-US" sz="3600" dirty="0" err="1">
                <a:latin typeface="Arial" panose="020B0604020202020204" pitchFamily="34" charset="0"/>
                <a:ea typeface="Calibri" panose="020F0502020204030204" pitchFamily="34" charset="0"/>
                <a:cs typeface="Arial" panose="020B0604020202020204" pitchFamily="34" charset="0"/>
              </a:rPr>
              <a:t>ms</a:t>
            </a:r>
            <a:r>
              <a:rPr lang="en-US" sz="3600" dirty="0">
                <a:latin typeface="Arial" panose="020B0604020202020204" pitchFamily="34" charset="0"/>
                <a:ea typeface="Calibri" panose="020F0502020204030204" pitchFamily="34" charset="0"/>
                <a:cs typeface="Arial" panose="020B0604020202020204" pitchFamily="34" charset="0"/>
              </a:rPr>
              <a:t> primes (</a:t>
            </a:r>
            <a:r>
              <a:rPr lang="en-US" sz="3600" i="1" dirty="0">
                <a:latin typeface="Arial" panose="020B0604020202020204" pitchFamily="34" charset="0"/>
                <a:ea typeface="Calibri" panose="020F0502020204030204" pitchFamily="34" charset="0"/>
                <a:cs typeface="Arial" panose="020B0604020202020204" pitchFamily="34" charset="0"/>
              </a:rPr>
              <a:t>N </a:t>
            </a:r>
            <a:r>
              <a:rPr lang="en-US" sz="3600" dirty="0">
                <a:latin typeface="Arial" panose="020B0604020202020204" pitchFamily="34" charset="0"/>
                <a:ea typeface="Calibri" panose="020F0502020204030204" pitchFamily="34" charset="0"/>
                <a:cs typeface="Arial" panose="020B0604020202020204" pitchFamily="34" charset="0"/>
              </a:rPr>
              <a:t>= 19)</a:t>
            </a:r>
          </a:p>
          <a:p>
            <a:pPr>
              <a:lnSpc>
                <a:spcPct val="107000"/>
              </a:lnSpc>
              <a:spcAft>
                <a:spcPts val="300"/>
              </a:spcAft>
            </a:pPr>
            <a:r>
              <a:rPr lang="en-US" sz="3600" b="1" dirty="0">
                <a:latin typeface="Arial" panose="020B0604020202020204" pitchFamily="34" charset="0"/>
                <a:ea typeface="Calibri" panose="020F0502020204030204" pitchFamily="34" charset="0"/>
                <a:cs typeface="Arial" panose="020B0604020202020204" pitchFamily="34" charset="0"/>
              </a:rPr>
              <a:t>Experiment 2 (relearning vs. no relearning after a 48-hour interval with 33 </a:t>
            </a:r>
            <a:r>
              <a:rPr lang="en-US" sz="3600" b="1" dirty="0" err="1">
                <a:latin typeface="Arial" panose="020B0604020202020204" pitchFamily="34" charset="0"/>
                <a:ea typeface="Calibri" panose="020F0502020204030204" pitchFamily="34" charset="0"/>
                <a:cs typeface="Arial" panose="020B0604020202020204" pitchFamily="34" charset="0"/>
              </a:rPr>
              <a:t>ms</a:t>
            </a:r>
            <a:r>
              <a:rPr lang="en-US" sz="3600" b="1" dirty="0">
                <a:latin typeface="Arial" panose="020B0604020202020204" pitchFamily="34" charset="0"/>
                <a:ea typeface="Calibri" panose="020F0502020204030204" pitchFamily="34" charset="0"/>
                <a:cs typeface="Arial" panose="020B0604020202020204" pitchFamily="34" charset="0"/>
              </a:rPr>
              <a:t> and 50 </a:t>
            </a:r>
            <a:r>
              <a:rPr lang="en-US" sz="3600" b="1" dirty="0" err="1">
                <a:latin typeface="Arial" panose="020B0604020202020204" pitchFamily="34" charset="0"/>
                <a:ea typeface="Calibri" panose="020F0502020204030204" pitchFamily="34" charset="0"/>
                <a:cs typeface="Arial" panose="020B0604020202020204" pitchFamily="34" charset="0"/>
              </a:rPr>
              <a:t>ms</a:t>
            </a:r>
            <a:r>
              <a:rPr lang="en-US" sz="3600" b="1" dirty="0">
                <a:latin typeface="Arial" panose="020B0604020202020204" pitchFamily="34" charset="0"/>
                <a:ea typeface="Calibri" panose="020F0502020204030204" pitchFamily="34" charset="0"/>
                <a:cs typeface="Arial" panose="020B0604020202020204" pitchFamily="34" charset="0"/>
              </a:rPr>
              <a:t> primes)</a:t>
            </a:r>
          </a:p>
          <a:p>
            <a:pPr marL="571500" indent="-571500">
              <a:lnSpc>
                <a:spcPct val="107000"/>
              </a:lnSpc>
              <a:spcAft>
                <a:spcPts val="300"/>
              </a:spcAft>
              <a:buFont typeface="Arial" panose="020B0604020202020204" pitchFamily="34" charset="0"/>
              <a:buChar char="•"/>
            </a:pPr>
            <a:r>
              <a:rPr lang="en-US" sz="3600" dirty="0">
                <a:latin typeface="Arial" panose="020B0604020202020204" pitchFamily="34" charset="0"/>
                <a:ea typeface="Calibri" panose="020F0502020204030204" pitchFamily="34" charset="0"/>
                <a:cs typeface="Arial" panose="020B0604020202020204" pitchFamily="34" charset="0"/>
              </a:rPr>
              <a:t>Significant priming from the NA exemplars for relearning group (</a:t>
            </a:r>
            <a:r>
              <a:rPr lang="en-US" sz="3600" i="1" dirty="0">
                <a:latin typeface="Arial" panose="020B0604020202020204" pitchFamily="34" charset="0"/>
                <a:ea typeface="Calibri" panose="020F0502020204030204" pitchFamily="34" charset="0"/>
                <a:cs typeface="Arial" panose="020B0604020202020204" pitchFamily="34" charset="0"/>
              </a:rPr>
              <a:t>N </a:t>
            </a:r>
            <a:r>
              <a:rPr lang="en-US" sz="3600" dirty="0">
                <a:latin typeface="Arial" panose="020B0604020202020204" pitchFamily="34" charset="0"/>
                <a:ea typeface="Calibri" panose="020F0502020204030204" pitchFamily="34" charset="0"/>
                <a:cs typeface="Arial" panose="020B0604020202020204" pitchFamily="34" charset="0"/>
              </a:rPr>
              <a:t>= 20) in the 50 </a:t>
            </a:r>
            <a:r>
              <a:rPr lang="en-US" sz="3600" dirty="0" err="1">
                <a:latin typeface="Arial" panose="020B0604020202020204" pitchFamily="34" charset="0"/>
                <a:ea typeface="Calibri" panose="020F0502020204030204" pitchFamily="34" charset="0"/>
                <a:cs typeface="Arial" panose="020B0604020202020204" pitchFamily="34" charset="0"/>
              </a:rPr>
              <a:t>ms</a:t>
            </a:r>
            <a:r>
              <a:rPr lang="en-US" sz="3600" dirty="0">
                <a:latin typeface="Arial" panose="020B0604020202020204" pitchFamily="34" charset="0"/>
                <a:ea typeface="Calibri" panose="020F0502020204030204" pitchFamily="34" charset="0"/>
                <a:cs typeface="Arial" panose="020B0604020202020204" pitchFamily="34" charset="0"/>
              </a:rPr>
              <a:t> group, </a:t>
            </a:r>
            <a:r>
              <a:rPr lang="en-US" sz="3600" i="1" dirty="0">
                <a:latin typeface="Arial" panose="020B0604020202020204" pitchFamily="34" charset="0"/>
                <a:ea typeface="Calibri" panose="020F0502020204030204" pitchFamily="34" charset="0"/>
                <a:cs typeface="Arial" panose="020B0604020202020204" pitchFamily="34" charset="0"/>
              </a:rPr>
              <a:t>p</a:t>
            </a:r>
            <a:r>
              <a:rPr lang="en-US" sz="3600" dirty="0">
                <a:latin typeface="Arial" panose="020B0604020202020204" pitchFamily="34" charset="0"/>
                <a:ea typeface="Calibri" panose="020F0502020204030204" pitchFamily="34" charset="0"/>
                <a:cs typeface="Arial" panose="020B0604020202020204" pitchFamily="34" charset="0"/>
              </a:rPr>
              <a:t> = .024, but not for 33 </a:t>
            </a:r>
            <a:r>
              <a:rPr lang="en-US" sz="3600" dirty="0" err="1">
                <a:latin typeface="Arial" panose="020B0604020202020204" pitchFamily="34" charset="0"/>
                <a:ea typeface="Calibri" panose="020F0502020204030204" pitchFamily="34" charset="0"/>
                <a:cs typeface="Arial" panose="020B0604020202020204" pitchFamily="34" charset="0"/>
              </a:rPr>
              <a:t>ms</a:t>
            </a:r>
            <a:r>
              <a:rPr lang="en-US" sz="3600" dirty="0">
                <a:latin typeface="Arial" panose="020B0604020202020204" pitchFamily="34" charset="0"/>
                <a:ea typeface="Calibri" panose="020F0502020204030204" pitchFamily="34" charset="0"/>
                <a:cs typeface="Arial" panose="020B0604020202020204" pitchFamily="34" charset="0"/>
              </a:rPr>
              <a:t> relearning group, </a:t>
            </a:r>
            <a:r>
              <a:rPr lang="en-US" sz="3600" i="1" dirty="0">
                <a:latin typeface="Arial" panose="020B0604020202020204" pitchFamily="34" charset="0"/>
                <a:ea typeface="Calibri" panose="020F0502020204030204" pitchFamily="34" charset="0"/>
                <a:cs typeface="Arial" panose="020B0604020202020204" pitchFamily="34" charset="0"/>
              </a:rPr>
              <a:t>p</a:t>
            </a:r>
            <a:r>
              <a:rPr lang="en-US" sz="3600" dirty="0">
                <a:latin typeface="Arial" panose="020B0604020202020204" pitchFamily="34" charset="0"/>
                <a:ea typeface="Calibri" panose="020F0502020204030204" pitchFamily="34" charset="0"/>
                <a:cs typeface="Arial" panose="020B0604020202020204" pitchFamily="34" charset="0"/>
              </a:rPr>
              <a:t> = .643.</a:t>
            </a:r>
          </a:p>
          <a:p>
            <a:pPr marL="571500" indent="-571500">
              <a:lnSpc>
                <a:spcPct val="107000"/>
              </a:lnSpc>
              <a:spcAft>
                <a:spcPts val="300"/>
              </a:spcAft>
              <a:buFont typeface="Arial" panose="020B0604020202020204" pitchFamily="34" charset="0"/>
              <a:buChar char="•"/>
            </a:pPr>
            <a:r>
              <a:rPr lang="en-US" sz="3600" dirty="0">
                <a:latin typeface="Arial" panose="020B0604020202020204" pitchFamily="34" charset="0"/>
                <a:ea typeface="Calibri" panose="020F0502020204030204" pitchFamily="34" charset="0"/>
                <a:cs typeface="Arial" panose="020B0604020202020204" pitchFamily="34" charset="0"/>
              </a:rPr>
              <a:t>No evidence of significant priming from the NA exemplars for the no relearning group (</a:t>
            </a:r>
            <a:r>
              <a:rPr lang="en-US" sz="3600" i="1" dirty="0">
                <a:latin typeface="Arial" panose="020B0604020202020204" pitchFamily="34" charset="0"/>
                <a:ea typeface="Calibri" panose="020F0502020204030204" pitchFamily="34" charset="0"/>
                <a:cs typeface="Arial" panose="020B0604020202020204" pitchFamily="34" charset="0"/>
              </a:rPr>
              <a:t>N </a:t>
            </a:r>
            <a:r>
              <a:rPr lang="en-US" sz="3600" dirty="0">
                <a:latin typeface="Arial" panose="020B0604020202020204" pitchFamily="34" charset="0"/>
                <a:ea typeface="Calibri" panose="020F0502020204030204" pitchFamily="34" charset="0"/>
                <a:cs typeface="Arial" panose="020B0604020202020204" pitchFamily="34" charset="0"/>
              </a:rPr>
              <a:t>= 20) in both the 33 </a:t>
            </a:r>
            <a:r>
              <a:rPr lang="en-US" sz="3600" dirty="0" err="1">
                <a:latin typeface="Arial" panose="020B0604020202020204" pitchFamily="34" charset="0"/>
                <a:ea typeface="Calibri" panose="020F0502020204030204" pitchFamily="34" charset="0"/>
                <a:cs typeface="Arial" panose="020B0604020202020204" pitchFamily="34" charset="0"/>
              </a:rPr>
              <a:t>ms</a:t>
            </a:r>
            <a:r>
              <a:rPr lang="en-US" sz="3600" dirty="0">
                <a:latin typeface="Arial" panose="020B0604020202020204" pitchFamily="34" charset="0"/>
                <a:ea typeface="Calibri" panose="020F0502020204030204" pitchFamily="34" charset="0"/>
                <a:cs typeface="Arial" panose="020B0604020202020204" pitchFamily="34" charset="0"/>
              </a:rPr>
              <a:t> prime group, </a:t>
            </a:r>
            <a:r>
              <a:rPr lang="en-US" sz="3600" i="1" dirty="0">
                <a:latin typeface="Arial" panose="020B0604020202020204" pitchFamily="34" charset="0"/>
                <a:ea typeface="Calibri" panose="020F0502020204030204" pitchFamily="34" charset="0"/>
                <a:cs typeface="Arial" panose="020B0604020202020204" pitchFamily="34" charset="0"/>
              </a:rPr>
              <a:t>p = </a:t>
            </a:r>
            <a:r>
              <a:rPr lang="en-US" sz="3600" dirty="0">
                <a:latin typeface="Arial" panose="020B0604020202020204" pitchFamily="34" charset="0"/>
                <a:ea typeface="Calibri" panose="020F0502020204030204" pitchFamily="34" charset="0"/>
                <a:cs typeface="Arial" panose="020B0604020202020204" pitchFamily="34" charset="0"/>
              </a:rPr>
              <a:t>.918</a:t>
            </a:r>
            <a:r>
              <a:rPr lang="en-US" sz="3600" i="1" dirty="0">
                <a:latin typeface="Arial" panose="020B0604020202020204" pitchFamily="34" charset="0"/>
                <a:ea typeface="Calibri" panose="020F0502020204030204" pitchFamily="34" charset="0"/>
                <a:cs typeface="Arial" panose="020B0604020202020204" pitchFamily="34" charset="0"/>
              </a:rPr>
              <a:t>, </a:t>
            </a:r>
            <a:r>
              <a:rPr lang="en-US" sz="3600" dirty="0">
                <a:latin typeface="Arial" panose="020B0604020202020204" pitchFamily="34" charset="0"/>
                <a:ea typeface="Calibri" panose="020F0502020204030204" pitchFamily="34" charset="0"/>
                <a:cs typeface="Arial" panose="020B0604020202020204" pitchFamily="34" charset="0"/>
              </a:rPr>
              <a:t>or the 50 </a:t>
            </a:r>
            <a:r>
              <a:rPr lang="en-US" sz="3600" dirty="0" err="1">
                <a:latin typeface="Arial" panose="020B0604020202020204" pitchFamily="34" charset="0"/>
                <a:ea typeface="Calibri" panose="020F0502020204030204" pitchFamily="34" charset="0"/>
                <a:cs typeface="Arial" panose="020B0604020202020204" pitchFamily="34" charset="0"/>
              </a:rPr>
              <a:t>ms</a:t>
            </a:r>
            <a:r>
              <a:rPr lang="en-US" sz="3600" dirty="0">
                <a:latin typeface="Arial" panose="020B0604020202020204" pitchFamily="34" charset="0"/>
                <a:ea typeface="Calibri" panose="020F0502020204030204" pitchFamily="34" charset="0"/>
                <a:cs typeface="Arial" panose="020B0604020202020204" pitchFamily="34" charset="0"/>
              </a:rPr>
              <a:t> group, </a:t>
            </a:r>
            <a:r>
              <a:rPr lang="en-US" sz="3600" i="1" dirty="0">
                <a:latin typeface="Arial" panose="020B0604020202020204" pitchFamily="34" charset="0"/>
                <a:ea typeface="Calibri" panose="020F0502020204030204" pitchFamily="34" charset="0"/>
                <a:cs typeface="Arial" panose="020B0604020202020204" pitchFamily="34" charset="0"/>
              </a:rPr>
              <a:t>p </a:t>
            </a:r>
            <a:r>
              <a:rPr lang="en-US" sz="3600" dirty="0">
                <a:latin typeface="Arial" panose="020B0604020202020204" pitchFamily="34" charset="0"/>
                <a:ea typeface="Calibri" panose="020F0502020204030204" pitchFamily="34" charset="0"/>
                <a:cs typeface="Arial" panose="020B0604020202020204" pitchFamily="34" charset="0"/>
              </a:rPr>
              <a:t>= .685.</a:t>
            </a:r>
          </a:p>
          <a:p>
            <a:pPr marL="571500" indent="-571500">
              <a:lnSpc>
                <a:spcPct val="107000"/>
              </a:lnSpc>
              <a:spcAft>
                <a:spcPts val="300"/>
              </a:spcAft>
              <a:buFont typeface="Arial" panose="020B0604020202020204" pitchFamily="34" charset="0"/>
              <a:buChar char="•"/>
            </a:pPr>
            <a:r>
              <a:rPr lang="en-US" sz="3600" dirty="0">
                <a:latin typeface="Arial" panose="020B0604020202020204" pitchFamily="34" charset="0"/>
                <a:ea typeface="Calibri" panose="020F0502020204030204" pitchFamily="34" charset="0"/>
                <a:cs typeface="Arial" panose="020B0604020202020204" pitchFamily="34" charset="0"/>
              </a:rPr>
              <a:t>Visibility task indicated that the NA exemplars were consciously imperceptible in all conditions: </a:t>
            </a:r>
            <a:r>
              <a:rPr lang="en-US" sz="3600" dirty="0">
                <a:latin typeface="Arial" panose="020B0604020202020204" pitchFamily="34" charset="0"/>
                <a:cs typeface="Arial" panose="020B0604020202020204" pitchFamily="34" charset="0"/>
              </a:rPr>
              <a:t>R+ with 33 </a:t>
            </a:r>
            <a:r>
              <a:rPr lang="en-US" sz="3600" dirty="0" err="1">
                <a:latin typeface="Arial" panose="020B0604020202020204" pitchFamily="34" charset="0"/>
                <a:cs typeface="Arial" panose="020B0604020202020204" pitchFamily="34" charset="0"/>
              </a:rPr>
              <a:t>ms</a:t>
            </a:r>
            <a:r>
              <a:rPr lang="en-US" sz="3600" dirty="0">
                <a:latin typeface="Arial" panose="020B0604020202020204" pitchFamily="34" charset="0"/>
                <a:cs typeface="Arial" panose="020B0604020202020204" pitchFamily="34" charset="0"/>
              </a:rPr>
              <a:t> primes (</a:t>
            </a:r>
            <a:r>
              <a:rPr lang="en-US" sz="3600" i="1" dirty="0">
                <a:latin typeface="Arial" panose="020B0604020202020204" pitchFamily="34" charset="0"/>
                <a:cs typeface="Arial" panose="020B0604020202020204" pitchFamily="34" charset="0"/>
              </a:rPr>
              <a:t>M </a:t>
            </a:r>
            <a:r>
              <a:rPr lang="en-US" sz="3600" dirty="0">
                <a:latin typeface="Arial" panose="020B0604020202020204" pitchFamily="34" charset="0"/>
                <a:cs typeface="Arial" panose="020B0604020202020204" pitchFamily="34" charset="0"/>
              </a:rPr>
              <a:t>= 0.50, </a:t>
            </a:r>
            <a:r>
              <a:rPr lang="en-US" sz="3600" i="1" dirty="0">
                <a:latin typeface="Arial" panose="020B0604020202020204" pitchFamily="34" charset="0"/>
                <a:cs typeface="Arial" panose="020B0604020202020204" pitchFamily="34" charset="0"/>
              </a:rPr>
              <a:t>SD </a:t>
            </a:r>
            <a:r>
              <a:rPr lang="en-US" sz="3600" dirty="0">
                <a:latin typeface="Arial" panose="020B0604020202020204" pitchFamily="34" charset="0"/>
                <a:cs typeface="Arial" panose="020B0604020202020204" pitchFamily="34" charset="0"/>
              </a:rPr>
              <a:t>= 0.05; </a:t>
            </a:r>
            <a:r>
              <a:rPr lang="en-US" sz="3600" i="1" dirty="0">
                <a:latin typeface="Arial" panose="020B0604020202020204" pitchFamily="34" charset="0"/>
                <a:cs typeface="Arial" panose="020B0604020202020204" pitchFamily="34" charset="0"/>
              </a:rPr>
              <a:t>t</a:t>
            </a:r>
            <a:r>
              <a:rPr lang="en-US" sz="3600" dirty="0">
                <a:latin typeface="Arial" panose="020B0604020202020204" pitchFamily="34" charset="0"/>
                <a:cs typeface="Arial" panose="020B0604020202020204" pitchFamily="34" charset="0"/>
              </a:rPr>
              <a:t>(19) = -0.22, </a:t>
            </a:r>
            <a:r>
              <a:rPr lang="en-US" sz="3600" i="1" dirty="0">
                <a:latin typeface="Arial" panose="020B0604020202020204" pitchFamily="34" charset="0"/>
                <a:cs typeface="Arial" panose="020B0604020202020204" pitchFamily="34" charset="0"/>
              </a:rPr>
              <a:t>p = .</a:t>
            </a:r>
            <a:r>
              <a:rPr lang="en-US" sz="3600" dirty="0">
                <a:latin typeface="Arial" panose="020B0604020202020204" pitchFamily="34" charset="0"/>
                <a:cs typeface="Arial" panose="020B0604020202020204" pitchFamily="34" charset="0"/>
              </a:rPr>
              <a:t>825), R- with 33 </a:t>
            </a:r>
            <a:r>
              <a:rPr lang="en-US" sz="3600" dirty="0" err="1">
                <a:latin typeface="Arial" panose="020B0604020202020204" pitchFamily="34" charset="0"/>
                <a:cs typeface="Arial" panose="020B0604020202020204" pitchFamily="34" charset="0"/>
              </a:rPr>
              <a:t>ms</a:t>
            </a:r>
            <a:r>
              <a:rPr lang="en-US" sz="3600" dirty="0">
                <a:latin typeface="Arial" panose="020B0604020202020204" pitchFamily="34" charset="0"/>
                <a:cs typeface="Arial" panose="020B0604020202020204" pitchFamily="34" charset="0"/>
              </a:rPr>
              <a:t> primes (</a:t>
            </a:r>
            <a:r>
              <a:rPr lang="en-US" sz="3600" i="1" dirty="0">
                <a:latin typeface="Arial" panose="020B0604020202020204" pitchFamily="34" charset="0"/>
                <a:cs typeface="Arial" panose="020B0604020202020204" pitchFamily="34" charset="0"/>
              </a:rPr>
              <a:t>M </a:t>
            </a:r>
            <a:r>
              <a:rPr lang="en-US" sz="3600" dirty="0">
                <a:latin typeface="Arial" panose="020B0604020202020204" pitchFamily="34" charset="0"/>
                <a:cs typeface="Arial" panose="020B0604020202020204" pitchFamily="34" charset="0"/>
              </a:rPr>
              <a:t>= 0.48, </a:t>
            </a:r>
            <a:r>
              <a:rPr lang="en-US" sz="3600" i="1" dirty="0">
                <a:latin typeface="Arial" panose="020B0604020202020204" pitchFamily="34" charset="0"/>
                <a:cs typeface="Arial" panose="020B0604020202020204" pitchFamily="34" charset="0"/>
              </a:rPr>
              <a:t>SD </a:t>
            </a:r>
            <a:r>
              <a:rPr lang="en-US" sz="3600" dirty="0">
                <a:latin typeface="Arial" panose="020B0604020202020204" pitchFamily="34" charset="0"/>
                <a:cs typeface="Arial" panose="020B0604020202020204" pitchFamily="34" charset="0"/>
              </a:rPr>
              <a:t>= 0.05; </a:t>
            </a:r>
            <a:r>
              <a:rPr lang="en-US" sz="3600" i="1" dirty="0">
                <a:latin typeface="Arial" panose="020B0604020202020204" pitchFamily="34" charset="0"/>
                <a:cs typeface="Arial" panose="020B0604020202020204" pitchFamily="34" charset="0"/>
              </a:rPr>
              <a:t>t</a:t>
            </a:r>
            <a:r>
              <a:rPr lang="en-US" sz="3600" dirty="0">
                <a:latin typeface="Arial" panose="020B0604020202020204" pitchFamily="34" charset="0"/>
                <a:cs typeface="Arial" panose="020B0604020202020204" pitchFamily="34" charset="0"/>
              </a:rPr>
              <a:t>(19) = -1.59, </a:t>
            </a:r>
            <a:r>
              <a:rPr lang="en-US" sz="3600" i="1" dirty="0">
                <a:latin typeface="Arial" panose="020B0604020202020204" pitchFamily="34" charset="0"/>
                <a:cs typeface="Arial" panose="020B0604020202020204" pitchFamily="34" charset="0"/>
              </a:rPr>
              <a:t>p = .</a:t>
            </a:r>
            <a:r>
              <a:rPr lang="en-US" sz="3600" dirty="0">
                <a:latin typeface="Arial" panose="020B0604020202020204" pitchFamily="34" charset="0"/>
                <a:cs typeface="Arial" panose="020B0604020202020204" pitchFamily="34" charset="0"/>
              </a:rPr>
              <a:t>128), R+ with 50 </a:t>
            </a:r>
            <a:r>
              <a:rPr lang="en-US" sz="3600" dirty="0" err="1">
                <a:latin typeface="Arial" panose="020B0604020202020204" pitchFamily="34" charset="0"/>
                <a:cs typeface="Arial" panose="020B0604020202020204" pitchFamily="34" charset="0"/>
              </a:rPr>
              <a:t>ms</a:t>
            </a:r>
            <a:r>
              <a:rPr lang="en-US" sz="3600" dirty="0">
                <a:latin typeface="Arial" panose="020B0604020202020204" pitchFamily="34" charset="0"/>
                <a:cs typeface="Arial" panose="020B0604020202020204" pitchFamily="34" charset="0"/>
              </a:rPr>
              <a:t> primes, (</a:t>
            </a:r>
            <a:r>
              <a:rPr lang="en-US" sz="3600" i="1" dirty="0">
                <a:latin typeface="Arial" panose="020B0604020202020204" pitchFamily="34" charset="0"/>
                <a:cs typeface="Arial" panose="020B0604020202020204" pitchFamily="34" charset="0"/>
              </a:rPr>
              <a:t>M </a:t>
            </a:r>
            <a:r>
              <a:rPr lang="en-US" sz="3600" dirty="0">
                <a:latin typeface="Arial" panose="020B0604020202020204" pitchFamily="34" charset="0"/>
                <a:cs typeface="Arial" panose="020B0604020202020204" pitchFamily="34" charset="0"/>
              </a:rPr>
              <a:t>= 0.50, </a:t>
            </a:r>
            <a:r>
              <a:rPr lang="en-US" sz="3600" i="1" dirty="0">
                <a:latin typeface="Arial" panose="020B0604020202020204" pitchFamily="34" charset="0"/>
                <a:cs typeface="Arial" panose="020B0604020202020204" pitchFamily="34" charset="0"/>
              </a:rPr>
              <a:t>SD </a:t>
            </a:r>
            <a:r>
              <a:rPr lang="en-US" sz="3600" dirty="0">
                <a:latin typeface="Arial" panose="020B0604020202020204" pitchFamily="34" charset="0"/>
                <a:cs typeface="Arial" panose="020B0604020202020204" pitchFamily="34" charset="0"/>
              </a:rPr>
              <a:t>= 0.04; </a:t>
            </a:r>
            <a:r>
              <a:rPr lang="en-US" sz="3600" i="1" dirty="0">
                <a:latin typeface="Arial" panose="020B0604020202020204" pitchFamily="34" charset="0"/>
                <a:cs typeface="Arial" panose="020B0604020202020204" pitchFamily="34" charset="0"/>
              </a:rPr>
              <a:t>t</a:t>
            </a:r>
            <a:r>
              <a:rPr lang="en-US" sz="3600" dirty="0">
                <a:latin typeface="Arial" panose="020B0604020202020204" pitchFamily="34" charset="0"/>
                <a:cs typeface="Arial" panose="020B0604020202020204" pitchFamily="34" charset="0"/>
              </a:rPr>
              <a:t>(19) = -0.47, </a:t>
            </a:r>
            <a:r>
              <a:rPr lang="en-US" sz="3600" i="1" dirty="0">
                <a:latin typeface="Arial" panose="020B0604020202020204" pitchFamily="34" charset="0"/>
                <a:cs typeface="Arial" panose="020B0604020202020204" pitchFamily="34" charset="0"/>
              </a:rPr>
              <a:t>p = .</a:t>
            </a:r>
            <a:r>
              <a:rPr lang="en-US" sz="3600" dirty="0">
                <a:latin typeface="Arial" panose="020B0604020202020204" pitchFamily="34" charset="0"/>
                <a:cs typeface="Arial" panose="020B0604020202020204" pitchFamily="34" charset="0"/>
              </a:rPr>
              <a:t>641), and R- with 50 </a:t>
            </a:r>
            <a:r>
              <a:rPr lang="en-US" sz="3600" dirty="0" err="1">
                <a:latin typeface="Arial" panose="020B0604020202020204" pitchFamily="34" charset="0"/>
                <a:cs typeface="Arial" panose="020B0604020202020204" pitchFamily="34" charset="0"/>
              </a:rPr>
              <a:t>ms</a:t>
            </a:r>
            <a:r>
              <a:rPr lang="en-US" sz="3600" dirty="0">
                <a:latin typeface="Arial" panose="020B0604020202020204" pitchFamily="34" charset="0"/>
                <a:cs typeface="Arial" panose="020B0604020202020204" pitchFamily="34" charset="0"/>
              </a:rPr>
              <a:t> primes (</a:t>
            </a:r>
            <a:r>
              <a:rPr lang="en-US" sz="3600" i="1" dirty="0">
                <a:latin typeface="Arial" panose="020B0604020202020204" pitchFamily="34" charset="0"/>
                <a:cs typeface="Arial" panose="020B0604020202020204" pitchFamily="34" charset="0"/>
              </a:rPr>
              <a:t>M </a:t>
            </a:r>
            <a:r>
              <a:rPr lang="en-US" sz="3600" dirty="0">
                <a:latin typeface="Arial" panose="020B0604020202020204" pitchFamily="34" charset="0"/>
                <a:cs typeface="Arial" panose="020B0604020202020204" pitchFamily="34" charset="0"/>
              </a:rPr>
              <a:t>= 0.49, </a:t>
            </a:r>
            <a:r>
              <a:rPr lang="en-US" sz="3600" i="1" dirty="0">
                <a:latin typeface="Arial" panose="020B0604020202020204" pitchFamily="34" charset="0"/>
                <a:cs typeface="Arial" panose="020B0604020202020204" pitchFamily="34" charset="0"/>
              </a:rPr>
              <a:t>SD </a:t>
            </a:r>
            <a:r>
              <a:rPr lang="en-US" sz="3600" dirty="0">
                <a:latin typeface="Arial" panose="020B0604020202020204" pitchFamily="34" charset="0"/>
                <a:cs typeface="Arial" panose="020B0604020202020204" pitchFamily="34" charset="0"/>
              </a:rPr>
              <a:t>= 0.05; </a:t>
            </a:r>
            <a:r>
              <a:rPr lang="en-US" sz="3600" i="1" dirty="0">
                <a:latin typeface="Arial" panose="020B0604020202020204" pitchFamily="34" charset="0"/>
                <a:cs typeface="Arial" panose="020B0604020202020204" pitchFamily="34" charset="0"/>
              </a:rPr>
              <a:t>t</a:t>
            </a:r>
            <a:r>
              <a:rPr lang="en-US" sz="3600" dirty="0">
                <a:latin typeface="Arial" panose="020B0604020202020204" pitchFamily="34" charset="0"/>
                <a:cs typeface="Arial" panose="020B0604020202020204" pitchFamily="34" charset="0"/>
              </a:rPr>
              <a:t>(19) = -0.84, </a:t>
            </a:r>
            <a:r>
              <a:rPr lang="en-US" sz="3600" i="1" dirty="0">
                <a:latin typeface="Arial" panose="020B0604020202020204" pitchFamily="34" charset="0"/>
                <a:cs typeface="Arial" panose="020B0604020202020204" pitchFamily="34" charset="0"/>
              </a:rPr>
              <a:t>p = .</a:t>
            </a:r>
            <a:r>
              <a:rPr lang="en-US" sz="3600" dirty="0">
                <a:latin typeface="Arial" panose="020B0604020202020204" pitchFamily="34" charset="0"/>
                <a:cs typeface="Arial" panose="020B0604020202020204" pitchFamily="34" charset="0"/>
              </a:rPr>
              <a:t>414).</a:t>
            </a:r>
          </a:p>
          <a:p>
            <a:br>
              <a:rPr lang="en-US" sz="3600" dirty="0">
                <a:latin typeface="Arial" panose="020B0604020202020204" pitchFamily="34" charset="0"/>
                <a:cs typeface="Arial" panose="020B0604020202020204" pitchFamily="34" charset="0"/>
              </a:rPr>
            </a:br>
            <a:br>
              <a:rPr lang="en-US" sz="3600" dirty="0">
                <a:latin typeface="Arial" panose="020B0604020202020204" pitchFamily="34" charset="0"/>
                <a:cs typeface="Arial" panose="020B0604020202020204" pitchFamily="34" charset="0"/>
              </a:rPr>
            </a:br>
            <a:endParaRPr lang="en-US" sz="3600" dirty="0">
              <a:latin typeface="Arial" panose="020B0604020202020204" pitchFamily="34" charset="0"/>
              <a:ea typeface="Calibri" panose="020F0502020204030204" pitchFamily="34" charset="0"/>
              <a:cs typeface="Arial" panose="020B0604020202020204" pitchFamily="34" charset="0"/>
            </a:endParaRPr>
          </a:p>
          <a:p>
            <a:pPr marL="571500" indent="-571500">
              <a:lnSpc>
                <a:spcPct val="107000"/>
              </a:lnSpc>
              <a:spcAft>
                <a:spcPts val="300"/>
              </a:spcAft>
              <a:buFont typeface="Arial" panose="020B0604020202020204" pitchFamily="34" charset="0"/>
              <a:buChar char="•"/>
            </a:pPr>
            <a:endParaRPr lang="en-US" sz="3600" dirty="0">
              <a:latin typeface="Arial" panose="020B0604020202020204" pitchFamily="34" charset="0"/>
              <a:ea typeface="Calibri" panose="020F0502020204030204" pitchFamily="34" charset="0"/>
              <a:cs typeface="Arial" panose="020B0604020202020204" pitchFamily="34" charset="0"/>
            </a:endParaRPr>
          </a:p>
          <a:p>
            <a:pPr marL="571500" indent="-571500">
              <a:lnSpc>
                <a:spcPct val="107000"/>
              </a:lnSpc>
              <a:spcAft>
                <a:spcPts val="300"/>
              </a:spcAft>
              <a:buFont typeface="Arial" panose="020B0604020202020204" pitchFamily="34" charset="0"/>
              <a:buChar char="•"/>
            </a:pPr>
            <a:endParaRPr lang="en-US" sz="3600" dirty="0">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300"/>
              </a:spcAft>
            </a:pPr>
            <a:endParaRPr lang="en-US" sz="3600" b="1" dirty="0">
              <a:latin typeface="Arial" panose="020B0604020202020204" pitchFamily="34" charset="0"/>
              <a:ea typeface="Calibri" panose="020F050202020403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224CB7F1-2FC3-2848-BFE7-0D2ABF230FD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627258" y="4583595"/>
            <a:ext cx="26406692" cy="13113934"/>
          </a:xfrm>
          <a:prstGeom prst="rect">
            <a:avLst/>
          </a:prstGeom>
        </p:spPr>
      </p:pic>
    </p:spTree>
    <p:extLst>
      <p:ext uri="{BB962C8B-B14F-4D97-AF65-F5344CB8AC3E}">
        <p14:creationId xmlns:p14="http://schemas.microsoft.com/office/powerpoint/2010/main" val="437825681"/>
      </p:ext>
    </p:extLst>
  </p:cSld>
  <p:clrMapOvr>
    <a:masterClrMapping/>
  </p:clrMapOvr>
</p:sld>
</file>

<file path=ppt/theme/theme1.xml><?xml version="1.0" encoding="utf-8"?>
<a:theme xmlns:a="http://schemas.openxmlformats.org/drawingml/2006/main" name="StudyLA 1">
  <a:themeElements>
    <a:clrScheme name="StudyLA 1">
      <a:dk1>
        <a:sysClr val="windowText" lastClr="000000"/>
      </a:dk1>
      <a:lt1>
        <a:sysClr val="window" lastClr="FFFFFF"/>
      </a:lt1>
      <a:dk2>
        <a:srgbClr val="1F497D"/>
      </a:dk2>
      <a:lt2>
        <a:srgbClr val="A6A9AB"/>
      </a:lt2>
      <a:accent1>
        <a:srgbClr val="4A65AE"/>
      </a:accent1>
      <a:accent2>
        <a:srgbClr val="D54A99"/>
      </a:accent2>
      <a:accent3>
        <a:srgbClr val="F3A135"/>
      </a:accent3>
      <a:accent4>
        <a:srgbClr val="8BC543"/>
      </a:accent4>
      <a:accent5>
        <a:srgbClr val="8C5A9D"/>
      </a:accent5>
      <a:accent6>
        <a:srgbClr val="00A5AF"/>
      </a:accent6>
      <a:hlink>
        <a:srgbClr val="333333"/>
      </a:hlink>
      <a:folHlink>
        <a:srgbClr val="333333"/>
      </a:folHlink>
    </a:clrScheme>
    <a:fontScheme name="StudyLA 1">
      <a:majorFont>
        <a:latin typeface="Soleil"/>
        <a:ea typeface=""/>
        <a:cs typeface=""/>
      </a:majorFont>
      <a:minorFont>
        <a:latin typeface="Solei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2020 APS Poster" id="{A97EA14E-B04A-ED45-A012-0C6F8092674D}" vid="{7118AA48-0191-AC40-AA97-87D72F10983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StudyLA 1</Template>
  <TotalTime>60</TotalTime>
  <Words>778</Words>
  <Application>Microsoft Macintosh PowerPoint</Application>
  <PresentationFormat>Custom</PresentationFormat>
  <Paragraphs>45</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Soleil</vt:lpstr>
      <vt:lpstr>StudyLA 1</vt:lpstr>
      <vt:lpstr>Rapid and Durable Recruitment of Novel Words Into Unconscious Processing  Ariel Pruyser, Demarko Flanagan, Samantha Aniceto, Reed Morgan, Richard L. Abrams, Ph.D. Psychology Department, Loyola Marymount University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Rapid and Durable Recruitment of Novel Words In to Unconscious Processing  Ariel Pruyser, Demarko Flanagan, Samantha Aniceto, Reed Morgan, Richard L. Abrams, Ph.D. Psychology Department, Loyola Marymount University</dc:title>
  <dc:creator>Demarko Flanagan</dc:creator>
  <cp:lastModifiedBy>Demarko Flanagan</cp:lastModifiedBy>
  <cp:revision>7</cp:revision>
  <cp:lastPrinted>2018-02-27T03:16:22Z</cp:lastPrinted>
  <dcterms:created xsi:type="dcterms:W3CDTF">2020-05-23T20:32:52Z</dcterms:created>
  <dcterms:modified xsi:type="dcterms:W3CDTF">2020-05-27T03:34:02Z</dcterms:modified>
</cp:coreProperties>
</file>