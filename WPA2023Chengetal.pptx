
<file path=[Content_Types].xml><?xml version="1.0" encoding="utf-8"?>
<Types xmlns="http://schemas.openxmlformats.org/package/2006/content-types">
  <Default Extension="bin" ContentType="application/vnd.ms-office.activeX"/>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77"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76" userDrawn="1">
          <p15:clr>
            <a:srgbClr val="A4A3A4"/>
          </p15:clr>
        </p15:guide>
        <p15:guide id="2" orient="horz" pos="20160" userDrawn="1">
          <p15:clr>
            <a:srgbClr val="A4A3A4"/>
          </p15:clr>
        </p15:guide>
        <p15:guide id="3" pos="576" userDrawn="1">
          <p15:clr>
            <a:srgbClr val="A4A3A4"/>
          </p15:clr>
        </p15:guide>
        <p15:guide id="4" pos="27072" userDrawn="1">
          <p15:clr>
            <a:srgbClr val="A4A3A4"/>
          </p15:clr>
        </p15:guide>
        <p15:guide id="5" pos="9000" userDrawn="1">
          <p15:clr>
            <a:srgbClr val="A4A3A4"/>
          </p15:clr>
        </p15:guide>
        <p15:guide id="6" pos="8592" userDrawn="1">
          <p15:clr>
            <a:srgbClr val="A4A3A4"/>
          </p15:clr>
        </p15:guide>
        <p15:guide id="7" pos="18768" userDrawn="1">
          <p15:clr>
            <a:srgbClr val="A4A3A4"/>
          </p15:clr>
        </p15:guide>
        <p15:guide id="8" pos="18096" userDrawn="1">
          <p15:clr>
            <a:srgbClr val="A4A3A4"/>
          </p15:clr>
        </p15:guide>
        <p15:guide id="9" orient="horz" pos="2568" userDrawn="1">
          <p15:clr>
            <a:srgbClr val="A4A3A4"/>
          </p15:clr>
        </p15:guide>
        <p15:guide id="10" orient="horz" pos="3264" userDrawn="1">
          <p15:clr>
            <a:srgbClr val="A4A3A4"/>
          </p15:clr>
        </p15:guide>
        <p15:guide id="11" orient="horz" pos="6744" userDrawn="1">
          <p15:clr>
            <a:srgbClr val="A4A3A4"/>
          </p15:clr>
        </p15:guide>
        <p15:guide id="12" orient="horz" pos="11880" userDrawn="1">
          <p15:clr>
            <a:srgbClr val="A4A3A4"/>
          </p15:clr>
        </p15:guide>
        <p15:guide id="13" orient="horz" pos="13104" userDrawn="1">
          <p15:clr>
            <a:srgbClr val="A4A3A4"/>
          </p15:clr>
        </p15:guide>
        <p15:guide id="14" orient="horz" pos="13968" userDrawn="1">
          <p15:clr>
            <a:srgbClr val="A4A3A4"/>
          </p15:clr>
        </p15:guide>
        <p15:guide id="15" orient="horz" pos="9720" userDrawn="1">
          <p15:clr>
            <a:srgbClr val="A4A3A4"/>
          </p15:clr>
        </p15:guide>
        <p15:guide id="16" orient="horz" pos="10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D75"/>
    <a:srgbClr val="D06964"/>
    <a:srgbClr val="BFC0C0"/>
    <a:srgbClr val="FC9D9B"/>
    <a:srgbClr val="E8A97E"/>
    <a:srgbClr val="D18C41"/>
    <a:srgbClr val="D48C5D"/>
    <a:srgbClr val="BB7500"/>
    <a:srgbClr val="75A7E0"/>
    <a:srgbClr val="83B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C5D04-2225-BA51-9354-662F33DB5F3A}" v="402" dt="2023-04-21T06:03:22.863"/>
    <p1510:client id="{3C7444ED-6901-4C75-5633-4A11774B11FC}" v="270" dt="2023-04-21T06:31:45.758"/>
    <p1510:client id="{4635FAD2-B5FA-D904-E6BD-D6E429E7675D}" v="2" dt="2023-04-18T20:16:57.912"/>
    <p1510:client id="{51BAF8BB-7EB5-0D15-8339-E9B65DC3361B}" v="249" dt="2023-04-18T22:15:23.295"/>
    <p1510:client id="{5A675431-4B9E-5219-CD9D-0CC505253DC0}" v="304" dt="2023-04-19T04:37:58.407"/>
    <p1510:client id="{E197FF78-8D56-0236-F26F-F8A719F3333E}" v="7" dt="2023-04-21T06:44:10.739"/>
    <p1510:client id="{E2AEE7E8-5FF8-B43E-9406-676B1BFC0656}" v="516" dt="2023-04-19T05:03:41.179"/>
    <p1510:client id="{E34C2DF4-C904-C052-7BE1-F33562D174A0}" v="2075" dt="2023-04-18T23:49:26.962"/>
    <p1510:client id="{E4715739-CEE7-5D4F-10A5-24FBAD6E488D}" v="80" dt="2023-04-18T20:24:15.721"/>
    <p1510:client id="{E9E295A2-3470-ED79-5F98-88E06C7B22A0}" v="114" dt="2023-04-21T06:52:28.907"/>
    <p1510:client id="{F034B89C-DF54-9197-904C-29AD79FA43EE}" v="117" dt="2023-04-19T05:06:57.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54"/>
    <p:restoredTop sz="94643"/>
  </p:normalViewPr>
  <p:slideViewPr>
    <p:cSldViewPr snapToGrid="0">
      <p:cViewPr>
        <p:scale>
          <a:sx n="60" d="100"/>
          <a:sy n="60" d="100"/>
        </p:scale>
        <p:origin x="-5368" y="-6560"/>
      </p:cViewPr>
      <p:guideLst>
        <p:guide orient="horz" pos="3576"/>
        <p:guide orient="horz" pos="20160"/>
        <p:guide pos="576"/>
        <p:guide pos="27072"/>
        <p:guide pos="9000"/>
        <p:guide pos="8592"/>
        <p:guide pos="18768"/>
        <p:guide pos="18096"/>
        <p:guide orient="horz" pos="2568"/>
        <p:guide orient="horz" pos="3264"/>
        <p:guide orient="horz" pos="6744"/>
        <p:guide orient="horz" pos="11880"/>
        <p:guide orient="horz" pos="13104"/>
        <p:guide orient="horz" pos="13968"/>
        <p:guide orient="horz" pos="9720"/>
        <p:guide orient="horz" pos="101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4C599241-6926-101B-9992-00000B65C6F9}" ax:persistence="persistStorage" r:id="rId1"/>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Priming Task (33 </a:t>
            </a:r>
            <a:r>
              <a:rPr lang="en-US" sz="2000" dirty="0" err="1"/>
              <a:t>ms</a:t>
            </a:r>
            <a:r>
              <a:rPr lang="en-US" sz="2000" dirty="0"/>
              <a:t>) and Latency</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Brain Fog</c:v>
          </c:tx>
          <c:spPr>
            <a:ln w="19050" cap="rnd">
              <a:noFill/>
              <a:round/>
            </a:ln>
            <a:effectLst/>
          </c:spPr>
          <c:marker>
            <c:symbol val="circle"/>
            <c:size val="8"/>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0"/>
            <c:dispEq val="0"/>
          </c:trendline>
          <c:xVal>
            <c:numRef>
              <c:f>Sheet1!$A$2:$A$57</c:f>
              <c:numCache>
                <c:formatCode>General</c:formatCode>
                <c:ptCount val="56"/>
                <c:pt idx="0">
                  <c:v>3</c:v>
                </c:pt>
                <c:pt idx="1">
                  <c:v>6</c:v>
                </c:pt>
                <c:pt idx="2">
                  <c:v>7</c:v>
                </c:pt>
                <c:pt idx="3">
                  <c:v>7</c:v>
                </c:pt>
                <c:pt idx="5">
                  <c:v>4</c:v>
                </c:pt>
                <c:pt idx="6">
                  <c:v>1</c:v>
                </c:pt>
                <c:pt idx="7">
                  <c:v>2</c:v>
                </c:pt>
                <c:pt idx="8">
                  <c:v>3</c:v>
                </c:pt>
                <c:pt idx="10">
                  <c:v>3</c:v>
                </c:pt>
                <c:pt idx="11">
                  <c:v>4</c:v>
                </c:pt>
                <c:pt idx="12">
                  <c:v>1</c:v>
                </c:pt>
                <c:pt idx="13">
                  <c:v>8</c:v>
                </c:pt>
                <c:pt idx="14">
                  <c:v>1</c:v>
                </c:pt>
                <c:pt idx="16">
                  <c:v>1</c:v>
                </c:pt>
                <c:pt idx="17">
                  <c:v>3</c:v>
                </c:pt>
                <c:pt idx="18">
                  <c:v>9</c:v>
                </c:pt>
                <c:pt idx="21">
                  <c:v>7</c:v>
                </c:pt>
                <c:pt idx="22">
                  <c:v>7</c:v>
                </c:pt>
                <c:pt idx="23">
                  <c:v>6</c:v>
                </c:pt>
                <c:pt idx="24">
                  <c:v>3</c:v>
                </c:pt>
                <c:pt idx="25">
                  <c:v>5</c:v>
                </c:pt>
                <c:pt idx="26">
                  <c:v>7</c:v>
                </c:pt>
                <c:pt idx="29">
                  <c:v>1</c:v>
                </c:pt>
                <c:pt idx="31">
                  <c:v>2</c:v>
                </c:pt>
                <c:pt idx="32">
                  <c:v>5</c:v>
                </c:pt>
                <c:pt idx="33">
                  <c:v>4</c:v>
                </c:pt>
                <c:pt idx="34">
                  <c:v>5</c:v>
                </c:pt>
                <c:pt idx="35">
                  <c:v>5</c:v>
                </c:pt>
                <c:pt idx="36">
                  <c:v>1</c:v>
                </c:pt>
                <c:pt idx="37">
                  <c:v>7</c:v>
                </c:pt>
                <c:pt idx="38">
                  <c:v>9</c:v>
                </c:pt>
                <c:pt idx="39">
                  <c:v>5</c:v>
                </c:pt>
                <c:pt idx="42">
                  <c:v>1</c:v>
                </c:pt>
                <c:pt idx="43">
                  <c:v>8</c:v>
                </c:pt>
                <c:pt idx="45">
                  <c:v>6</c:v>
                </c:pt>
                <c:pt idx="46">
                  <c:v>1</c:v>
                </c:pt>
                <c:pt idx="48">
                  <c:v>6</c:v>
                </c:pt>
                <c:pt idx="49">
                  <c:v>4</c:v>
                </c:pt>
                <c:pt idx="50">
                  <c:v>1</c:v>
                </c:pt>
                <c:pt idx="52">
                  <c:v>8</c:v>
                </c:pt>
                <c:pt idx="54">
                  <c:v>2</c:v>
                </c:pt>
                <c:pt idx="55">
                  <c:v>1</c:v>
                </c:pt>
              </c:numCache>
            </c:numRef>
          </c:xVal>
          <c:yVal>
            <c:numRef>
              <c:f>Sheet1!$C$2:$C$57</c:f>
              <c:numCache>
                <c:formatCode>General</c:formatCode>
                <c:ptCount val="56"/>
                <c:pt idx="0">
                  <c:v>402.66</c:v>
                </c:pt>
                <c:pt idx="1">
                  <c:v>385.15</c:v>
                </c:pt>
                <c:pt idx="2">
                  <c:v>543.27</c:v>
                </c:pt>
                <c:pt idx="3">
                  <c:v>377.38</c:v>
                </c:pt>
                <c:pt idx="4">
                  <c:v>436.49</c:v>
                </c:pt>
                <c:pt idx="5">
                  <c:v>416.36</c:v>
                </c:pt>
                <c:pt idx="6">
                  <c:v>409.02</c:v>
                </c:pt>
                <c:pt idx="7">
                  <c:v>575.95000000000005</c:v>
                </c:pt>
                <c:pt idx="8">
                  <c:v>400.84</c:v>
                </c:pt>
                <c:pt idx="9">
                  <c:v>424.55</c:v>
                </c:pt>
                <c:pt idx="10">
                  <c:v>392.61</c:v>
                </c:pt>
                <c:pt idx="11">
                  <c:v>414.09</c:v>
                </c:pt>
                <c:pt idx="12">
                  <c:v>459.89</c:v>
                </c:pt>
                <c:pt idx="13">
                  <c:v>445.68</c:v>
                </c:pt>
                <c:pt idx="14">
                  <c:v>421.42</c:v>
                </c:pt>
                <c:pt idx="15">
                  <c:v>414.18</c:v>
                </c:pt>
                <c:pt idx="16">
                  <c:v>443.61</c:v>
                </c:pt>
                <c:pt idx="17">
                  <c:v>426.62</c:v>
                </c:pt>
                <c:pt idx="18">
                  <c:v>394.81</c:v>
                </c:pt>
                <c:pt idx="19">
                  <c:v>399.08</c:v>
                </c:pt>
                <c:pt idx="20">
                  <c:v>514.16</c:v>
                </c:pt>
                <c:pt idx="21">
                  <c:v>523.41</c:v>
                </c:pt>
                <c:pt idx="22">
                  <c:v>360.86</c:v>
                </c:pt>
                <c:pt idx="23">
                  <c:v>504.99</c:v>
                </c:pt>
                <c:pt idx="24">
                  <c:v>449.95</c:v>
                </c:pt>
                <c:pt idx="25">
                  <c:v>473.84</c:v>
                </c:pt>
                <c:pt idx="26">
                  <c:v>466.23</c:v>
                </c:pt>
                <c:pt idx="27">
                  <c:v>552.11</c:v>
                </c:pt>
                <c:pt idx="28">
                  <c:v>454.05</c:v>
                </c:pt>
                <c:pt idx="29">
                  <c:v>527.72</c:v>
                </c:pt>
                <c:pt idx="30">
                  <c:v>493.17</c:v>
                </c:pt>
                <c:pt idx="31">
                  <c:v>459.64</c:v>
                </c:pt>
                <c:pt idx="32">
                  <c:v>414.25</c:v>
                </c:pt>
                <c:pt idx="33">
                  <c:v>472.88</c:v>
                </c:pt>
                <c:pt idx="34">
                  <c:v>448.03</c:v>
                </c:pt>
                <c:pt idx="35">
                  <c:v>531.35</c:v>
                </c:pt>
                <c:pt idx="36">
                  <c:v>467.28</c:v>
                </c:pt>
                <c:pt idx="37">
                  <c:v>496.59</c:v>
                </c:pt>
                <c:pt idx="38">
                  <c:v>483.34</c:v>
                </c:pt>
                <c:pt idx="39">
                  <c:v>467.16</c:v>
                </c:pt>
                <c:pt idx="40">
                  <c:v>480.61</c:v>
                </c:pt>
                <c:pt idx="41">
                  <c:v>434.11</c:v>
                </c:pt>
                <c:pt idx="42">
                  <c:v>454.83</c:v>
                </c:pt>
                <c:pt idx="43">
                  <c:v>432.77</c:v>
                </c:pt>
                <c:pt idx="44">
                  <c:v>541.16999999999996</c:v>
                </c:pt>
                <c:pt idx="45">
                  <c:v>458.53</c:v>
                </c:pt>
                <c:pt idx="46">
                  <c:v>422.67</c:v>
                </c:pt>
                <c:pt idx="47">
                  <c:v>546.46</c:v>
                </c:pt>
                <c:pt idx="48">
                  <c:v>483.73</c:v>
                </c:pt>
                <c:pt idx="49">
                  <c:v>445.99</c:v>
                </c:pt>
                <c:pt idx="50">
                  <c:v>449.05</c:v>
                </c:pt>
                <c:pt idx="51">
                  <c:v>514.75</c:v>
                </c:pt>
                <c:pt idx="52">
                  <c:v>550.97</c:v>
                </c:pt>
                <c:pt idx="53">
                  <c:v>484.89</c:v>
                </c:pt>
                <c:pt idx="54">
                  <c:v>483.5</c:v>
                </c:pt>
                <c:pt idx="55">
                  <c:v>457.74</c:v>
                </c:pt>
              </c:numCache>
            </c:numRef>
          </c:yVal>
          <c:smooth val="0"/>
          <c:extLst>
            <c:ext xmlns:c16="http://schemas.microsoft.com/office/drawing/2014/chart" uri="{C3380CC4-5D6E-409C-BE32-E72D297353CC}">
              <c16:uniqueId val="{00000000-DA40-B342-B13A-5101BD32AFF4}"/>
            </c:ext>
          </c:extLst>
        </c:ser>
        <c:ser>
          <c:idx val="1"/>
          <c:order val="1"/>
          <c:tx>
            <c:v>Severity</c:v>
          </c:tx>
          <c:spPr>
            <a:ln w="25400" cap="rnd">
              <a:noFill/>
              <a:round/>
            </a:ln>
            <a:effectLst/>
          </c:spPr>
          <c:marker>
            <c:symbol val="circle"/>
            <c:size val="8"/>
            <c:spPr>
              <a:solidFill>
                <a:srgbClr val="7030A0"/>
              </a:solidFill>
              <a:ln w="9525">
                <a:solidFill>
                  <a:srgbClr val="7030A0"/>
                </a:solidFill>
              </a:ln>
              <a:effectLst/>
            </c:spPr>
          </c:marker>
          <c:trendline>
            <c:spPr>
              <a:ln w="19050" cap="rnd">
                <a:solidFill>
                  <a:srgbClr val="7030A0"/>
                </a:solidFill>
                <a:prstDash val="sysDot"/>
              </a:ln>
              <a:effectLst/>
            </c:spPr>
            <c:trendlineType val="linear"/>
            <c:dispRSqr val="0"/>
            <c:dispEq val="0"/>
          </c:trendline>
          <c:xVal>
            <c:numRef>
              <c:f>Sheet1!$B$2:$B$57</c:f>
              <c:numCache>
                <c:formatCode>General</c:formatCode>
                <c:ptCount val="56"/>
                <c:pt idx="0">
                  <c:v>3</c:v>
                </c:pt>
                <c:pt idx="1">
                  <c:v>6</c:v>
                </c:pt>
                <c:pt idx="2">
                  <c:v>3</c:v>
                </c:pt>
                <c:pt idx="3">
                  <c:v>3</c:v>
                </c:pt>
                <c:pt idx="5">
                  <c:v>6</c:v>
                </c:pt>
                <c:pt idx="6">
                  <c:v>1</c:v>
                </c:pt>
                <c:pt idx="7">
                  <c:v>3</c:v>
                </c:pt>
                <c:pt idx="8">
                  <c:v>5</c:v>
                </c:pt>
                <c:pt idx="10">
                  <c:v>6</c:v>
                </c:pt>
                <c:pt idx="11">
                  <c:v>3</c:v>
                </c:pt>
                <c:pt idx="12">
                  <c:v>2</c:v>
                </c:pt>
                <c:pt idx="13">
                  <c:v>8</c:v>
                </c:pt>
                <c:pt idx="14">
                  <c:v>1</c:v>
                </c:pt>
                <c:pt idx="16">
                  <c:v>2</c:v>
                </c:pt>
                <c:pt idx="17">
                  <c:v>3</c:v>
                </c:pt>
                <c:pt idx="18">
                  <c:v>7</c:v>
                </c:pt>
                <c:pt idx="21">
                  <c:v>6</c:v>
                </c:pt>
                <c:pt idx="22">
                  <c:v>9</c:v>
                </c:pt>
                <c:pt idx="23">
                  <c:v>2</c:v>
                </c:pt>
                <c:pt idx="24">
                  <c:v>8</c:v>
                </c:pt>
                <c:pt idx="25">
                  <c:v>8</c:v>
                </c:pt>
                <c:pt idx="26">
                  <c:v>4</c:v>
                </c:pt>
                <c:pt idx="29">
                  <c:v>2</c:v>
                </c:pt>
                <c:pt idx="31">
                  <c:v>2</c:v>
                </c:pt>
                <c:pt idx="32">
                  <c:v>7</c:v>
                </c:pt>
                <c:pt idx="33">
                  <c:v>7</c:v>
                </c:pt>
                <c:pt idx="34">
                  <c:v>7</c:v>
                </c:pt>
                <c:pt idx="35">
                  <c:v>3</c:v>
                </c:pt>
                <c:pt idx="36">
                  <c:v>5</c:v>
                </c:pt>
                <c:pt idx="37">
                  <c:v>3</c:v>
                </c:pt>
                <c:pt idx="38">
                  <c:v>6</c:v>
                </c:pt>
                <c:pt idx="39">
                  <c:v>3</c:v>
                </c:pt>
                <c:pt idx="42">
                  <c:v>5</c:v>
                </c:pt>
                <c:pt idx="43">
                  <c:v>4</c:v>
                </c:pt>
                <c:pt idx="45">
                  <c:v>6</c:v>
                </c:pt>
                <c:pt idx="46">
                  <c:v>3</c:v>
                </c:pt>
                <c:pt idx="48">
                  <c:v>2</c:v>
                </c:pt>
                <c:pt idx="49">
                  <c:v>6</c:v>
                </c:pt>
                <c:pt idx="50">
                  <c:v>5</c:v>
                </c:pt>
                <c:pt idx="52">
                  <c:v>7</c:v>
                </c:pt>
                <c:pt idx="54">
                  <c:v>3</c:v>
                </c:pt>
                <c:pt idx="55">
                  <c:v>1</c:v>
                </c:pt>
              </c:numCache>
            </c:numRef>
          </c:xVal>
          <c:yVal>
            <c:numRef>
              <c:f>Sheet1!$C$2:$C$57</c:f>
              <c:numCache>
                <c:formatCode>General</c:formatCode>
                <c:ptCount val="56"/>
                <c:pt idx="0">
                  <c:v>402.66</c:v>
                </c:pt>
                <c:pt idx="1">
                  <c:v>385.15</c:v>
                </c:pt>
                <c:pt idx="2">
                  <c:v>543.27</c:v>
                </c:pt>
                <c:pt idx="3">
                  <c:v>377.38</c:v>
                </c:pt>
                <c:pt idx="4">
                  <c:v>436.49</c:v>
                </c:pt>
                <c:pt idx="5">
                  <c:v>416.36</c:v>
                </c:pt>
                <c:pt idx="6">
                  <c:v>409.02</c:v>
                </c:pt>
                <c:pt idx="7">
                  <c:v>575.95000000000005</c:v>
                </c:pt>
                <c:pt idx="8">
                  <c:v>400.84</c:v>
                </c:pt>
                <c:pt idx="9">
                  <c:v>424.55</c:v>
                </c:pt>
                <c:pt idx="10">
                  <c:v>392.61</c:v>
                </c:pt>
                <c:pt idx="11">
                  <c:v>414.09</c:v>
                </c:pt>
                <c:pt idx="12">
                  <c:v>459.89</c:v>
                </c:pt>
                <c:pt idx="13">
                  <c:v>445.68</c:v>
                </c:pt>
                <c:pt idx="14">
                  <c:v>421.42</c:v>
                </c:pt>
                <c:pt idx="15">
                  <c:v>414.18</c:v>
                </c:pt>
                <c:pt idx="16">
                  <c:v>443.61</c:v>
                </c:pt>
                <c:pt idx="17">
                  <c:v>426.62</c:v>
                </c:pt>
                <c:pt idx="18">
                  <c:v>394.81</c:v>
                </c:pt>
                <c:pt idx="19">
                  <c:v>399.08</c:v>
                </c:pt>
                <c:pt idx="20">
                  <c:v>514.16</c:v>
                </c:pt>
                <c:pt idx="21">
                  <c:v>523.41</c:v>
                </c:pt>
                <c:pt idx="22">
                  <c:v>360.86</c:v>
                </c:pt>
                <c:pt idx="23">
                  <c:v>504.99</c:v>
                </c:pt>
                <c:pt idx="24">
                  <c:v>449.95</c:v>
                </c:pt>
                <c:pt idx="25">
                  <c:v>473.84</c:v>
                </c:pt>
                <c:pt idx="26">
                  <c:v>466.23</c:v>
                </c:pt>
                <c:pt idx="27">
                  <c:v>552.11</c:v>
                </c:pt>
                <c:pt idx="28">
                  <c:v>454.05</c:v>
                </c:pt>
                <c:pt idx="29">
                  <c:v>527.72</c:v>
                </c:pt>
                <c:pt idx="30">
                  <c:v>493.17</c:v>
                </c:pt>
                <c:pt idx="31">
                  <c:v>459.64</c:v>
                </c:pt>
                <c:pt idx="32">
                  <c:v>414.25</c:v>
                </c:pt>
                <c:pt idx="33">
                  <c:v>472.88</c:v>
                </c:pt>
                <c:pt idx="34">
                  <c:v>448.03</c:v>
                </c:pt>
                <c:pt idx="35">
                  <c:v>531.35</c:v>
                </c:pt>
                <c:pt idx="36">
                  <c:v>467.28</c:v>
                </c:pt>
                <c:pt idx="37">
                  <c:v>496.59</c:v>
                </c:pt>
                <c:pt idx="38">
                  <c:v>483.34</c:v>
                </c:pt>
                <c:pt idx="39">
                  <c:v>467.16</c:v>
                </c:pt>
                <c:pt idx="40">
                  <c:v>480.61</c:v>
                </c:pt>
                <c:pt idx="41">
                  <c:v>434.11</c:v>
                </c:pt>
                <c:pt idx="42">
                  <c:v>454.83</c:v>
                </c:pt>
                <c:pt idx="43">
                  <c:v>432.77</c:v>
                </c:pt>
                <c:pt idx="44">
                  <c:v>541.16999999999996</c:v>
                </c:pt>
                <c:pt idx="45">
                  <c:v>458.53</c:v>
                </c:pt>
                <c:pt idx="46">
                  <c:v>422.67</c:v>
                </c:pt>
                <c:pt idx="47">
                  <c:v>546.46</c:v>
                </c:pt>
                <c:pt idx="48">
                  <c:v>483.73</c:v>
                </c:pt>
                <c:pt idx="49">
                  <c:v>445.99</c:v>
                </c:pt>
                <c:pt idx="50">
                  <c:v>449.05</c:v>
                </c:pt>
                <c:pt idx="51">
                  <c:v>514.75</c:v>
                </c:pt>
                <c:pt idx="52">
                  <c:v>550.97</c:v>
                </c:pt>
                <c:pt idx="53">
                  <c:v>484.89</c:v>
                </c:pt>
                <c:pt idx="54">
                  <c:v>483.5</c:v>
                </c:pt>
                <c:pt idx="55">
                  <c:v>457.74</c:v>
                </c:pt>
              </c:numCache>
            </c:numRef>
          </c:yVal>
          <c:smooth val="0"/>
          <c:extLst>
            <c:ext xmlns:c16="http://schemas.microsoft.com/office/drawing/2014/chart" uri="{C3380CC4-5D6E-409C-BE32-E72D297353CC}">
              <c16:uniqueId val="{00000001-DA40-B342-B13A-5101BD32AFF4}"/>
            </c:ext>
          </c:extLst>
        </c:ser>
        <c:dLbls>
          <c:showLegendKey val="0"/>
          <c:showVal val="0"/>
          <c:showCatName val="0"/>
          <c:showSerName val="0"/>
          <c:showPercent val="0"/>
          <c:showBubbleSize val="0"/>
        </c:dLbls>
        <c:axId val="1337071055"/>
        <c:axId val="1337072703"/>
      </c:scatterChart>
      <c:valAx>
        <c:axId val="133707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2703"/>
        <c:crosses val="autoZero"/>
        <c:crossBetween val="midCat"/>
      </c:valAx>
      <c:valAx>
        <c:axId val="1337072703"/>
        <c:scaling>
          <c:orientation val="minMax"/>
          <c:min val="3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dirty="0"/>
                  <a:t>Overall Latency (</a:t>
                </a:r>
                <a:r>
                  <a:rPr lang="en-US" sz="2000" baseline="0" dirty="0" err="1"/>
                  <a:t>ms</a:t>
                </a:r>
                <a:r>
                  <a:rPr lang="en-US" sz="2000" baseline="0" dirty="0"/>
                  <a:t>)</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1055"/>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Priming Task (33 </a:t>
            </a:r>
            <a:r>
              <a:rPr lang="en-US" sz="2000" dirty="0" err="1"/>
              <a:t>ms</a:t>
            </a:r>
            <a:r>
              <a:rPr lang="en-US" sz="2000" dirty="0"/>
              <a:t>) and</a:t>
            </a:r>
            <a:r>
              <a:rPr lang="en-US" sz="2000" baseline="0" dirty="0"/>
              <a:t> Accuracy</a:t>
            </a:r>
            <a:endParaRPr lang="en-US" sz="2000" dirty="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15169087851996"/>
          <c:y val="0.11568093911803176"/>
          <c:w val="0.67906613286992124"/>
          <c:h val="0.80259334963480256"/>
        </c:manualLayout>
      </c:layout>
      <c:scatterChart>
        <c:scatterStyle val="lineMarker"/>
        <c:varyColors val="0"/>
        <c:ser>
          <c:idx val="0"/>
          <c:order val="0"/>
          <c:tx>
            <c:v>Brain Fog</c:v>
          </c:tx>
          <c:spPr>
            <a:ln w="19050" cap="rnd">
              <a:noFill/>
              <a:round/>
            </a:ln>
            <a:effectLst/>
          </c:spPr>
          <c:marker>
            <c:symbol val="circle"/>
            <c:size val="8"/>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0"/>
            <c:dispEq val="0"/>
          </c:trendline>
          <c:xVal>
            <c:numRef>
              <c:f>Sheet1!$A$2:$A$57</c:f>
              <c:numCache>
                <c:formatCode>General</c:formatCode>
                <c:ptCount val="56"/>
                <c:pt idx="0">
                  <c:v>3</c:v>
                </c:pt>
                <c:pt idx="1">
                  <c:v>6</c:v>
                </c:pt>
                <c:pt idx="2">
                  <c:v>7</c:v>
                </c:pt>
                <c:pt idx="3">
                  <c:v>7</c:v>
                </c:pt>
                <c:pt idx="5">
                  <c:v>4</c:v>
                </c:pt>
                <c:pt idx="6">
                  <c:v>1</c:v>
                </c:pt>
                <c:pt idx="7">
                  <c:v>2</c:v>
                </c:pt>
                <c:pt idx="8">
                  <c:v>3</c:v>
                </c:pt>
                <c:pt idx="10">
                  <c:v>3</c:v>
                </c:pt>
                <c:pt idx="11">
                  <c:v>4</c:v>
                </c:pt>
                <c:pt idx="12">
                  <c:v>1</c:v>
                </c:pt>
                <c:pt idx="13">
                  <c:v>8</c:v>
                </c:pt>
                <c:pt idx="14">
                  <c:v>1</c:v>
                </c:pt>
                <c:pt idx="16">
                  <c:v>1</c:v>
                </c:pt>
                <c:pt idx="17">
                  <c:v>3</c:v>
                </c:pt>
                <c:pt idx="18">
                  <c:v>9</c:v>
                </c:pt>
                <c:pt idx="21">
                  <c:v>7</c:v>
                </c:pt>
                <c:pt idx="22">
                  <c:v>7</c:v>
                </c:pt>
                <c:pt idx="23">
                  <c:v>6</c:v>
                </c:pt>
                <c:pt idx="24">
                  <c:v>3</c:v>
                </c:pt>
                <c:pt idx="25">
                  <c:v>5</c:v>
                </c:pt>
                <c:pt idx="26">
                  <c:v>7</c:v>
                </c:pt>
                <c:pt idx="29">
                  <c:v>1</c:v>
                </c:pt>
                <c:pt idx="31">
                  <c:v>2</c:v>
                </c:pt>
                <c:pt idx="32">
                  <c:v>5</c:v>
                </c:pt>
                <c:pt idx="33">
                  <c:v>4</c:v>
                </c:pt>
                <c:pt idx="34">
                  <c:v>5</c:v>
                </c:pt>
                <c:pt idx="35">
                  <c:v>5</c:v>
                </c:pt>
                <c:pt idx="36">
                  <c:v>1</c:v>
                </c:pt>
                <c:pt idx="37">
                  <c:v>7</c:v>
                </c:pt>
                <c:pt idx="38">
                  <c:v>9</c:v>
                </c:pt>
                <c:pt idx="39">
                  <c:v>5</c:v>
                </c:pt>
                <c:pt idx="42">
                  <c:v>1</c:v>
                </c:pt>
                <c:pt idx="43">
                  <c:v>8</c:v>
                </c:pt>
                <c:pt idx="45">
                  <c:v>6</c:v>
                </c:pt>
                <c:pt idx="46">
                  <c:v>1</c:v>
                </c:pt>
                <c:pt idx="48">
                  <c:v>6</c:v>
                </c:pt>
                <c:pt idx="49">
                  <c:v>4</c:v>
                </c:pt>
                <c:pt idx="50">
                  <c:v>1</c:v>
                </c:pt>
                <c:pt idx="52">
                  <c:v>8</c:v>
                </c:pt>
                <c:pt idx="54">
                  <c:v>2</c:v>
                </c:pt>
                <c:pt idx="55">
                  <c:v>1</c:v>
                </c:pt>
              </c:numCache>
            </c:numRef>
          </c:xVal>
          <c:yVal>
            <c:numRef>
              <c:f>Sheet1!$C$2:$C$57</c:f>
              <c:numCache>
                <c:formatCode>General</c:formatCode>
                <c:ptCount val="56"/>
                <c:pt idx="0">
                  <c:v>0.67</c:v>
                </c:pt>
                <c:pt idx="1">
                  <c:v>0.56000000000000005</c:v>
                </c:pt>
                <c:pt idx="2">
                  <c:v>0.81</c:v>
                </c:pt>
                <c:pt idx="3">
                  <c:v>0.56999999999999995</c:v>
                </c:pt>
                <c:pt idx="4">
                  <c:v>0.74</c:v>
                </c:pt>
                <c:pt idx="5">
                  <c:v>0.76</c:v>
                </c:pt>
                <c:pt idx="6">
                  <c:v>0.69</c:v>
                </c:pt>
                <c:pt idx="7">
                  <c:v>0.91</c:v>
                </c:pt>
                <c:pt idx="8">
                  <c:v>0.79</c:v>
                </c:pt>
                <c:pt idx="9">
                  <c:v>0.77</c:v>
                </c:pt>
                <c:pt idx="10">
                  <c:v>0.7</c:v>
                </c:pt>
                <c:pt idx="11">
                  <c:v>0.72</c:v>
                </c:pt>
                <c:pt idx="12">
                  <c:v>0.65</c:v>
                </c:pt>
                <c:pt idx="13">
                  <c:v>0.7</c:v>
                </c:pt>
                <c:pt idx="14">
                  <c:v>0.75</c:v>
                </c:pt>
                <c:pt idx="15">
                  <c:v>0.74</c:v>
                </c:pt>
                <c:pt idx="16">
                  <c:v>0.8</c:v>
                </c:pt>
                <c:pt idx="17">
                  <c:v>0.75</c:v>
                </c:pt>
                <c:pt idx="18">
                  <c:v>0.64</c:v>
                </c:pt>
                <c:pt idx="19">
                  <c:v>0.59</c:v>
                </c:pt>
                <c:pt idx="20">
                  <c:v>0.73</c:v>
                </c:pt>
                <c:pt idx="21">
                  <c:v>0.66</c:v>
                </c:pt>
                <c:pt idx="22">
                  <c:v>0.5</c:v>
                </c:pt>
                <c:pt idx="23">
                  <c:v>0.54</c:v>
                </c:pt>
                <c:pt idx="24">
                  <c:v>0.64</c:v>
                </c:pt>
                <c:pt idx="25">
                  <c:v>0.63</c:v>
                </c:pt>
                <c:pt idx="26">
                  <c:v>0.63</c:v>
                </c:pt>
                <c:pt idx="27">
                  <c:v>0.76</c:v>
                </c:pt>
                <c:pt idx="28">
                  <c:v>0.71</c:v>
                </c:pt>
                <c:pt idx="29">
                  <c:v>0.67</c:v>
                </c:pt>
                <c:pt idx="30">
                  <c:v>0.83</c:v>
                </c:pt>
                <c:pt idx="31">
                  <c:v>0.76</c:v>
                </c:pt>
                <c:pt idx="32">
                  <c:v>0.7</c:v>
                </c:pt>
                <c:pt idx="33">
                  <c:v>0.79</c:v>
                </c:pt>
                <c:pt idx="34">
                  <c:v>0.71</c:v>
                </c:pt>
                <c:pt idx="35">
                  <c:v>0.72</c:v>
                </c:pt>
                <c:pt idx="36">
                  <c:v>0.83</c:v>
                </c:pt>
                <c:pt idx="37">
                  <c:v>0.6</c:v>
                </c:pt>
                <c:pt idx="38">
                  <c:v>0.54</c:v>
                </c:pt>
                <c:pt idx="39">
                  <c:v>0.66</c:v>
                </c:pt>
                <c:pt idx="40">
                  <c:v>0.76</c:v>
                </c:pt>
                <c:pt idx="41">
                  <c:v>0.68</c:v>
                </c:pt>
                <c:pt idx="42">
                  <c:v>0.68</c:v>
                </c:pt>
                <c:pt idx="43">
                  <c:v>0.62</c:v>
                </c:pt>
                <c:pt idx="44">
                  <c:v>0.83</c:v>
                </c:pt>
                <c:pt idx="45">
                  <c:v>0.78</c:v>
                </c:pt>
                <c:pt idx="46">
                  <c:v>0.76</c:v>
                </c:pt>
                <c:pt idx="47">
                  <c:v>0.84</c:v>
                </c:pt>
                <c:pt idx="48">
                  <c:v>0.78</c:v>
                </c:pt>
                <c:pt idx="49">
                  <c:v>0.78</c:v>
                </c:pt>
                <c:pt idx="50">
                  <c:v>0.64</c:v>
                </c:pt>
                <c:pt idx="51">
                  <c:v>0.77</c:v>
                </c:pt>
                <c:pt idx="52">
                  <c:v>0.76</c:v>
                </c:pt>
                <c:pt idx="53">
                  <c:v>0.7</c:v>
                </c:pt>
                <c:pt idx="54">
                  <c:v>0.71</c:v>
                </c:pt>
                <c:pt idx="55">
                  <c:v>0.68</c:v>
                </c:pt>
              </c:numCache>
            </c:numRef>
          </c:yVal>
          <c:smooth val="0"/>
          <c:extLst>
            <c:ext xmlns:c16="http://schemas.microsoft.com/office/drawing/2014/chart" uri="{C3380CC4-5D6E-409C-BE32-E72D297353CC}">
              <c16:uniqueId val="{00000001-6682-D34F-8191-5F8D253656AA}"/>
            </c:ext>
          </c:extLst>
        </c:ser>
        <c:ser>
          <c:idx val="1"/>
          <c:order val="1"/>
          <c:tx>
            <c:v>Severity</c:v>
          </c:tx>
          <c:spPr>
            <a:ln w="25400" cap="rnd">
              <a:noFill/>
              <a:round/>
            </a:ln>
            <a:effectLst/>
          </c:spPr>
          <c:marker>
            <c:symbol val="circle"/>
            <c:size val="8"/>
            <c:spPr>
              <a:solidFill>
                <a:srgbClr val="7030A0"/>
              </a:solidFill>
              <a:ln w="9525">
                <a:solidFill>
                  <a:srgbClr val="7030A0"/>
                </a:solidFill>
              </a:ln>
              <a:effectLst/>
            </c:spPr>
          </c:marker>
          <c:trendline>
            <c:spPr>
              <a:ln w="19050" cap="rnd">
                <a:solidFill>
                  <a:srgbClr val="7030A0"/>
                </a:solidFill>
                <a:prstDash val="sysDot"/>
              </a:ln>
              <a:effectLst/>
            </c:spPr>
            <c:trendlineType val="linear"/>
            <c:dispRSqr val="0"/>
            <c:dispEq val="0"/>
          </c:trendline>
          <c:xVal>
            <c:numRef>
              <c:f>Sheet1!$B$2:$B$57</c:f>
              <c:numCache>
                <c:formatCode>General</c:formatCode>
                <c:ptCount val="56"/>
                <c:pt idx="0">
                  <c:v>3</c:v>
                </c:pt>
                <c:pt idx="1">
                  <c:v>6</c:v>
                </c:pt>
                <c:pt idx="2">
                  <c:v>3</c:v>
                </c:pt>
                <c:pt idx="3">
                  <c:v>3</c:v>
                </c:pt>
                <c:pt idx="5">
                  <c:v>6</c:v>
                </c:pt>
                <c:pt idx="6">
                  <c:v>1</c:v>
                </c:pt>
                <c:pt idx="7">
                  <c:v>3</c:v>
                </c:pt>
                <c:pt idx="8">
                  <c:v>5</c:v>
                </c:pt>
                <c:pt idx="10">
                  <c:v>6</c:v>
                </c:pt>
                <c:pt idx="11">
                  <c:v>3</c:v>
                </c:pt>
                <c:pt idx="12">
                  <c:v>2</c:v>
                </c:pt>
                <c:pt idx="13">
                  <c:v>8</c:v>
                </c:pt>
                <c:pt idx="14">
                  <c:v>1</c:v>
                </c:pt>
                <c:pt idx="16">
                  <c:v>2</c:v>
                </c:pt>
                <c:pt idx="17">
                  <c:v>3</c:v>
                </c:pt>
                <c:pt idx="18">
                  <c:v>7</c:v>
                </c:pt>
                <c:pt idx="21">
                  <c:v>6</c:v>
                </c:pt>
                <c:pt idx="22">
                  <c:v>9</c:v>
                </c:pt>
                <c:pt idx="23">
                  <c:v>2</c:v>
                </c:pt>
                <c:pt idx="24">
                  <c:v>8</c:v>
                </c:pt>
                <c:pt idx="25">
                  <c:v>8</c:v>
                </c:pt>
                <c:pt idx="26">
                  <c:v>4</c:v>
                </c:pt>
                <c:pt idx="29">
                  <c:v>2</c:v>
                </c:pt>
                <c:pt idx="31">
                  <c:v>2</c:v>
                </c:pt>
                <c:pt idx="32">
                  <c:v>7</c:v>
                </c:pt>
                <c:pt idx="33">
                  <c:v>7</c:v>
                </c:pt>
                <c:pt idx="34">
                  <c:v>7</c:v>
                </c:pt>
                <c:pt idx="35">
                  <c:v>3</c:v>
                </c:pt>
                <c:pt idx="36">
                  <c:v>5</c:v>
                </c:pt>
                <c:pt idx="37">
                  <c:v>3</c:v>
                </c:pt>
                <c:pt idx="38">
                  <c:v>6</c:v>
                </c:pt>
                <c:pt idx="39">
                  <c:v>3</c:v>
                </c:pt>
                <c:pt idx="42">
                  <c:v>5</c:v>
                </c:pt>
                <c:pt idx="43">
                  <c:v>4</c:v>
                </c:pt>
                <c:pt idx="45">
                  <c:v>6</c:v>
                </c:pt>
                <c:pt idx="46">
                  <c:v>3</c:v>
                </c:pt>
                <c:pt idx="48">
                  <c:v>2</c:v>
                </c:pt>
                <c:pt idx="49">
                  <c:v>6</c:v>
                </c:pt>
                <c:pt idx="50">
                  <c:v>5</c:v>
                </c:pt>
                <c:pt idx="52">
                  <c:v>7</c:v>
                </c:pt>
                <c:pt idx="54">
                  <c:v>3</c:v>
                </c:pt>
                <c:pt idx="55">
                  <c:v>1</c:v>
                </c:pt>
              </c:numCache>
            </c:numRef>
          </c:xVal>
          <c:yVal>
            <c:numRef>
              <c:f>Sheet1!$C$2:$C$57</c:f>
              <c:numCache>
                <c:formatCode>General</c:formatCode>
                <c:ptCount val="56"/>
                <c:pt idx="0">
                  <c:v>0.67</c:v>
                </c:pt>
                <c:pt idx="1">
                  <c:v>0.56000000000000005</c:v>
                </c:pt>
                <c:pt idx="2">
                  <c:v>0.81</c:v>
                </c:pt>
                <c:pt idx="3">
                  <c:v>0.56999999999999995</c:v>
                </c:pt>
                <c:pt idx="4">
                  <c:v>0.74</c:v>
                </c:pt>
                <c:pt idx="5">
                  <c:v>0.76</c:v>
                </c:pt>
                <c:pt idx="6">
                  <c:v>0.69</c:v>
                </c:pt>
                <c:pt idx="7">
                  <c:v>0.91</c:v>
                </c:pt>
                <c:pt idx="8">
                  <c:v>0.79</c:v>
                </c:pt>
                <c:pt idx="9">
                  <c:v>0.77</c:v>
                </c:pt>
                <c:pt idx="10">
                  <c:v>0.7</c:v>
                </c:pt>
                <c:pt idx="11">
                  <c:v>0.72</c:v>
                </c:pt>
                <c:pt idx="12">
                  <c:v>0.65</c:v>
                </c:pt>
                <c:pt idx="13">
                  <c:v>0.7</c:v>
                </c:pt>
                <c:pt idx="14">
                  <c:v>0.75</c:v>
                </c:pt>
                <c:pt idx="15">
                  <c:v>0.74</c:v>
                </c:pt>
                <c:pt idx="16">
                  <c:v>0.8</c:v>
                </c:pt>
                <c:pt idx="17">
                  <c:v>0.75</c:v>
                </c:pt>
                <c:pt idx="18">
                  <c:v>0.64</c:v>
                </c:pt>
                <c:pt idx="19">
                  <c:v>0.59</c:v>
                </c:pt>
                <c:pt idx="20">
                  <c:v>0.73</c:v>
                </c:pt>
                <c:pt idx="21">
                  <c:v>0.66</c:v>
                </c:pt>
                <c:pt idx="22">
                  <c:v>0.5</c:v>
                </c:pt>
                <c:pt idx="23">
                  <c:v>0.54</c:v>
                </c:pt>
                <c:pt idx="24">
                  <c:v>0.64</c:v>
                </c:pt>
                <c:pt idx="25">
                  <c:v>0.63</c:v>
                </c:pt>
                <c:pt idx="26">
                  <c:v>0.63</c:v>
                </c:pt>
                <c:pt idx="27">
                  <c:v>0.76</c:v>
                </c:pt>
                <c:pt idx="28">
                  <c:v>0.71</c:v>
                </c:pt>
                <c:pt idx="29">
                  <c:v>0.67</c:v>
                </c:pt>
                <c:pt idx="30">
                  <c:v>0.83</c:v>
                </c:pt>
                <c:pt idx="31">
                  <c:v>0.76</c:v>
                </c:pt>
                <c:pt idx="32">
                  <c:v>0.7</c:v>
                </c:pt>
                <c:pt idx="33">
                  <c:v>0.79</c:v>
                </c:pt>
                <c:pt idx="34">
                  <c:v>0.71</c:v>
                </c:pt>
                <c:pt idx="35">
                  <c:v>0.72</c:v>
                </c:pt>
                <c:pt idx="36">
                  <c:v>0.83</c:v>
                </c:pt>
                <c:pt idx="37">
                  <c:v>0.6</c:v>
                </c:pt>
                <c:pt idx="38">
                  <c:v>0.54</c:v>
                </c:pt>
                <c:pt idx="39">
                  <c:v>0.66</c:v>
                </c:pt>
                <c:pt idx="40">
                  <c:v>0.76</c:v>
                </c:pt>
                <c:pt idx="41">
                  <c:v>0.68</c:v>
                </c:pt>
                <c:pt idx="42">
                  <c:v>0.68</c:v>
                </c:pt>
                <c:pt idx="43">
                  <c:v>0.62</c:v>
                </c:pt>
                <c:pt idx="44">
                  <c:v>0.83</c:v>
                </c:pt>
                <c:pt idx="45">
                  <c:v>0.78</c:v>
                </c:pt>
                <c:pt idx="46">
                  <c:v>0.76</c:v>
                </c:pt>
                <c:pt idx="47">
                  <c:v>0.84</c:v>
                </c:pt>
                <c:pt idx="48">
                  <c:v>0.78</c:v>
                </c:pt>
                <c:pt idx="49">
                  <c:v>0.78</c:v>
                </c:pt>
                <c:pt idx="50">
                  <c:v>0.64</c:v>
                </c:pt>
                <c:pt idx="51">
                  <c:v>0.77</c:v>
                </c:pt>
                <c:pt idx="52">
                  <c:v>0.76</c:v>
                </c:pt>
                <c:pt idx="53">
                  <c:v>0.7</c:v>
                </c:pt>
                <c:pt idx="54">
                  <c:v>0.71</c:v>
                </c:pt>
                <c:pt idx="55">
                  <c:v>0.68</c:v>
                </c:pt>
              </c:numCache>
            </c:numRef>
          </c:yVal>
          <c:smooth val="0"/>
          <c:extLst>
            <c:ext xmlns:c16="http://schemas.microsoft.com/office/drawing/2014/chart" uri="{C3380CC4-5D6E-409C-BE32-E72D297353CC}">
              <c16:uniqueId val="{00000003-D742-1949-A827-B7BC37A93926}"/>
            </c:ext>
          </c:extLst>
        </c:ser>
        <c:dLbls>
          <c:showLegendKey val="0"/>
          <c:showVal val="0"/>
          <c:showCatName val="0"/>
          <c:showSerName val="0"/>
          <c:showPercent val="0"/>
          <c:showBubbleSize val="0"/>
        </c:dLbls>
        <c:axId val="1337071055"/>
        <c:axId val="1337072703"/>
      </c:scatterChart>
      <c:valAx>
        <c:axId val="133707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2703"/>
        <c:crosses val="autoZero"/>
        <c:crossBetween val="midCat"/>
      </c:valAx>
      <c:valAx>
        <c:axId val="1337072703"/>
        <c:scaling>
          <c:orientation val="minMax"/>
          <c:max val="1"/>
          <c:min val="0.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a:t>Overall Accuracy</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1055"/>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dirty="0"/>
              <a:t>Practice and Accuracy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Brain Fog</c:v>
          </c:tx>
          <c:spPr>
            <a:ln w="25400" cap="rnd">
              <a:noFill/>
              <a:round/>
            </a:ln>
            <a:effectLst/>
          </c:spPr>
          <c:marker>
            <c:symbol val="circle"/>
            <c:size val="8"/>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Sheet1!$A$2:$A$45</c:f>
              <c:numCache>
                <c:formatCode>General</c:formatCode>
                <c:ptCount val="44"/>
                <c:pt idx="0">
                  <c:v>3</c:v>
                </c:pt>
                <c:pt idx="1">
                  <c:v>6</c:v>
                </c:pt>
                <c:pt idx="2">
                  <c:v>7</c:v>
                </c:pt>
                <c:pt idx="3">
                  <c:v>7</c:v>
                </c:pt>
                <c:pt idx="4">
                  <c:v>4</c:v>
                </c:pt>
                <c:pt idx="5">
                  <c:v>1</c:v>
                </c:pt>
                <c:pt idx="6">
                  <c:v>2</c:v>
                </c:pt>
                <c:pt idx="7">
                  <c:v>3</c:v>
                </c:pt>
                <c:pt idx="8">
                  <c:v>3</c:v>
                </c:pt>
                <c:pt idx="9">
                  <c:v>4</c:v>
                </c:pt>
                <c:pt idx="10">
                  <c:v>1</c:v>
                </c:pt>
                <c:pt idx="11">
                  <c:v>8</c:v>
                </c:pt>
                <c:pt idx="12">
                  <c:v>1</c:v>
                </c:pt>
                <c:pt idx="13">
                  <c:v>1</c:v>
                </c:pt>
                <c:pt idx="14">
                  <c:v>1</c:v>
                </c:pt>
                <c:pt idx="15">
                  <c:v>3</c:v>
                </c:pt>
                <c:pt idx="16">
                  <c:v>9</c:v>
                </c:pt>
                <c:pt idx="17">
                  <c:v>2</c:v>
                </c:pt>
                <c:pt idx="18">
                  <c:v>7</c:v>
                </c:pt>
                <c:pt idx="19">
                  <c:v>7</c:v>
                </c:pt>
                <c:pt idx="20">
                  <c:v>6</c:v>
                </c:pt>
                <c:pt idx="21">
                  <c:v>3</c:v>
                </c:pt>
                <c:pt idx="22">
                  <c:v>5</c:v>
                </c:pt>
                <c:pt idx="23">
                  <c:v>7</c:v>
                </c:pt>
                <c:pt idx="24">
                  <c:v>1</c:v>
                </c:pt>
                <c:pt idx="25">
                  <c:v>2</c:v>
                </c:pt>
                <c:pt idx="26">
                  <c:v>5</c:v>
                </c:pt>
                <c:pt idx="27">
                  <c:v>4</c:v>
                </c:pt>
                <c:pt idx="28">
                  <c:v>5</c:v>
                </c:pt>
                <c:pt idx="29">
                  <c:v>5</c:v>
                </c:pt>
                <c:pt idx="30">
                  <c:v>1</c:v>
                </c:pt>
                <c:pt idx="31">
                  <c:v>7</c:v>
                </c:pt>
                <c:pt idx="32">
                  <c:v>9</c:v>
                </c:pt>
                <c:pt idx="33">
                  <c:v>5</c:v>
                </c:pt>
                <c:pt idx="34">
                  <c:v>1</c:v>
                </c:pt>
                <c:pt idx="35">
                  <c:v>8</c:v>
                </c:pt>
                <c:pt idx="36">
                  <c:v>6</c:v>
                </c:pt>
                <c:pt idx="37">
                  <c:v>1</c:v>
                </c:pt>
                <c:pt idx="38">
                  <c:v>6</c:v>
                </c:pt>
                <c:pt idx="39">
                  <c:v>4</c:v>
                </c:pt>
                <c:pt idx="40">
                  <c:v>1</c:v>
                </c:pt>
                <c:pt idx="41">
                  <c:v>8</c:v>
                </c:pt>
                <c:pt idx="42">
                  <c:v>2</c:v>
                </c:pt>
                <c:pt idx="43">
                  <c:v>1</c:v>
                </c:pt>
              </c:numCache>
            </c:numRef>
          </c:xVal>
          <c:yVal>
            <c:numRef>
              <c:f>Sheet1!$C$2:$C$45</c:f>
              <c:numCache>
                <c:formatCode>General</c:formatCode>
                <c:ptCount val="44"/>
                <c:pt idx="0">
                  <c:v>0.87</c:v>
                </c:pt>
                <c:pt idx="1">
                  <c:v>0.7</c:v>
                </c:pt>
                <c:pt idx="2">
                  <c:v>0.9</c:v>
                </c:pt>
                <c:pt idx="3">
                  <c:v>0.87</c:v>
                </c:pt>
                <c:pt idx="4">
                  <c:v>0.94</c:v>
                </c:pt>
                <c:pt idx="5">
                  <c:v>0.8</c:v>
                </c:pt>
                <c:pt idx="6">
                  <c:v>0.96</c:v>
                </c:pt>
                <c:pt idx="7">
                  <c:v>0.89</c:v>
                </c:pt>
                <c:pt idx="8">
                  <c:v>0.85</c:v>
                </c:pt>
                <c:pt idx="9">
                  <c:v>0.83</c:v>
                </c:pt>
                <c:pt idx="10">
                  <c:v>0.88</c:v>
                </c:pt>
                <c:pt idx="11">
                  <c:v>0.88</c:v>
                </c:pt>
                <c:pt idx="12">
                  <c:v>0.9</c:v>
                </c:pt>
                <c:pt idx="13">
                  <c:v>0.91</c:v>
                </c:pt>
                <c:pt idx="14">
                  <c:v>0.95</c:v>
                </c:pt>
                <c:pt idx="15">
                  <c:v>0.92</c:v>
                </c:pt>
                <c:pt idx="16">
                  <c:v>0.8</c:v>
                </c:pt>
                <c:pt idx="17">
                  <c:v>0.74</c:v>
                </c:pt>
                <c:pt idx="18">
                  <c:v>0.84</c:v>
                </c:pt>
                <c:pt idx="19">
                  <c:v>0.66</c:v>
                </c:pt>
                <c:pt idx="20">
                  <c:v>0.88</c:v>
                </c:pt>
                <c:pt idx="21">
                  <c:v>0.81</c:v>
                </c:pt>
                <c:pt idx="22">
                  <c:v>0.84</c:v>
                </c:pt>
                <c:pt idx="23">
                  <c:v>0.86</c:v>
                </c:pt>
                <c:pt idx="24">
                  <c:v>0.91</c:v>
                </c:pt>
                <c:pt idx="25">
                  <c:v>0.92</c:v>
                </c:pt>
                <c:pt idx="26">
                  <c:v>0.84</c:v>
                </c:pt>
                <c:pt idx="27">
                  <c:v>0.86</c:v>
                </c:pt>
                <c:pt idx="28">
                  <c:v>0.93</c:v>
                </c:pt>
                <c:pt idx="29">
                  <c:v>0.89</c:v>
                </c:pt>
                <c:pt idx="30">
                  <c:v>0.96</c:v>
                </c:pt>
                <c:pt idx="31">
                  <c:v>0.93</c:v>
                </c:pt>
                <c:pt idx="32">
                  <c:v>0.79</c:v>
                </c:pt>
                <c:pt idx="33">
                  <c:v>0.86</c:v>
                </c:pt>
                <c:pt idx="34">
                  <c:v>0.92</c:v>
                </c:pt>
                <c:pt idx="35">
                  <c:v>0.7</c:v>
                </c:pt>
                <c:pt idx="36">
                  <c:v>0.93</c:v>
                </c:pt>
                <c:pt idx="37">
                  <c:v>0.9</c:v>
                </c:pt>
                <c:pt idx="38">
                  <c:v>0.89</c:v>
                </c:pt>
                <c:pt idx="39">
                  <c:v>0.94</c:v>
                </c:pt>
                <c:pt idx="40">
                  <c:v>0.87</c:v>
                </c:pt>
                <c:pt idx="41">
                  <c:v>0.83</c:v>
                </c:pt>
                <c:pt idx="42">
                  <c:v>0.89</c:v>
                </c:pt>
                <c:pt idx="43">
                  <c:v>0.85</c:v>
                </c:pt>
              </c:numCache>
            </c:numRef>
          </c:yVal>
          <c:smooth val="0"/>
          <c:extLst>
            <c:ext xmlns:c16="http://schemas.microsoft.com/office/drawing/2014/chart" uri="{C3380CC4-5D6E-409C-BE32-E72D297353CC}">
              <c16:uniqueId val="{00000000-1672-3E40-A726-A2C4EF2C0D48}"/>
            </c:ext>
          </c:extLst>
        </c:ser>
        <c:ser>
          <c:idx val="1"/>
          <c:order val="1"/>
          <c:tx>
            <c:v>Severity</c:v>
          </c:tx>
          <c:spPr>
            <a:ln w="25400" cap="rnd">
              <a:noFill/>
              <a:round/>
            </a:ln>
            <a:effectLst/>
          </c:spPr>
          <c:marker>
            <c:symbol val="circle"/>
            <c:size val="8"/>
            <c:spPr>
              <a:solidFill>
                <a:schemeClr val="accent2"/>
              </a:solidFill>
              <a:ln w="9525">
                <a:solidFill>
                  <a:schemeClr val="accent2"/>
                </a:solidFill>
              </a:ln>
              <a:effectLst/>
            </c:spPr>
          </c:marker>
          <c:trendline>
            <c:spPr>
              <a:ln w="19050" cap="rnd">
                <a:solidFill>
                  <a:schemeClr val="accent2"/>
                </a:solidFill>
                <a:prstDash val="sysDot"/>
              </a:ln>
              <a:effectLst/>
            </c:spPr>
            <c:trendlineType val="linear"/>
            <c:dispRSqr val="0"/>
            <c:dispEq val="0"/>
          </c:trendline>
          <c:xVal>
            <c:numRef>
              <c:f>Sheet1!$B$2:$B$45</c:f>
              <c:numCache>
                <c:formatCode>General</c:formatCode>
                <c:ptCount val="44"/>
                <c:pt idx="0">
                  <c:v>3</c:v>
                </c:pt>
                <c:pt idx="1">
                  <c:v>6</c:v>
                </c:pt>
                <c:pt idx="2">
                  <c:v>3</c:v>
                </c:pt>
                <c:pt idx="3">
                  <c:v>3</c:v>
                </c:pt>
                <c:pt idx="4">
                  <c:v>6</c:v>
                </c:pt>
                <c:pt idx="5">
                  <c:v>1</c:v>
                </c:pt>
                <c:pt idx="6">
                  <c:v>3</c:v>
                </c:pt>
                <c:pt idx="7">
                  <c:v>5</c:v>
                </c:pt>
                <c:pt idx="8">
                  <c:v>6</c:v>
                </c:pt>
                <c:pt idx="9">
                  <c:v>3</c:v>
                </c:pt>
                <c:pt idx="10">
                  <c:v>2</c:v>
                </c:pt>
                <c:pt idx="11">
                  <c:v>8</c:v>
                </c:pt>
                <c:pt idx="12">
                  <c:v>1</c:v>
                </c:pt>
                <c:pt idx="13">
                  <c:v>4</c:v>
                </c:pt>
                <c:pt idx="14">
                  <c:v>2</c:v>
                </c:pt>
                <c:pt idx="15">
                  <c:v>3</c:v>
                </c:pt>
                <c:pt idx="16">
                  <c:v>7</c:v>
                </c:pt>
                <c:pt idx="17">
                  <c:v>5</c:v>
                </c:pt>
                <c:pt idx="18">
                  <c:v>6</c:v>
                </c:pt>
                <c:pt idx="19">
                  <c:v>9</c:v>
                </c:pt>
                <c:pt idx="20">
                  <c:v>2</c:v>
                </c:pt>
                <c:pt idx="21">
                  <c:v>8</c:v>
                </c:pt>
                <c:pt idx="22">
                  <c:v>8</c:v>
                </c:pt>
                <c:pt idx="23">
                  <c:v>4</c:v>
                </c:pt>
                <c:pt idx="24">
                  <c:v>2</c:v>
                </c:pt>
                <c:pt idx="25">
                  <c:v>2</c:v>
                </c:pt>
                <c:pt idx="26">
                  <c:v>7</c:v>
                </c:pt>
                <c:pt idx="27">
                  <c:v>7</c:v>
                </c:pt>
                <c:pt idx="28">
                  <c:v>7</c:v>
                </c:pt>
                <c:pt idx="29">
                  <c:v>3</c:v>
                </c:pt>
                <c:pt idx="30">
                  <c:v>5</c:v>
                </c:pt>
                <c:pt idx="31">
                  <c:v>3</c:v>
                </c:pt>
                <c:pt idx="32">
                  <c:v>6</c:v>
                </c:pt>
                <c:pt idx="33">
                  <c:v>3</c:v>
                </c:pt>
                <c:pt idx="34">
                  <c:v>5</c:v>
                </c:pt>
                <c:pt idx="35">
                  <c:v>4</c:v>
                </c:pt>
                <c:pt idx="36">
                  <c:v>6</c:v>
                </c:pt>
                <c:pt idx="37">
                  <c:v>3</c:v>
                </c:pt>
                <c:pt idx="38">
                  <c:v>2</c:v>
                </c:pt>
                <c:pt idx="39">
                  <c:v>6</c:v>
                </c:pt>
                <c:pt idx="40">
                  <c:v>5</c:v>
                </c:pt>
                <c:pt idx="41">
                  <c:v>7</c:v>
                </c:pt>
                <c:pt idx="42">
                  <c:v>3</c:v>
                </c:pt>
                <c:pt idx="43">
                  <c:v>1</c:v>
                </c:pt>
              </c:numCache>
            </c:numRef>
          </c:xVal>
          <c:yVal>
            <c:numRef>
              <c:f>Sheet1!$C$2:$C$45</c:f>
              <c:numCache>
                <c:formatCode>General</c:formatCode>
                <c:ptCount val="44"/>
                <c:pt idx="0">
                  <c:v>0.87</c:v>
                </c:pt>
                <c:pt idx="1">
                  <c:v>0.7</c:v>
                </c:pt>
                <c:pt idx="2">
                  <c:v>0.9</c:v>
                </c:pt>
                <c:pt idx="3">
                  <c:v>0.87</c:v>
                </c:pt>
                <c:pt idx="4">
                  <c:v>0.94</c:v>
                </c:pt>
                <c:pt idx="5">
                  <c:v>0.8</c:v>
                </c:pt>
                <c:pt idx="6">
                  <c:v>0.96</c:v>
                </c:pt>
                <c:pt idx="7">
                  <c:v>0.89</c:v>
                </c:pt>
                <c:pt idx="8">
                  <c:v>0.85</c:v>
                </c:pt>
                <c:pt idx="9">
                  <c:v>0.83</c:v>
                </c:pt>
                <c:pt idx="10">
                  <c:v>0.88</c:v>
                </c:pt>
                <c:pt idx="11">
                  <c:v>0.88</c:v>
                </c:pt>
                <c:pt idx="12">
                  <c:v>0.9</c:v>
                </c:pt>
                <c:pt idx="13">
                  <c:v>0.91</c:v>
                </c:pt>
                <c:pt idx="14">
                  <c:v>0.95</c:v>
                </c:pt>
                <c:pt idx="15">
                  <c:v>0.92</c:v>
                </c:pt>
                <c:pt idx="16">
                  <c:v>0.8</c:v>
                </c:pt>
                <c:pt idx="17">
                  <c:v>0.74</c:v>
                </c:pt>
                <c:pt idx="18">
                  <c:v>0.84</c:v>
                </c:pt>
                <c:pt idx="19">
                  <c:v>0.66</c:v>
                </c:pt>
                <c:pt idx="20">
                  <c:v>0.88</c:v>
                </c:pt>
                <c:pt idx="21">
                  <c:v>0.81</c:v>
                </c:pt>
                <c:pt idx="22">
                  <c:v>0.84</c:v>
                </c:pt>
                <c:pt idx="23">
                  <c:v>0.86</c:v>
                </c:pt>
                <c:pt idx="24">
                  <c:v>0.91</c:v>
                </c:pt>
                <c:pt idx="25">
                  <c:v>0.92</c:v>
                </c:pt>
                <c:pt idx="26">
                  <c:v>0.84</c:v>
                </c:pt>
                <c:pt idx="27">
                  <c:v>0.86</c:v>
                </c:pt>
                <c:pt idx="28">
                  <c:v>0.93</c:v>
                </c:pt>
                <c:pt idx="29">
                  <c:v>0.89</c:v>
                </c:pt>
                <c:pt idx="30">
                  <c:v>0.96</c:v>
                </c:pt>
                <c:pt idx="31">
                  <c:v>0.93</c:v>
                </c:pt>
                <c:pt idx="32">
                  <c:v>0.79</c:v>
                </c:pt>
                <c:pt idx="33">
                  <c:v>0.86</c:v>
                </c:pt>
                <c:pt idx="34">
                  <c:v>0.92</c:v>
                </c:pt>
                <c:pt idx="35">
                  <c:v>0.7</c:v>
                </c:pt>
                <c:pt idx="36">
                  <c:v>0.93</c:v>
                </c:pt>
                <c:pt idx="37">
                  <c:v>0.9</c:v>
                </c:pt>
                <c:pt idx="38">
                  <c:v>0.89</c:v>
                </c:pt>
                <c:pt idx="39">
                  <c:v>0.94</c:v>
                </c:pt>
                <c:pt idx="40">
                  <c:v>0.87</c:v>
                </c:pt>
                <c:pt idx="41">
                  <c:v>0.83</c:v>
                </c:pt>
                <c:pt idx="42">
                  <c:v>0.89</c:v>
                </c:pt>
                <c:pt idx="43">
                  <c:v>0.85</c:v>
                </c:pt>
              </c:numCache>
            </c:numRef>
          </c:yVal>
          <c:smooth val="0"/>
          <c:extLst>
            <c:ext xmlns:c16="http://schemas.microsoft.com/office/drawing/2014/chart" uri="{C3380CC4-5D6E-409C-BE32-E72D297353CC}">
              <c16:uniqueId val="{00000006-8360-B245-BB3C-3BB0C3B4595B}"/>
            </c:ext>
          </c:extLst>
        </c:ser>
        <c:dLbls>
          <c:showLegendKey val="0"/>
          <c:showVal val="0"/>
          <c:showCatName val="0"/>
          <c:showSerName val="0"/>
          <c:showPercent val="0"/>
          <c:showBubbleSize val="0"/>
        </c:dLbls>
        <c:axId val="1334943151"/>
        <c:axId val="1334893919"/>
      </c:scatterChart>
      <c:valAx>
        <c:axId val="133494315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4893919"/>
        <c:crosses val="autoZero"/>
        <c:crossBetween val="midCat"/>
      </c:valAx>
      <c:valAx>
        <c:axId val="1334893919"/>
        <c:scaling>
          <c:orientation val="minMax"/>
          <c:max val="1"/>
          <c:min val="0.60000000000000009"/>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a:t>Overall Accuracy</a:t>
                </a:r>
                <a:endParaRPr lang="en-US" sz="2000" baseline="0" dirty="0"/>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4943151"/>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dirty="0"/>
              <a:t>Practice and Latency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Brain Fog</c:v>
          </c:tx>
          <c:spPr>
            <a:ln w="25400" cap="rnd">
              <a:noFill/>
              <a:round/>
            </a:ln>
            <a:effectLst/>
          </c:spPr>
          <c:marker>
            <c:symbol val="circle"/>
            <c:size val="8"/>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Sheet1!$A$2:$A$45</c:f>
              <c:numCache>
                <c:formatCode>General</c:formatCode>
                <c:ptCount val="44"/>
                <c:pt idx="0">
                  <c:v>3</c:v>
                </c:pt>
                <c:pt idx="1">
                  <c:v>6</c:v>
                </c:pt>
                <c:pt idx="2">
                  <c:v>7</c:v>
                </c:pt>
                <c:pt idx="3">
                  <c:v>7</c:v>
                </c:pt>
                <c:pt idx="4">
                  <c:v>4</c:v>
                </c:pt>
                <c:pt idx="5">
                  <c:v>1</c:v>
                </c:pt>
                <c:pt idx="6">
                  <c:v>2</c:v>
                </c:pt>
                <c:pt idx="7">
                  <c:v>3</c:v>
                </c:pt>
                <c:pt idx="8">
                  <c:v>3</c:v>
                </c:pt>
                <c:pt idx="9">
                  <c:v>4</c:v>
                </c:pt>
                <c:pt idx="10">
                  <c:v>1</c:v>
                </c:pt>
                <c:pt idx="11">
                  <c:v>8</c:v>
                </c:pt>
                <c:pt idx="12">
                  <c:v>1</c:v>
                </c:pt>
                <c:pt idx="13">
                  <c:v>1</c:v>
                </c:pt>
                <c:pt idx="14">
                  <c:v>1</c:v>
                </c:pt>
                <c:pt idx="15">
                  <c:v>3</c:v>
                </c:pt>
                <c:pt idx="16">
                  <c:v>9</c:v>
                </c:pt>
                <c:pt idx="17">
                  <c:v>2</c:v>
                </c:pt>
                <c:pt idx="18">
                  <c:v>7</c:v>
                </c:pt>
                <c:pt idx="19">
                  <c:v>7</c:v>
                </c:pt>
                <c:pt idx="20">
                  <c:v>6</c:v>
                </c:pt>
                <c:pt idx="21">
                  <c:v>3</c:v>
                </c:pt>
                <c:pt idx="22">
                  <c:v>5</c:v>
                </c:pt>
                <c:pt idx="23">
                  <c:v>7</c:v>
                </c:pt>
                <c:pt idx="24">
                  <c:v>1</c:v>
                </c:pt>
                <c:pt idx="25">
                  <c:v>2</c:v>
                </c:pt>
                <c:pt idx="26">
                  <c:v>5</c:v>
                </c:pt>
                <c:pt idx="27">
                  <c:v>4</c:v>
                </c:pt>
                <c:pt idx="28">
                  <c:v>5</c:v>
                </c:pt>
                <c:pt idx="29">
                  <c:v>5</c:v>
                </c:pt>
                <c:pt idx="30">
                  <c:v>1</c:v>
                </c:pt>
                <c:pt idx="31">
                  <c:v>7</c:v>
                </c:pt>
                <c:pt idx="32">
                  <c:v>9</c:v>
                </c:pt>
                <c:pt idx="33">
                  <c:v>5</c:v>
                </c:pt>
                <c:pt idx="34">
                  <c:v>1</c:v>
                </c:pt>
                <c:pt idx="35">
                  <c:v>8</c:v>
                </c:pt>
                <c:pt idx="36">
                  <c:v>6</c:v>
                </c:pt>
                <c:pt idx="37">
                  <c:v>1</c:v>
                </c:pt>
                <c:pt idx="38">
                  <c:v>6</c:v>
                </c:pt>
                <c:pt idx="39">
                  <c:v>4</c:v>
                </c:pt>
                <c:pt idx="40">
                  <c:v>1</c:v>
                </c:pt>
                <c:pt idx="41">
                  <c:v>8</c:v>
                </c:pt>
                <c:pt idx="42">
                  <c:v>2</c:v>
                </c:pt>
                <c:pt idx="43">
                  <c:v>1</c:v>
                </c:pt>
              </c:numCache>
            </c:numRef>
          </c:xVal>
          <c:yVal>
            <c:numRef>
              <c:f>Sheet1!$C$2:$C$45</c:f>
              <c:numCache>
                <c:formatCode>General</c:formatCode>
                <c:ptCount val="44"/>
                <c:pt idx="0">
                  <c:v>546.46</c:v>
                </c:pt>
                <c:pt idx="1">
                  <c:v>504.96</c:v>
                </c:pt>
                <c:pt idx="2">
                  <c:v>591.62</c:v>
                </c:pt>
                <c:pt idx="3">
                  <c:v>536</c:v>
                </c:pt>
                <c:pt idx="4">
                  <c:v>547.63</c:v>
                </c:pt>
                <c:pt idx="5">
                  <c:v>500.6</c:v>
                </c:pt>
                <c:pt idx="6">
                  <c:v>645.11</c:v>
                </c:pt>
                <c:pt idx="7">
                  <c:v>486.32</c:v>
                </c:pt>
                <c:pt idx="8">
                  <c:v>502.47</c:v>
                </c:pt>
                <c:pt idx="9">
                  <c:v>530.57000000000005</c:v>
                </c:pt>
                <c:pt idx="10">
                  <c:v>550.03</c:v>
                </c:pt>
                <c:pt idx="11">
                  <c:v>560.35</c:v>
                </c:pt>
                <c:pt idx="12">
                  <c:v>542.58000000000004</c:v>
                </c:pt>
                <c:pt idx="13">
                  <c:v>558.35</c:v>
                </c:pt>
                <c:pt idx="14">
                  <c:v>577.58000000000004</c:v>
                </c:pt>
                <c:pt idx="15">
                  <c:v>516.94000000000005</c:v>
                </c:pt>
                <c:pt idx="16">
                  <c:v>510.91</c:v>
                </c:pt>
                <c:pt idx="17">
                  <c:v>450.26</c:v>
                </c:pt>
                <c:pt idx="18">
                  <c:v>548.74</c:v>
                </c:pt>
                <c:pt idx="19">
                  <c:v>443.95</c:v>
                </c:pt>
                <c:pt idx="20">
                  <c:v>527.67999999999995</c:v>
                </c:pt>
                <c:pt idx="21">
                  <c:v>518.41999999999996</c:v>
                </c:pt>
                <c:pt idx="22">
                  <c:v>513.58000000000004</c:v>
                </c:pt>
                <c:pt idx="23">
                  <c:v>522.22</c:v>
                </c:pt>
                <c:pt idx="24">
                  <c:v>665.31</c:v>
                </c:pt>
                <c:pt idx="25">
                  <c:v>514.29</c:v>
                </c:pt>
                <c:pt idx="26">
                  <c:v>452.14</c:v>
                </c:pt>
                <c:pt idx="27">
                  <c:v>537.46</c:v>
                </c:pt>
                <c:pt idx="28">
                  <c:v>497.27</c:v>
                </c:pt>
                <c:pt idx="29">
                  <c:v>583.17999999999995</c:v>
                </c:pt>
                <c:pt idx="30">
                  <c:v>516.52</c:v>
                </c:pt>
                <c:pt idx="31">
                  <c:v>559.85</c:v>
                </c:pt>
                <c:pt idx="32">
                  <c:v>538.51</c:v>
                </c:pt>
                <c:pt idx="33">
                  <c:v>525.87</c:v>
                </c:pt>
                <c:pt idx="34">
                  <c:v>545.71</c:v>
                </c:pt>
                <c:pt idx="35">
                  <c:v>474.61</c:v>
                </c:pt>
                <c:pt idx="36">
                  <c:v>523.89</c:v>
                </c:pt>
                <c:pt idx="37">
                  <c:v>474.26</c:v>
                </c:pt>
                <c:pt idx="38">
                  <c:v>519.59</c:v>
                </c:pt>
                <c:pt idx="39">
                  <c:v>507.41</c:v>
                </c:pt>
                <c:pt idx="40">
                  <c:v>509.38</c:v>
                </c:pt>
                <c:pt idx="41">
                  <c:v>602.70000000000005</c:v>
                </c:pt>
                <c:pt idx="42">
                  <c:v>536.51</c:v>
                </c:pt>
                <c:pt idx="43">
                  <c:v>506.04</c:v>
                </c:pt>
              </c:numCache>
            </c:numRef>
          </c:yVal>
          <c:smooth val="0"/>
          <c:extLst>
            <c:ext xmlns:c16="http://schemas.microsoft.com/office/drawing/2014/chart" uri="{C3380CC4-5D6E-409C-BE32-E72D297353CC}">
              <c16:uniqueId val="{00000001-0C4B-2849-BC4E-B9CDCBAD3994}"/>
            </c:ext>
          </c:extLst>
        </c:ser>
        <c:ser>
          <c:idx val="1"/>
          <c:order val="1"/>
          <c:tx>
            <c:v>Severity</c:v>
          </c:tx>
          <c:spPr>
            <a:ln w="25400" cap="rnd">
              <a:noFill/>
              <a:round/>
            </a:ln>
            <a:effectLst/>
          </c:spPr>
          <c:marker>
            <c:symbol val="circle"/>
            <c:size val="8"/>
            <c:spPr>
              <a:solidFill>
                <a:schemeClr val="accent2"/>
              </a:solidFill>
              <a:ln w="9525">
                <a:solidFill>
                  <a:schemeClr val="accent2"/>
                </a:solidFill>
              </a:ln>
              <a:effectLst/>
            </c:spPr>
          </c:marker>
          <c:trendline>
            <c:spPr>
              <a:ln w="19050" cap="rnd">
                <a:solidFill>
                  <a:schemeClr val="accent2"/>
                </a:solidFill>
                <a:prstDash val="sysDot"/>
              </a:ln>
              <a:effectLst/>
            </c:spPr>
            <c:trendlineType val="linear"/>
            <c:dispRSqr val="0"/>
            <c:dispEq val="0"/>
          </c:trendline>
          <c:xVal>
            <c:numRef>
              <c:f>Sheet1!$B$2:$B$45</c:f>
              <c:numCache>
                <c:formatCode>General</c:formatCode>
                <c:ptCount val="44"/>
                <c:pt idx="0">
                  <c:v>3</c:v>
                </c:pt>
                <c:pt idx="1">
                  <c:v>6</c:v>
                </c:pt>
                <c:pt idx="2">
                  <c:v>3</c:v>
                </c:pt>
                <c:pt idx="3">
                  <c:v>3</c:v>
                </c:pt>
                <c:pt idx="4">
                  <c:v>6</c:v>
                </c:pt>
                <c:pt idx="5">
                  <c:v>1</c:v>
                </c:pt>
                <c:pt idx="6">
                  <c:v>3</c:v>
                </c:pt>
                <c:pt idx="7">
                  <c:v>5</c:v>
                </c:pt>
                <c:pt idx="8">
                  <c:v>6</c:v>
                </c:pt>
                <c:pt idx="9">
                  <c:v>3</c:v>
                </c:pt>
                <c:pt idx="10">
                  <c:v>2</c:v>
                </c:pt>
                <c:pt idx="11">
                  <c:v>8</c:v>
                </c:pt>
                <c:pt idx="12">
                  <c:v>1</c:v>
                </c:pt>
                <c:pt idx="13">
                  <c:v>4</c:v>
                </c:pt>
                <c:pt idx="14">
                  <c:v>2</c:v>
                </c:pt>
                <c:pt idx="15">
                  <c:v>3</c:v>
                </c:pt>
                <c:pt idx="16">
                  <c:v>7</c:v>
                </c:pt>
                <c:pt idx="17">
                  <c:v>5</c:v>
                </c:pt>
                <c:pt idx="18">
                  <c:v>6</c:v>
                </c:pt>
                <c:pt idx="19">
                  <c:v>9</c:v>
                </c:pt>
                <c:pt idx="20">
                  <c:v>2</c:v>
                </c:pt>
                <c:pt idx="21">
                  <c:v>8</c:v>
                </c:pt>
                <c:pt idx="22">
                  <c:v>8</c:v>
                </c:pt>
                <c:pt idx="23">
                  <c:v>4</c:v>
                </c:pt>
                <c:pt idx="24">
                  <c:v>2</c:v>
                </c:pt>
                <c:pt idx="25">
                  <c:v>2</c:v>
                </c:pt>
                <c:pt idx="26">
                  <c:v>7</c:v>
                </c:pt>
                <c:pt idx="27">
                  <c:v>7</c:v>
                </c:pt>
                <c:pt idx="28">
                  <c:v>7</c:v>
                </c:pt>
                <c:pt idx="29">
                  <c:v>3</c:v>
                </c:pt>
                <c:pt idx="30">
                  <c:v>5</c:v>
                </c:pt>
                <c:pt idx="31">
                  <c:v>3</c:v>
                </c:pt>
                <c:pt idx="32">
                  <c:v>6</c:v>
                </c:pt>
                <c:pt idx="33">
                  <c:v>3</c:v>
                </c:pt>
                <c:pt idx="34">
                  <c:v>5</c:v>
                </c:pt>
                <c:pt idx="35">
                  <c:v>4</c:v>
                </c:pt>
                <c:pt idx="36">
                  <c:v>6</c:v>
                </c:pt>
                <c:pt idx="37">
                  <c:v>3</c:v>
                </c:pt>
                <c:pt idx="38">
                  <c:v>2</c:v>
                </c:pt>
                <c:pt idx="39">
                  <c:v>6</c:v>
                </c:pt>
                <c:pt idx="40">
                  <c:v>5</c:v>
                </c:pt>
                <c:pt idx="41">
                  <c:v>7</c:v>
                </c:pt>
                <c:pt idx="42">
                  <c:v>3</c:v>
                </c:pt>
                <c:pt idx="43">
                  <c:v>1</c:v>
                </c:pt>
              </c:numCache>
            </c:numRef>
          </c:xVal>
          <c:yVal>
            <c:numRef>
              <c:f>Sheet1!$C$2:$C$45</c:f>
              <c:numCache>
                <c:formatCode>General</c:formatCode>
                <c:ptCount val="44"/>
                <c:pt idx="0">
                  <c:v>546.46</c:v>
                </c:pt>
                <c:pt idx="1">
                  <c:v>504.96</c:v>
                </c:pt>
                <c:pt idx="2">
                  <c:v>591.62</c:v>
                </c:pt>
                <c:pt idx="3">
                  <c:v>536</c:v>
                </c:pt>
                <c:pt idx="4">
                  <c:v>547.63</c:v>
                </c:pt>
                <c:pt idx="5">
                  <c:v>500.6</c:v>
                </c:pt>
                <c:pt idx="6">
                  <c:v>645.11</c:v>
                </c:pt>
                <c:pt idx="7">
                  <c:v>486.32</c:v>
                </c:pt>
                <c:pt idx="8">
                  <c:v>502.47</c:v>
                </c:pt>
                <c:pt idx="9">
                  <c:v>530.57000000000005</c:v>
                </c:pt>
                <c:pt idx="10">
                  <c:v>550.03</c:v>
                </c:pt>
                <c:pt idx="11">
                  <c:v>560.35</c:v>
                </c:pt>
                <c:pt idx="12">
                  <c:v>542.58000000000004</c:v>
                </c:pt>
                <c:pt idx="13">
                  <c:v>558.35</c:v>
                </c:pt>
                <c:pt idx="14">
                  <c:v>577.58000000000004</c:v>
                </c:pt>
                <c:pt idx="15">
                  <c:v>516.94000000000005</c:v>
                </c:pt>
                <c:pt idx="16">
                  <c:v>510.91</c:v>
                </c:pt>
                <c:pt idx="17">
                  <c:v>450.26</c:v>
                </c:pt>
                <c:pt idx="18">
                  <c:v>548.74</c:v>
                </c:pt>
                <c:pt idx="19">
                  <c:v>443.95</c:v>
                </c:pt>
                <c:pt idx="20">
                  <c:v>527.67999999999995</c:v>
                </c:pt>
                <c:pt idx="21">
                  <c:v>518.41999999999996</c:v>
                </c:pt>
                <c:pt idx="22">
                  <c:v>513.58000000000004</c:v>
                </c:pt>
                <c:pt idx="23">
                  <c:v>522.22</c:v>
                </c:pt>
                <c:pt idx="24">
                  <c:v>665.31</c:v>
                </c:pt>
                <c:pt idx="25">
                  <c:v>514.29</c:v>
                </c:pt>
                <c:pt idx="26">
                  <c:v>452.14</c:v>
                </c:pt>
                <c:pt idx="27">
                  <c:v>537.46</c:v>
                </c:pt>
                <c:pt idx="28">
                  <c:v>497.27</c:v>
                </c:pt>
                <c:pt idx="29">
                  <c:v>583.17999999999995</c:v>
                </c:pt>
                <c:pt idx="30">
                  <c:v>516.52</c:v>
                </c:pt>
                <c:pt idx="31">
                  <c:v>559.85</c:v>
                </c:pt>
                <c:pt idx="32">
                  <c:v>538.51</c:v>
                </c:pt>
                <c:pt idx="33">
                  <c:v>525.87</c:v>
                </c:pt>
                <c:pt idx="34">
                  <c:v>545.71</c:v>
                </c:pt>
                <c:pt idx="35">
                  <c:v>474.61</c:v>
                </c:pt>
                <c:pt idx="36">
                  <c:v>523.89</c:v>
                </c:pt>
                <c:pt idx="37">
                  <c:v>474.26</c:v>
                </c:pt>
                <c:pt idx="38">
                  <c:v>519.59</c:v>
                </c:pt>
                <c:pt idx="39">
                  <c:v>507.41</c:v>
                </c:pt>
                <c:pt idx="40">
                  <c:v>509.38</c:v>
                </c:pt>
                <c:pt idx="41">
                  <c:v>602.70000000000005</c:v>
                </c:pt>
                <c:pt idx="42">
                  <c:v>536.51</c:v>
                </c:pt>
                <c:pt idx="43">
                  <c:v>506.04</c:v>
                </c:pt>
              </c:numCache>
            </c:numRef>
          </c:yVal>
          <c:smooth val="0"/>
          <c:extLst>
            <c:ext xmlns:c16="http://schemas.microsoft.com/office/drawing/2014/chart" uri="{C3380CC4-5D6E-409C-BE32-E72D297353CC}">
              <c16:uniqueId val="{00000003-0C4B-2849-BC4E-B9CDCBAD3994}"/>
            </c:ext>
          </c:extLst>
        </c:ser>
        <c:dLbls>
          <c:showLegendKey val="0"/>
          <c:showVal val="0"/>
          <c:showCatName val="0"/>
          <c:showSerName val="0"/>
          <c:showPercent val="0"/>
          <c:showBubbleSize val="0"/>
        </c:dLbls>
        <c:axId val="1334943151"/>
        <c:axId val="1334893919"/>
      </c:scatterChart>
      <c:valAx>
        <c:axId val="133494315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4893919"/>
        <c:crosses val="autoZero"/>
        <c:crossBetween val="midCat"/>
      </c:valAx>
      <c:valAx>
        <c:axId val="1334893919"/>
        <c:scaling>
          <c:orientation val="minMax"/>
          <c:min val="3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dirty="0"/>
                  <a:t>Overall Latency (</a:t>
                </a:r>
                <a:r>
                  <a:rPr lang="en-US" sz="2000" baseline="0" dirty="0" err="1"/>
                  <a:t>ms</a:t>
                </a:r>
                <a:r>
                  <a:rPr lang="en-US" sz="2000" baseline="0" dirty="0"/>
                  <a:t>)</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4943151"/>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Priming Task (100 </a:t>
            </a:r>
            <a:r>
              <a:rPr lang="en-US" sz="2000" dirty="0" err="1"/>
              <a:t>ms</a:t>
            </a:r>
            <a:r>
              <a:rPr lang="en-US" sz="2000" dirty="0"/>
              <a:t>) and</a:t>
            </a:r>
            <a:r>
              <a:rPr lang="en-US" sz="2000" baseline="0" dirty="0"/>
              <a:t> Accuracy</a:t>
            </a:r>
            <a:endParaRPr lang="en-US" sz="2000" dirty="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15169087851996"/>
          <c:y val="0.11568093911803176"/>
          <c:w val="0.67906613286992124"/>
          <c:h val="0.80259334963480256"/>
        </c:manualLayout>
      </c:layout>
      <c:scatterChart>
        <c:scatterStyle val="lineMarker"/>
        <c:varyColors val="0"/>
        <c:ser>
          <c:idx val="0"/>
          <c:order val="0"/>
          <c:tx>
            <c:v>Brain Fog</c:v>
          </c:tx>
          <c:spPr>
            <a:ln w="19050" cap="rnd">
              <a:noFill/>
              <a:round/>
            </a:ln>
            <a:effectLst/>
          </c:spPr>
          <c:marker>
            <c:symbol val="circle"/>
            <c:size val="8"/>
            <c:spPr>
              <a:solidFill>
                <a:srgbClr val="505D75"/>
              </a:solidFill>
              <a:ln w="9525">
                <a:solidFill>
                  <a:srgbClr val="505D75"/>
                </a:solidFill>
              </a:ln>
              <a:effectLst/>
            </c:spPr>
          </c:marker>
          <c:trendline>
            <c:spPr>
              <a:ln w="19050" cap="rnd">
                <a:solidFill>
                  <a:srgbClr val="505D75"/>
                </a:solidFill>
                <a:prstDash val="sysDot"/>
              </a:ln>
              <a:effectLst/>
            </c:spPr>
            <c:trendlineType val="linear"/>
            <c:dispRSqr val="0"/>
            <c:dispEq val="0"/>
          </c:trendline>
          <c:xVal>
            <c:numRef>
              <c:f>Sheet1!$A$2:$A$73</c:f>
              <c:numCache>
                <c:formatCode>General</c:formatCode>
                <c:ptCount val="72"/>
                <c:pt idx="0">
                  <c:v>7</c:v>
                </c:pt>
                <c:pt idx="1">
                  <c:v>7</c:v>
                </c:pt>
                <c:pt idx="2">
                  <c:v>6</c:v>
                </c:pt>
                <c:pt idx="3">
                  <c:v>3</c:v>
                </c:pt>
                <c:pt idx="4">
                  <c:v>5</c:v>
                </c:pt>
                <c:pt idx="5">
                  <c:v>7</c:v>
                </c:pt>
                <c:pt idx="8">
                  <c:v>1</c:v>
                </c:pt>
                <c:pt idx="10">
                  <c:v>2</c:v>
                </c:pt>
                <c:pt idx="11">
                  <c:v>5</c:v>
                </c:pt>
                <c:pt idx="12">
                  <c:v>4</c:v>
                </c:pt>
                <c:pt idx="13">
                  <c:v>5</c:v>
                </c:pt>
                <c:pt idx="14">
                  <c:v>5</c:v>
                </c:pt>
                <c:pt idx="15">
                  <c:v>1</c:v>
                </c:pt>
                <c:pt idx="16">
                  <c:v>7</c:v>
                </c:pt>
                <c:pt idx="17">
                  <c:v>9</c:v>
                </c:pt>
                <c:pt idx="18">
                  <c:v>5</c:v>
                </c:pt>
                <c:pt idx="21">
                  <c:v>1</c:v>
                </c:pt>
                <c:pt idx="22">
                  <c:v>8</c:v>
                </c:pt>
                <c:pt idx="24">
                  <c:v>6</c:v>
                </c:pt>
                <c:pt idx="25">
                  <c:v>1</c:v>
                </c:pt>
                <c:pt idx="27">
                  <c:v>6</c:v>
                </c:pt>
                <c:pt idx="28">
                  <c:v>4</c:v>
                </c:pt>
                <c:pt idx="29">
                  <c:v>1</c:v>
                </c:pt>
                <c:pt idx="31">
                  <c:v>8</c:v>
                </c:pt>
                <c:pt idx="33">
                  <c:v>2</c:v>
                </c:pt>
                <c:pt idx="34">
                  <c:v>1</c:v>
                </c:pt>
              </c:numCache>
            </c:numRef>
          </c:xVal>
          <c:yVal>
            <c:numRef>
              <c:f>Sheet1!$C$2:$C$73</c:f>
              <c:numCache>
                <c:formatCode>General</c:formatCode>
                <c:ptCount val="72"/>
                <c:pt idx="0">
                  <c:v>0.69</c:v>
                </c:pt>
                <c:pt idx="1">
                  <c:v>0.49</c:v>
                </c:pt>
                <c:pt idx="2">
                  <c:v>0.53</c:v>
                </c:pt>
                <c:pt idx="3">
                  <c:v>0.53</c:v>
                </c:pt>
                <c:pt idx="4">
                  <c:v>0.76</c:v>
                </c:pt>
                <c:pt idx="5">
                  <c:v>0.56000000000000005</c:v>
                </c:pt>
                <c:pt idx="6">
                  <c:v>0.66</c:v>
                </c:pt>
                <c:pt idx="7">
                  <c:v>0.61</c:v>
                </c:pt>
                <c:pt idx="8">
                  <c:v>0.69</c:v>
                </c:pt>
                <c:pt idx="9">
                  <c:v>0.59</c:v>
                </c:pt>
                <c:pt idx="10">
                  <c:v>0.68</c:v>
                </c:pt>
                <c:pt idx="11">
                  <c:v>0.56000000000000005</c:v>
                </c:pt>
                <c:pt idx="12">
                  <c:v>0.62</c:v>
                </c:pt>
                <c:pt idx="13">
                  <c:v>0.56000000000000005</c:v>
                </c:pt>
                <c:pt idx="14">
                  <c:v>0.77</c:v>
                </c:pt>
                <c:pt idx="15">
                  <c:v>0.68</c:v>
                </c:pt>
                <c:pt idx="16">
                  <c:v>0.74</c:v>
                </c:pt>
                <c:pt idx="17">
                  <c:v>0.59</c:v>
                </c:pt>
                <c:pt idx="18">
                  <c:v>0.68</c:v>
                </c:pt>
                <c:pt idx="19">
                  <c:v>0.7</c:v>
                </c:pt>
                <c:pt idx="20">
                  <c:v>0.52</c:v>
                </c:pt>
                <c:pt idx="21">
                  <c:v>0.45</c:v>
                </c:pt>
                <c:pt idx="22">
                  <c:v>0.7</c:v>
                </c:pt>
                <c:pt idx="23">
                  <c:v>0.81</c:v>
                </c:pt>
                <c:pt idx="24">
                  <c:v>0.69</c:v>
                </c:pt>
                <c:pt idx="25">
                  <c:v>0.6</c:v>
                </c:pt>
                <c:pt idx="26">
                  <c:v>0.83</c:v>
                </c:pt>
                <c:pt idx="27">
                  <c:v>0.66</c:v>
                </c:pt>
                <c:pt idx="28">
                  <c:v>0.61</c:v>
                </c:pt>
                <c:pt idx="29">
                  <c:v>0.55000000000000004</c:v>
                </c:pt>
                <c:pt idx="30">
                  <c:v>0.77</c:v>
                </c:pt>
                <c:pt idx="31">
                  <c:v>0.72</c:v>
                </c:pt>
                <c:pt idx="32">
                  <c:v>0.69</c:v>
                </c:pt>
                <c:pt idx="33">
                  <c:v>0.53</c:v>
                </c:pt>
                <c:pt idx="34">
                  <c:v>0.74</c:v>
                </c:pt>
              </c:numCache>
            </c:numRef>
          </c:yVal>
          <c:smooth val="0"/>
          <c:extLst>
            <c:ext xmlns:c16="http://schemas.microsoft.com/office/drawing/2014/chart" uri="{C3380CC4-5D6E-409C-BE32-E72D297353CC}">
              <c16:uniqueId val="{00000001-1D2D-844F-9B05-F64B48DD266F}"/>
            </c:ext>
          </c:extLst>
        </c:ser>
        <c:ser>
          <c:idx val="1"/>
          <c:order val="1"/>
          <c:tx>
            <c:v>Severity</c:v>
          </c:tx>
          <c:spPr>
            <a:ln w="25400" cap="rnd">
              <a:noFill/>
              <a:round/>
            </a:ln>
            <a:effectLst/>
          </c:spPr>
          <c:marker>
            <c:symbol val="circle"/>
            <c:size val="8"/>
            <c:spPr>
              <a:solidFill>
                <a:srgbClr val="C00000"/>
              </a:solidFill>
              <a:ln w="9525">
                <a:solidFill>
                  <a:srgbClr val="C00000"/>
                </a:solidFill>
              </a:ln>
              <a:effectLst/>
            </c:spPr>
          </c:marker>
          <c:trendline>
            <c:spPr>
              <a:ln w="19050" cap="rnd">
                <a:solidFill>
                  <a:srgbClr val="C00000"/>
                </a:solidFill>
                <a:prstDash val="sysDot"/>
              </a:ln>
              <a:effectLst/>
            </c:spPr>
            <c:trendlineType val="linear"/>
            <c:dispRSqr val="0"/>
            <c:dispEq val="0"/>
          </c:trendline>
          <c:xVal>
            <c:numRef>
              <c:f>Sheet1!$B$2:$B$73</c:f>
              <c:numCache>
                <c:formatCode>General</c:formatCode>
                <c:ptCount val="72"/>
                <c:pt idx="0">
                  <c:v>6</c:v>
                </c:pt>
                <c:pt idx="1">
                  <c:v>9</c:v>
                </c:pt>
                <c:pt idx="2">
                  <c:v>2</c:v>
                </c:pt>
                <c:pt idx="3">
                  <c:v>8</c:v>
                </c:pt>
                <c:pt idx="4">
                  <c:v>8</c:v>
                </c:pt>
                <c:pt idx="5">
                  <c:v>4</c:v>
                </c:pt>
                <c:pt idx="8">
                  <c:v>2</c:v>
                </c:pt>
                <c:pt idx="10">
                  <c:v>2</c:v>
                </c:pt>
                <c:pt idx="11">
                  <c:v>7</c:v>
                </c:pt>
                <c:pt idx="12">
                  <c:v>7</c:v>
                </c:pt>
                <c:pt idx="13">
                  <c:v>7</c:v>
                </c:pt>
                <c:pt idx="14">
                  <c:v>3</c:v>
                </c:pt>
                <c:pt idx="15">
                  <c:v>5</c:v>
                </c:pt>
                <c:pt idx="16">
                  <c:v>3</c:v>
                </c:pt>
                <c:pt idx="17">
                  <c:v>6</c:v>
                </c:pt>
                <c:pt idx="18">
                  <c:v>3</c:v>
                </c:pt>
                <c:pt idx="21">
                  <c:v>5</c:v>
                </c:pt>
                <c:pt idx="22">
                  <c:v>4</c:v>
                </c:pt>
                <c:pt idx="24">
                  <c:v>6</c:v>
                </c:pt>
                <c:pt idx="25">
                  <c:v>3</c:v>
                </c:pt>
                <c:pt idx="27">
                  <c:v>2</c:v>
                </c:pt>
                <c:pt idx="28">
                  <c:v>6</c:v>
                </c:pt>
                <c:pt idx="29">
                  <c:v>5</c:v>
                </c:pt>
                <c:pt idx="31">
                  <c:v>7</c:v>
                </c:pt>
                <c:pt idx="33">
                  <c:v>3</c:v>
                </c:pt>
                <c:pt idx="34">
                  <c:v>1</c:v>
                </c:pt>
              </c:numCache>
            </c:numRef>
          </c:xVal>
          <c:yVal>
            <c:numRef>
              <c:f>Sheet1!$C$2:$C$73</c:f>
              <c:numCache>
                <c:formatCode>General</c:formatCode>
                <c:ptCount val="72"/>
                <c:pt idx="0">
                  <c:v>0.69</c:v>
                </c:pt>
                <c:pt idx="1">
                  <c:v>0.49</c:v>
                </c:pt>
                <c:pt idx="2">
                  <c:v>0.53</c:v>
                </c:pt>
                <c:pt idx="3">
                  <c:v>0.53</c:v>
                </c:pt>
                <c:pt idx="4">
                  <c:v>0.76</c:v>
                </c:pt>
                <c:pt idx="5">
                  <c:v>0.56000000000000005</c:v>
                </c:pt>
                <c:pt idx="6">
                  <c:v>0.66</c:v>
                </c:pt>
                <c:pt idx="7">
                  <c:v>0.61</c:v>
                </c:pt>
                <c:pt idx="8">
                  <c:v>0.69</c:v>
                </c:pt>
                <c:pt idx="9">
                  <c:v>0.59</c:v>
                </c:pt>
                <c:pt idx="10">
                  <c:v>0.68</c:v>
                </c:pt>
                <c:pt idx="11">
                  <c:v>0.56000000000000005</c:v>
                </c:pt>
                <c:pt idx="12">
                  <c:v>0.62</c:v>
                </c:pt>
                <c:pt idx="13">
                  <c:v>0.56000000000000005</c:v>
                </c:pt>
                <c:pt idx="14">
                  <c:v>0.77</c:v>
                </c:pt>
                <c:pt idx="15">
                  <c:v>0.68</c:v>
                </c:pt>
                <c:pt idx="16">
                  <c:v>0.74</c:v>
                </c:pt>
                <c:pt idx="17">
                  <c:v>0.59</c:v>
                </c:pt>
                <c:pt idx="18">
                  <c:v>0.68</c:v>
                </c:pt>
                <c:pt idx="19">
                  <c:v>0.7</c:v>
                </c:pt>
                <c:pt idx="20">
                  <c:v>0.52</c:v>
                </c:pt>
                <c:pt idx="21">
                  <c:v>0.45</c:v>
                </c:pt>
                <c:pt idx="22">
                  <c:v>0.7</c:v>
                </c:pt>
                <c:pt idx="23">
                  <c:v>0.81</c:v>
                </c:pt>
                <c:pt idx="24">
                  <c:v>0.69</c:v>
                </c:pt>
                <c:pt idx="25">
                  <c:v>0.6</c:v>
                </c:pt>
                <c:pt idx="26">
                  <c:v>0.83</c:v>
                </c:pt>
                <c:pt idx="27">
                  <c:v>0.66</c:v>
                </c:pt>
                <c:pt idx="28">
                  <c:v>0.61</c:v>
                </c:pt>
                <c:pt idx="29">
                  <c:v>0.55000000000000004</c:v>
                </c:pt>
                <c:pt idx="30">
                  <c:v>0.77</c:v>
                </c:pt>
                <c:pt idx="31">
                  <c:v>0.72</c:v>
                </c:pt>
                <c:pt idx="32">
                  <c:v>0.69</c:v>
                </c:pt>
                <c:pt idx="33">
                  <c:v>0.53</c:v>
                </c:pt>
                <c:pt idx="34">
                  <c:v>0.74</c:v>
                </c:pt>
              </c:numCache>
            </c:numRef>
          </c:yVal>
          <c:smooth val="0"/>
          <c:extLst>
            <c:ext xmlns:c16="http://schemas.microsoft.com/office/drawing/2014/chart" uri="{C3380CC4-5D6E-409C-BE32-E72D297353CC}">
              <c16:uniqueId val="{00000003-1D2D-844F-9B05-F64B48DD266F}"/>
            </c:ext>
          </c:extLst>
        </c:ser>
        <c:dLbls>
          <c:showLegendKey val="0"/>
          <c:showVal val="0"/>
          <c:showCatName val="0"/>
          <c:showSerName val="0"/>
          <c:showPercent val="0"/>
          <c:showBubbleSize val="0"/>
        </c:dLbls>
        <c:axId val="1337071055"/>
        <c:axId val="1337072703"/>
      </c:scatterChart>
      <c:valAx>
        <c:axId val="133707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2703"/>
        <c:crosses val="autoZero"/>
        <c:crossBetween val="midCat"/>
      </c:valAx>
      <c:valAx>
        <c:axId val="1337072703"/>
        <c:scaling>
          <c:orientation val="minMax"/>
          <c:max val="1"/>
          <c:min val="0.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a:t>Overall Accuracy</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1055"/>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sz="2000" dirty="0"/>
              <a:t>Priming Task (100 </a:t>
            </a:r>
            <a:r>
              <a:rPr lang="en-US" sz="2000" dirty="0" err="1"/>
              <a:t>ms</a:t>
            </a:r>
            <a:r>
              <a:rPr lang="en-US" sz="2000" dirty="0"/>
              <a:t>) and</a:t>
            </a:r>
            <a:r>
              <a:rPr lang="en-US" sz="2000" baseline="0" dirty="0"/>
              <a:t> Latency</a:t>
            </a:r>
            <a:endParaRPr lang="en-US" sz="2000" dirty="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15169087851996"/>
          <c:y val="0.11568093911803176"/>
          <c:w val="0.67906613286992124"/>
          <c:h val="0.80259334963480256"/>
        </c:manualLayout>
      </c:layout>
      <c:scatterChart>
        <c:scatterStyle val="lineMarker"/>
        <c:varyColors val="0"/>
        <c:ser>
          <c:idx val="0"/>
          <c:order val="0"/>
          <c:tx>
            <c:v>Brain Fog</c:v>
          </c:tx>
          <c:spPr>
            <a:ln w="19050" cap="rnd">
              <a:noFill/>
              <a:round/>
            </a:ln>
            <a:effectLst/>
          </c:spPr>
          <c:marker>
            <c:symbol val="circle"/>
            <c:size val="8"/>
            <c:spPr>
              <a:solidFill>
                <a:srgbClr val="505D75"/>
              </a:solidFill>
              <a:ln w="9525">
                <a:solidFill>
                  <a:srgbClr val="505D75"/>
                </a:solidFill>
              </a:ln>
              <a:effectLst/>
            </c:spPr>
          </c:marker>
          <c:trendline>
            <c:spPr>
              <a:ln w="19050" cap="rnd">
                <a:solidFill>
                  <a:srgbClr val="505D75"/>
                </a:solidFill>
                <a:prstDash val="sysDot"/>
              </a:ln>
              <a:effectLst/>
            </c:spPr>
            <c:trendlineType val="linear"/>
            <c:dispRSqr val="0"/>
            <c:dispEq val="0"/>
          </c:trendline>
          <c:xVal>
            <c:numRef>
              <c:f>Sheet1!$A$2:$A$73</c:f>
              <c:numCache>
                <c:formatCode>General</c:formatCode>
                <c:ptCount val="72"/>
                <c:pt idx="0">
                  <c:v>7</c:v>
                </c:pt>
                <c:pt idx="1">
                  <c:v>7</c:v>
                </c:pt>
                <c:pt idx="2">
                  <c:v>6</c:v>
                </c:pt>
                <c:pt idx="3">
                  <c:v>3</c:v>
                </c:pt>
                <c:pt idx="4">
                  <c:v>5</c:v>
                </c:pt>
                <c:pt idx="5">
                  <c:v>7</c:v>
                </c:pt>
                <c:pt idx="8">
                  <c:v>1</c:v>
                </c:pt>
                <c:pt idx="10">
                  <c:v>2</c:v>
                </c:pt>
                <c:pt idx="11">
                  <c:v>5</c:v>
                </c:pt>
                <c:pt idx="12">
                  <c:v>4</c:v>
                </c:pt>
                <c:pt idx="13">
                  <c:v>5</c:v>
                </c:pt>
                <c:pt idx="14">
                  <c:v>5</c:v>
                </c:pt>
                <c:pt idx="15">
                  <c:v>1</c:v>
                </c:pt>
                <c:pt idx="16">
                  <c:v>7</c:v>
                </c:pt>
                <c:pt idx="17">
                  <c:v>9</c:v>
                </c:pt>
                <c:pt idx="18">
                  <c:v>5</c:v>
                </c:pt>
                <c:pt idx="21">
                  <c:v>1</c:v>
                </c:pt>
                <c:pt idx="22">
                  <c:v>8</c:v>
                </c:pt>
                <c:pt idx="24">
                  <c:v>6</c:v>
                </c:pt>
                <c:pt idx="25">
                  <c:v>1</c:v>
                </c:pt>
                <c:pt idx="27">
                  <c:v>6</c:v>
                </c:pt>
                <c:pt idx="28">
                  <c:v>4</c:v>
                </c:pt>
                <c:pt idx="29">
                  <c:v>1</c:v>
                </c:pt>
                <c:pt idx="31">
                  <c:v>8</c:v>
                </c:pt>
                <c:pt idx="33">
                  <c:v>2</c:v>
                </c:pt>
                <c:pt idx="34">
                  <c:v>1</c:v>
                </c:pt>
              </c:numCache>
            </c:numRef>
          </c:xVal>
          <c:yVal>
            <c:numRef>
              <c:f>Sheet1!$C$2:$C$73</c:f>
              <c:numCache>
                <c:formatCode>General</c:formatCode>
                <c:ptCount val="72"/>
                <c:pt idx="0">
                  <c:v>591.62</c:v>
                </c:pt>
                <c:pt idx="1">
                  <c:v>324.51</c:v>
                </c:pt>
                <c:pt idx="2">
                  <c:v>535.94000000000005</c:v>
                </c:pt>
                <c:pt idx="3">
                  <c:v>352.01</c:v>
                </c:pt>
                <c:pt idx="4">
                  <c:v>471.99</c:v>
                </c:pt>
                <c:pt idx="5">
                  <c:v>406.72</c:v>
                </c:pt>
                <c:pt idx="6">
                  <c:v>548.58000000000004</c:v>
                </c:pt>
                <c:pt idx="7">
                  <c:v>378.3</c:v>
                </c:pt>
                <c:pt idx="8">
                  <c:v>413.73</c:v>
                </c:pt>
                <c:pt idx="9">
                  <c:v>396.36</c:v>
                </c:pt>
                <c:pt idx="10">
                  <c:v>420.06</c:v>
                </c:pt>
                <c:pt idx="11">
                  <c:v>379.71</c:v>
                </c:pt>
                <c:pt idx="12">
                  <c:v>383.98</c:v>
                </c:pt>
                <c:pt idx="13">
                  <c:v>386</c:v>
                </c:pt>
                <c:pt idx="14">
                  <c:v>545.59</c:v>
                </c:pt>
                <c:pt idx="15">
                  <c:v>421.41</c:v>
                </c:pt>
                <c:pt idx="16">
                  <c:v>475.55</c:v>
                </c:pt>
                <c:pt idx="17">
                  <c:v>522.45000000000005</c:v>
                </c:pt>
                <c:pt idx="18">
                  <c:v>418.55</c:v>
                </c:pt>
                <c:pt idx="19">
                  <c:v>457.69</c:v>
                </c:pt>
                <c:pt idx="20">
                  <c:v>318.3</c:v>
                </c:pt>
                <c:pt idx="21">
                  <c:v>300.57</c:v>
                </c:pt>
                <c:pt idx="22">
                  <c:v>392.35</c:v>
                </c:pt>
                <c:pt idx="23">
                  <c:v>592.14</c:v>
                </c:pt>
                <c:pt idx="24">
                  <c:v>383.74</c:v>
                </c:pt>
                <c:pt idx="25">
                  <c:v>355.98</c:v>
                </c:pt>
                <c:pt idx="26">
                  <c:v>537.41</c:v>
                </c:pt>
                <c:pt idx="27">
                  <c:v>465.85</c:v>
                </c:pt>
                <c:pt idx="28">
                  <c:v>376.29</c:v>
                </c:pt>
                <c:pt idx="29">
                  <c:v>360.19</c:v>
                </c:pt>
                <c:pt idx="30">
                  <c:v>525.03</c:v>
                </c:pt>
                <c:pt idx="31">
                  <c:v>514.70000000000005</c:v>
                </c:pt>
                <c:pt idx="32">
                  <c:v>472.28</c:v>
                </c:pt>
                <c:pt idx="33">
                  <c:v>427.73</c:v>
                </c:pt>
                <c:pt idx="34">
                  <c:v>426.8</c:v>
                </c:pt>
              </c:numCache>
            </c:numRef>
          </c:yVal>
          <c:smooth val="0"/>
          <c:extLst>
            <c:ext xmlns:c16="http://schemas.microsoft.com/office/drawing/2014/chart" uri="{C3380CC4-5D6E-409C-BE32-E72D297353CC}">
              <c16:uniqueId val="{00000001-584B-3341-848D-392103194631}"/>
            </c:ext>
          </c:extLst>
        </c:ser>
        <c:ser>
          <c:idx val="1"/>
          <c:order val="1"/>
          <c:tx>
            <c:v>Severity</c:v>
          </c:tx>
          <c:spPr>
            <a:ln w="25400" cap="rnd">
              <a:noFill/>
              <a:round/>
            </a:ln>
            <a:effectLst/>
          </c:spPr>
          <c:marker>
            <c:symbol val="circle"/>
            <c:size val="8"/>
            <c:spPr>
              <a:solidFill>
                <a:srgbClr val="C00000"/>
              </a:solidFill>
              <a:ln w="9525">
                <a:solidFill>
                  <a:srgbClr val="C00000"/>
                </a:solidFill>
              </a:ln>
              <a:effectLst/>
            </c:spPr>
          </c:marker>
          <c:trendline>
            <c:spPr>
              <a:ln w="19050" cap="rnd">
                <a:solidFill>
                  <a:srgbClr val="C00000"/>
                </a:solidFill>
                <a:prstDash val="sysDot"/>
              </a:ln>
              <a:effectLst/>
            </c:spPr>
            <c:trendlineType val="linear"/>
            <c:dispRSqr val="0"/>
            <c:dispEq val="0"/>
          </c:trendline>
          <c:xVal>
            <c:numRef>
              <c:f>Sheet1!$B$2:$B$73</c:f>
              <c:numCache>
                <c:formatCode>General</c:formatCode>
                <c:ptCount val="72"/>
                <c:pt idx="0">
                  <c:v>6</c:v>
                </c:pt>
                <c:pt idx="1">
                  <c:v>9</c:v>
                </c:pt>
                <c:pt idx="2">
                  <c:v>2</c:v>
                </c:pt>
                <c:pt idx="3">
                  <c:v>8</c:v>
                </c:pt>
                <c:pt idx="4">
                  <c:v>8</c:v>
                </c:pt>
                <c:pt idx="5">
                  <c:v>4</c:v>
                </c:pt>
                <c:pt idx="8">
                  <c:v>2</c:v>
                </c:pt>
                <c:pt idx="10">
                  <c:v>2</c:v>
                </c:pt>
                <c:pt idx="11">
                  <c:v>7</c:v>
                </c:pt>
                <c:pt idx="12">
                  <c:v>7</c:v>
                </c:pt>
                <c:pt idx="13">
                  <c:v>7</c:v>
                </c:pt>
                <c:pt idx="14">
                  <c:v>3</c:v>
                </c:pt>
                <c:pt idx="15">
                  <c:v>5</c:v>
                </c:pt>
                <c:pt idx="16">
                  <c:v>3</c:v>
                </c:pt>
                <c:pt idx="17">
                  <c:v>6</c:v>
                </c:pt>
                <c:pt idx="18">
                  <c:v>3</c:v>
                </c:pt>
                <c:pt idx="21">
                  <c:v>5</c:v>
                </c:pt>
                <c:pt idx="22">
                  <c:v>4</c:v>
                </c:pt>
                <c:pt idx="24">
                  <c:v>6</c:v>
                </c:pt>
                <c:pt idx="25">
                  <c:v>3</c:v>
                </c:pt>
                <c:pt idx="27">
                  <c:v>2</c:v>
                </c:pt>
                <c:pt idx="28">
                  <c:v>6</c:v>
                </c:pt>
                <c:pt idx="29">
                  <c:v>5</c:v>
                </c:pt>
                <c:pt idx="31">
                  <c:v>7</c:v>
                </c:pt>
                <c:pt idx="33">
                  <c:v>3</c:v>
                </c:pt>
                <c:pt idx="34">
                  <c:v>1</c:v>
                </c:pt>
              </c:numCache>
            </c:numRef>
          </c:xVal>
          <c:yVal>
            <c:numRef>
              <c:f>Sheet1!$C$2:$C$73</c:f>
              <c:numCache>
                <c:formatCode>General</c:formatCode>
                <c:ptCount val="72"/>
                <c:pt idx="0">
                  <c:v>591.62</c:v>
                </c:pt>
                <c:pt idx="1">
                  <c:v>324.51</c:v>
                </c:pt>
                <c:pt idx="2">
                  <c:v>535.94000000000005</c:v>
                </c:pt>
                <c:pt idx="3">
                  <c:v>352.01</c:v>
                </c:pt>
                <c:pt idx="4">
                  <c:v>471.99</c:v>
                </c:pt>
                <c:pt idx="5">
                  <c:v>406.72</c:v>
                </c:pt>
                <c:pt idx="6">
                  <c:v>548.58000000000004</c:v>
                </c:pt>
                <c:pt idx="7">
                  <c:v>378.3</c:v>
                </c:pt>
                <c:pt idx="8">
                  <c:v>413.73</c:v>
                </c:pt>
                <c:pt idx="9">
                  <c:v>396.36</c:v>
                </c:pt>
                <c:pt idx="10">
                  <c:v>420.06</c:v>
                </c:pt>
                <c:pt idx="11">
                  <c:v>379.71</c:v>
                </c:pt>
                <c:pt idx="12">
                  <c:v>383.98</c:v>
                </c:pt>
                <c:pt idx="13">
                  <c:v>386</c:v>
                </c:pt>
                <c:pt idx="14">
                  <c:v>545.59</c:v>
                </c:pt>
                <c:pt idx="15">
                  <c:v>421.41</c:v>
                </c:pt>
                <c:pt idx="16">
                  <c:v>475.55</c:v>
                </c:pt>
                <c:pt idx="17">
                  <c:v>522.45000000000005</c:v>
                </c:pt>
                <c:pt idx="18">
                  <c:v>418.55</c:v>
                </c:pt>
                <c:pt idx="19">
                  <c:v>457.69</c:v>
                </c:pt>
                <c:pt idx="20">
                  <c:v>318.3</c:v>
                </c:pt>
                <c:pt idx="21">
                  <c:v>300.57</c:v>
                </c:pt>
                <c:pt idx="22">
                  <c:v>392.35</c:v>
                </c:pt>
                <c:pt idx="23">
                  <c:v>592.14</c:v>
                </c:pt>
                <c:pt idx="24">
                  <c:v>383.74</c:v>
                </c:pt>
                <c:pt idx="25">
                  <c:v>355.98</c:v>
                </c:pt>
                <c:pt idx="26">
                  <c:v>537.41</c:v>
                </c:pt>
                <c:pt idx="27">
                  <c:v>465.85</c:v>
                </c:pt>
                <c:pt idx="28">
                  <c:v>376.29</c:v>
                </c:pt>
                <c:pt idx="29">
                  <c:v>360.19</c:v>
                </c:pt>
                <c:pt idx="30">
                  <c:v>525.03</c:v>
                </c:pt>
                <c:pt idx="31">
                  <c:v>514.70000000000005</c:v>
                </c:pt>
                <c:pt idx="32">
                  <c:v>472.28</c:v>
                </c:pt>
                <c:pt idx="33">
                  <c:v>427.73</c:v>
                </c:pt>
                <c:pt idx="34">
                  <c:v>426.8</c:v>
                </c:pt>
              </c:numCache>
            </c:numRef>
          </c:yVal>
          <c:smooth val="0"/>
          <c:extLst>
            <c:ext xmlns:c16="http://schemas.microsoft.com/office/drawing/2014/chart" uri="{C3380CC4-5D6E-409C-BE32-E72D297353CC}">
              <c16:uniqueId val="{00000003-584B-3341-848D-392103194631}"/>
            </c:ext>
          </c:extLst>
        </c:ser>
        <c:dLbls>
          <c:showLegendKey val="0"/>
          <c:showVal val="0"/>
          <c:showCatName val="0"/>
          <c:showSerName val="0"/>
          <c:showPercent val="0"/>
          <c:showBubbleSize val="0"/>
        </c:dLbls>
        <c:axId val="1337071055"/>
        <c:axId val="1337072703"/>
      </c:scatterChart>
      <c:valAx>
        <c:axId val="133707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2703"/>
        <c:crosses val="autoZero"/>
        <c:crossBetween val="midCat"/>
      </c:valAx>
      <c:valAx>
        <c:axId val="1337072703"/>
        <c:scaling>
          <c:orientation val="minMax"/>
          <c:min val="3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sz="2000" baseline="0" dirty="0"/>
                  <a:t>Overall Latency (</a:t>
                </a:r>
                <a:r>
                  <a:rPr lang="en-US" sz="2000" baseline="0" dirty="0" err="1"/>
                  <a:t>ms</a:t>
                </a:r>
                <a:r>
                  <a:rPr lang="en-US" sz="2000" baseline="0" dirty="0"/>
                  <a:t>)</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7071055"/>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E87C5-2190-4C31-929F-2C675EFA6C2B}" type="datetimeFigureOut">
              <a:rPr lang="en-US" smtClean="0"/>
              <a:t>4/23/23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448BE-82A2-4C88-9C78-D72449CBCFE3}" type="slidenum">
              <a:rPr lang="en-US" smtClean="0"/>
              <a:t>‹#›</a:t>
            </a:fld>
            <a:endParaRPr lang="en-US"/>
          </a:p>
        </p:txBody>
      </p:sp>
    </p:spTree>
    <p:extLst>
      <p:ext uri="{BB962C8B-B14F-4D97-AF65-F5344CB8AC3E}">
        <p14:creationId xmlns:p14="http://schemas.microsoft.com/office/powerpoint/2010/main" val="1686282593"/>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E448BE-82A2-4C88-9C78-D72449CBCFE3}" type="slidenum">
              <a:rPr lang="en-US" smtClean="0"/>
              <a:t>1</a:t>
            </a:fld>
            <a:endParaRPr lang="en-US"/>
          </a:p>
        </p:txBody>
      </p:sp>
    </p:spTree>
    <p:extLst>
      <p:ext uri="{BB962C8B-B14F-4D97-AF65-F5344CB8AC3E}">
        <p14:creationId xmlns:p14="http://schemas.microsoft.com/office/powerpoint/2010/main" val="860756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p>
        </p:txBody>
      </p:sp>
      <p:sp>
        <p:nvSpPr>
          <p:cNvPr id="4" name="Date Placeholder 3"/>
          <p:cNvSpPr>
            <a:spLocks noGrp="1"/>
          </p:cNvSpPr>
          <p:nvPr>
            <p:ph type="dt" sz="half" idx="10"/>
          </p:nvPr>
        </p:nvSpPr>
        <p:spPr/>
        <p:txBody>
          <a:bodyPr/>
          <a:lstStyle/>
          <a:p>
            <a:fld id="{B35676A9-BD67-4A99-8781-9A86D9A01DE8}" type="datetimeFigureOut">
              <a:rPr lang="en-US" smtClean="0"/>
              <a:t>4/23/23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4161503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5676A9-BD67-4A99-8781-9A86D9A01DE8}" type="datetimeFigureOut">
              <a:rPr lang="en-US" smtClean="0"/>
              <a:t>4/23/23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596717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5676A9-BD67-4A99-8781-9A86D9A01DE8}" type="datetimeFigureOut">
              <a:rPr lang="en-US" smtClean="0"/>
              <a:t>4/23/23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073397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5676A9-BD67-4A99-8781-9A86D9A01DE8}" type="datetimeFigureOut">
              <a:rPr lang="en-US" smtClean="0"/>
              <a:t>4/23/23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3854256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5676A9-BD67-4A99-8781-9A86D9A01DE8}" type="datetimeFigureOut">
              <a:rPr lang="en-US" smtClean="0"/>
              <a:t>4/23/23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317247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5676A9-BD67-4A99-8781-9A86D9A01DE8}" type="datetimeFigureOut">
              <a:rPr lang="en-US" smtClean="0"/>
              <a:t>4/23/23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46967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676A9-BD67-4A99-8781-9A86D9A01DE8}" type="datetimeFigureOut">
              <a:rPr lang="en-US" smtClean="0"/>
              <a:t>4/23/23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163210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B35676A9-BD67-4A99-8781-9A86D9A01DE8}" type="datetimeFigureOut">
              <a:rPr lang="en-US" smtClean="0"/>
              <a:t>4/23/23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0958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B35676A9-BD67-4A99-8781-9A86D9A01DE8}" type="datetimeFigureOut">
              <a:rPr lang="en-US" smtClean="0"/>
              <a:t>4/23/23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751351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5676A9-BD67-4A99-8781-9A86D9A01DE8}" type="datetimeFigureOut">
              <a:rPr lang="en-US" smtClean="0"/>
              <a:t>4/23/23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210892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5676A9-BD67-4A99-8781-9A86D9A01DE8}" type="datetimeFigureOut">
              <a:rPr lang="en-US" smtClean="0"/>
              <a:t>4/23/23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55EE-04AF-4474-9A23-C6F53254D689}" type="slidenum">
              <a:rPr lang="en-US" smtClean="0"/>
              <a:t>‹#›</a:t>
            </a:fld>
            <a:endParaRPr lang="en-US"/>
          </a:p>
        </p:txBody>
      </p:sp>
    </p:spTree>
    <p:extLst>
      <p:ext uri="{BB962C8B-B14F-4D97-AF65-F5344CB8AC3E}">
        <p14:creationId xmlns:p14="http://schemas.microsoft.com/office/powerpoint/2010/main" val="924924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B35676A9-BD67-4A99-8781-9A86D9A01DE8}" type="datetimeFigureOut">
              <a:rPr lang="en-US" smtClean="0"/>
              <a:t>4/23/23</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A8F355EE-04AF-4474-9A23-C6F53254D689}" type="slidenum">
              <a:rPr lang="en-US" smtClean="0"/>
              <a:t>‹#›</a:t>
            </a:fld>
            <a:endParaRPr lang="en-US"/>
          </a:p>
        </p:txBody>
      </p:sp>
    </p:spTree>
    <p:extLst>
      <p:ext uri="{BB962C8B-B14F-4D97-AF65-F5344CB8AC3E}">
        <p14:creationId xmlns:p14="http://schemas.microsoft.com/office/powerpoint/2010/main" val="42543605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notesSlide" Target="../notesSlides/notesSlide1.xml"/><Relationship Id="rId7" Type="http://schemas.openxmlformats.org/officeDocument/2006/relationships/image" Target="../media/image2.png"/><Relationship Id="rId12" Type="http://schemas.openxmlformats.org/officeDocument/2006/relationships/image" Target="../media/image3.wmf"/><Relationship Id="rId2" Type="http://schemas.openxmlformats.org/officeDocument/2006/relationships/slideLayout" Target="../slideLayouts/slideLayout1.xml"/><Relationship Id="rId1" Type="http://schemas.openxmlformats.org/officeDocument/2006/relationships/control" Target="../activeX/activeX1.xml"/><Relationship Id="rId6" Type="http://schemas.openxmlformats.org/officeDocument/2006/relationships/image" Target="../media/image1.png"/><Relationship Id="rId11" Type="http://schemas.openxmlformats.org/officeDocument/2006/relationships/chart" Target="../charts/chart6.xml"/><Relationship Id="rId5" Type="http://schemas.openxmlformats.org/officeDocument/2006/relationships/chart" Target="../charts/chart2.xml"/><Relationship Id="rId10" Type="http://schemas.openxmlformats.org/officeDocument/2006/relationships/chart" Target="../charts/chart5.xml"/><Relationship Id="rId4" Type="http://schemas.openxmlformats.org/officeDocument/2006/relationships/chart" Target="../charts/chart1.xml"/><Relationship Id="rId9"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Chart 48">
            <a:extLst>
              <a:ext uri="{FF2B5EF4-FFF2-40B4-BE49-F238E27FC236}">
                <a16:creationId xmlns:a16="http://schemas.microsoft.com/office/drawing/2014/main" id="{54088DA3-2C5C-ED47-AB1A-795D5AF0BAC2}"/>
              </a:ext>
            </a:extLst>
          </p:cNvPr>
          <p:cNvGraphicFramePr/>
          <p:nvPr>
            <p:extLst>
              <p:ext uri="{D42A27DB-BD31-4B8C-83A1-F6EECF244321}">
                <p14:modId xmlns:p14="http://schemas.microsoft.com/office/powerpoint/2010/main" val="3261643696"/>
              </p:ext>
            </p:extLst>
          </p:nvPr>
        </p:nvGraphicFramePr>
        <p:xfrm>
          <a:off x="25412866" y="11534789"/>
          <a:ext cx="9043642" cy="542364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2" name="Chart 41">
            <a:extLst>
              <a:ext uri="{FF2B5EF4-FFF2-40B4-BE49-F238E27FC236}">
                <a16:creationId xmlns:a16="http://schemas.microsoft.com/office/drawing/2014/main" id="{8732D03E-539A-2F4D-94BF-7613AC967447}"/>
              </a:ext>
            </a:extLst>
          </p:cNvPr>
          <p:cNvGraphicFramePr/>
          <p:nvPr>
            <p:extLst>
              <p:ext uri="{D42A27DB-BD31-4B8C-83A1-F6EECF244321}">
                <p14:modId xmlns:p14="http://schemas.microsoft.com/office/powerpoint/2010/main" val="3495662135"/>
              </p:ext>
            </p:extLst>
          </p:nvPr>
        </p:nvGraphicFramePr>
        <p:xfrm>
          <a:off x="25412866" y="5697161"/>
          <a:ext cx="9043642" cy="5423642"/>
        </p:xfrm>
        <a:graphic>
          <a:graphicData uri="http://schemas.openxmlformats.org/drawingml/2006/chart">
            <c:chart xmlns:c="http://schemas.openxmlformats.org/drawingml/2006/chart" xmlns:r="http://schemas.openxmlformats.org/officeDocument/2006/relationships" r:id="rId5"/>
          </a:graphicData>
        </a:graphic>
      </p:graphicFrame>
      <p:sp>
        <p:nvSpPr>
          <p:cNvPr id="74" name="Rectangle 73">
            <a:extLst>
              <a:ext uri="{FF2B5EF4-FFF2-40B4-BE49-F238E27FC236}">
                <a16:creationId xmlns:a16="http://schemas.microsoft.com/office/drawing/2014/main" id="{AD2F723C-80DD-5848-B0D0-36F21AF4DD12}"/>
              </a:ext>
            </a:extLst>
          </p:cNvPr>
          <p:cNvSpPr/>
          <p:nvPr/>
        </p:nvSpPr>
        <p:spPr>
          <a:xfrm>
            <a:off x="857669" y="26905528"/>
            <a:ext cx="13959803" cy="58854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B59D5EB-743C-6845-A71D-7C4681BED4CC}"/>
              </a:ext>
            </a:extLst>
          </p:cNvPr>
          <p:cNvSpPr txBox="1"/>
          <p:nvPr/>
        </p:nvSpPr>
        <p:spPr>
          <a:xfrm>
            <a:off x="16099610" y="3891282"/>
            <a:ext cx="26881596" cy="1231106"/>
          </a:xfrm>
          <a:prstGeom prst="rect">
            <a:avLst/>
          </a:prstGeom>
          <a:noFill/>
        </p:spPr>
        <p:txBody>
          <a:bodyPr wrap="square" lIns="0" tIns="182880" rIns="0" bIns="0" rtlCol="0" anchor="t">
            <a:spAutoFit/>
          </a:bodyPr>
          <a:lstStyle/>
          <a:p>
            <a:pPr algn="just"/>
            <a:r>
              <a:rPr lang="en-US" sz="3400" dirty="0">
                <a:solidFill>
                  <a:schemeClr val="tx1">
                    <a:lumMod val="65000"/>
                    <a:lumOff val="35000"/>
                  </a:schemeClr>
                </a:solidFill>
                <a:latin typeface="Arial"/>
                <a:cs typeface="Arial"/>
              </a:rPr>
              <a:t>There was no significant correlation between priming magnitude and either severity (</a:t>
            </a:r>
            <a:r>
              <a:rPr lang="en-US" sz="3400" i="1" dirty="0">
                <a:solidFill>
                  <a:schemeClr val="tx1">
                    <a:lumMod val="65000"/>
                    <a:lumOff val="35000"/>
                  </a:schemeClr>
                </a:solidFill>
                <a:latin typeface="Arial"/>
                <a:cs typeface="Arial"/>
              </a:rPr>
              <a:t>p </a:t>
            </a:r>
            <a:r>
              <a:rPr lang="en-US" sz="3400" dirty="0">
                <a:solidFill>
                  <a:schemeClr val="tx1">
                    <a:lumMod val="65000"/>
                    <a:lumOff val="35000"/>
                  </a:schemeClr>
                </a:solidFill>
                <a:latin typeface="Arial"/>
                <a:cs typeface="Arial"/>
              </a:rPr>
              <a:t>= .545) or brain fog (</a:t>
            </a:r>
            <a:r>
              <a:rPr lang="en-US" sz="3400" i="1" dirty="0">
                <a:solidFill>
                  <a:schemeClr val="tx1">
                    <a:lumMod val="65000"/>
                    <a:lumOff val="35000"/>
                  </a:schemeClr>
                </a:solidFill>
                <a:latin typeface="Arial"/>
                <a:cs typeface="Arial"/>
              </a:rPr>
              <a:t>p </a:t>
            </a:r>
            <a:r>
              <a:rPr lang="en-US" sz="3400" dirty="0">
                <a:solidFill>
                  <a:schemeClr val="tx1">
                    <a:lumMod val="65000"/>
                    <a:lumOff val="35000"/>
                  </a:schemeClr>
                </a:solidFill>
                <a:latin typeface="Arial"/>
                <a:cs typeface="Arial"/>
              </a:rPr>
              <a:t>= .290). However, there was evidence of global cognitive deficits, as depicted in the scatterplots below.</a:t>
            </a:r>
          </a:p>
        </p:txBody>
      </p:sp>
      <p:sp>
        <p:nvSpPr>
          <p:cNvPr id="33" name="TextBox 32"/>
          <p:cNvSpPr txBox="1"/>
          <p:nvPr/>
        </p:nvSpPr>
        <p:spPr>
          <a:xfrm>
            <a:off x="834884" y="4227324"/>
            <a:ext cx="13988044" cy="11695509"/>
          </a:xfrm>
          <a:prstGeom prst="rect">
            <a:avLst/>
          </a:prstGeom>
          <a:noFill/>
        </p:spPr>
        <p:txBody>
          <a:bodyPr wrap="square" lIns="0" tIns="182880" rIns="0" bIns="0" rtlCol="0" anchor="t">
            <a:spAutoFit/>
          </a:bodyPr>
          <a:lstStyle/>
          <a:p>
            <a:pPr marL="571500" indent="-571500" algn="just">
              <a:buFont typeface="Arial" panose="020B0604020202020204" pitchFamily="34" charset="0"/>
              <a:buChar char="•"/>
            </a:pPr>
            <a:r>
              <a:rPr lang="en-US" sz="3400" dirty="0">
                <a:solidFill>
                  <a:schemeClr val="tx1">
                    <a:lumMod val="65000"/>
                    <a:lumOff val="35000"/>
                  </a:schemeClr>
                </a:solidFill>
                <a:latin typeface="Arial"/>
                <a:cs typeface="Arial"/>
              </a:rPr>
              <a:t>Unconscious category priming occurs when a briefly flashed, visually-masked, consciously imperceptible prime word influences categorization of a visible target word that follows it after a short interval (in the experiments reported here, 33 </a:t>
            </a:r>
            <a:r>
              <a:rPr lang="en-US" sz="3400" dirty="0" err="1">
                <a:solidFill>
                  <a:schemeClr val="tx1">
                    <a:lumMod val="65000"/>
                    <a:lumOff val="35000"/>
                  </a:schemeClr>
                </a:solidFill>
                <a:latin typeface="Arial"/>
                <a:cs typeface="Arial"/>
              </a:rPr>
              <a:t>ms</a:t>
            </a:r>
            <a:r>
              <a:rPr lang="en-US" sz="3400" dirty="0">
                <a:solidFill>
                  <a:schemeClr val="tx1">
                    <a:lumMod val="65000"/>
                    <a:lumOff val="35000"/>
                  </a:schemeClr>
                </a:solidFill>
                <a:latin typeface="Arial"/>
                <a:cs typeface="Arial"/>
              </a:rPr>
              <a:t>).</a:t>
            </a:r>
          </a:p>
          <a:p>
            <a:pPr algn="just"/>
            <a:endParaRPr lang="en-US" sz="3400" dirty="0">
              <a:solidFill>
                <a:srgbClr val="595959"/>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3400" dirty="0">
                <a:solidFill>
                  <a:schemeClr val="tx1">
                    <a:lumMod val="65000"/>
                    <a:lumOff val="35000"/>
                  </a:schemeClr>
                </a:solidFill>
                <a:latin typeface="Arial"/>
                <a:cs typeface="Arial"/>
              </a:rPr>
              <a:t>Priming involves semantic associations, which reside mainly in frontal cortex. COVID-19 infection has been found to result in mid- or long-term neurocognitive deficits in this region (</a:t>
            </a:r>
            <a:r>
              <a:rPr lang="en-US" sz="3400" dirty="0" err="1">
                <a:solidFill>
                  <a:schemeClr val="tx1">
                    <a:lumMod val="65000"/>
                    <a:lumOff val="35000"/>
                  </a:schemeClr>
                </a:solidFill>
                <a:latin typeface="Arial"/>
                <a:cs typeface="Arial"/>
              </a:rPr>
              <a:t>Douaud</a:t>
            </a:r>
            <a:r>
              <a:rPr lang="en-US" sz="3400" dirty="0">
                <a:solidFill>
                  <a:schemeClr val="tx1">
                    <a:lumMod val="65000"/>
                    <a:lumOff val="35000"/>
                  </a:schemeClr>
                </a:solidFill>
                <a:latin typeface="Arial"/>
                <a:cs typeface="Arial"/>
              </a:rPr>
              <a:t> et al., 2022).</a:t>
            </a:r>
          </a:p>
          <a:p>
            <a:pPr marL="571500" indent="-571500" algn="just">
              <a:buFont typeface="Arial" panose="020B0604020202020204" pitchFamily="34" charset="0"/>
              <a:buChar char="•"/>
            </a:pPr>
            <a:endParaRPr lang="en-US" sz="34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3400" dirty="0">
                <a:solidFill>
                  <a:schemeClr val="tx1">
                    <a:lumMod val="65000"/>
                    <a:lumOff val="35000"/>
                  </a:schemeClr>
                </a:solidFill>
                <a:latin typeface="Arial"/>
                <a:cs typeface="Arial"/>
              </a:rPr>
              <a:t>Individuals who have contracted COVID-19, regardless of the severity of their symptoms, can experience these cognitive impairments (</a:t>
            </a:r>
            <a:r>
              <a:rPr lang="en-US" sz="3400" dirty="0" err="1">
                <a:solidFill>
                  <a:schemeClr val="tx1">
                    <a:lumMod val="65000"/>
                    <a:lumOff val="35000"/>
                  </a:schemeClr>
                </a:solidFill>
                <a:latin typeface="Arial"/>
                <a:cs typeface="Arial"/>
              </a:rPr>
              <a:t>Nouraeinejad</a:t>
            </a:r>
            <a:r>
              <a:rPr lang="en-US" sz="3400" dirty="0">
                <a:solidFill>
                  <a:schemeClr val="tx1">
                    <a:lumMod val="65000"/>
                    <a:lumOff val="35000"/>
                  </a:schemeClr>
                </a:solidFill>
                <a:latin typeface="Arial"/>
                <a:cs typeface="Arial"/>
              </a:rPr>
              <a:t>, 2022). Infection of COVID-19 is correlated with detriments to executive functioning, processing speed, attention, verbal learning and memory, and working memory (Tavares-Júnior et al., 2022). </a:t>
            </a:r>
            <a:endParaRPr lang="en-US" sz="34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US" sz="34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3400" dirty="0">
                <a:solidFill>
                  <a:schemeClr val="tx1">
                    <a:lumMod val="65000"/>
                    <a:lumOff val="35000"/>
                  </a:schemeClr>
                </a:solidFill>
                <a:latin typeface="Arial"/>
                <a:cs typeface="Arial"/>
              </a:rPr>
              <a:t>Here, we focused on the possibility of observing deficits in priming as sequelae of prior COVID-19 infection. Participants with prior infections were expected to show less priming. Our research also explored the possibility of more global deficits in performance in the priming task.</a:t>
            </a:r>
          </a:p>
          <a:p>
            <a:pPr marL="571500" indent="-571500" algn="just">
              <a:buFont typeface="Arial" panose="020B0604020202020204" pitchFamily="34" charset="0"/>
              <a:buChar char="•"/>
            </a:pPr>
            <a:endParaRPr lang="en-US" sz="34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endParaRPr lang="en-US" sz="3400" dirty="0">
              <a:solidFill>
                <a:schemeClr val="tx1">
                  <a:lumMod val="65000"/>
                  <a:lumOff val="35000"/>
                </a:schemeClr>
              </a:solidFill>
              <a:latin typeface="Arial" panose="020B0604020202020204" pitchFamily="34" charset="0"/>
              <a:cs typeface="Arial" panose="020B0604020202020204" pitchFamily="34" charset="0"/>
            </a:endParaRPr>
          </a:p>
        </p:txBody>
      </p:sp>
      <p:grpSp>
        <p:nvGrpSpPr>
          <p:cNvPr id="6" name="Group 5"/>
          <p:cNvGrpSpPr/>
          <p:nvPr/>
        </p:nvGrpSpPr>
        <p:grpSpPr>
          <a:xfrm>
            <a:off x="834883" y="15464244"/>
            <a:ext cx="14011078" cy="11143731"/>
            <a:chOff x="914399" y="11985483"/>
            <a:chExt cx="15223185" cy="11143731"/>
          </a:xfrm>
        </p:grpSpPr>
        <p:sp>
          <p:nvSpPr>
            <p:cNvPr id="37" name="Rectangle 36">
              <a:extLst>
                <a:ext uri="{FF2B5EF4-FFF2-40B4-BE49-F238E27FC236}">
                  <a16:creationId xmlns:a16="http://schemas.microsoft.com/office/drawing/2014/main" id="{7A6224BF-1008-334A-B4BE-A0B54082A93E}"/>
                </a:ext>
              </a:extLst>
            </p:cNvPr>
            <p:cNvSpPr/>
            <p:nvPr/>
          </p:nvSpPr>
          <p:spPr>
            <a:xfrm>
              <a:off x="914400" y="11985483"/>
              <a:ext cx="15223184" cy="769441"/>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dirty="0">
                  <a:latin typeface="Arial" panose="020B0604020202020204" pitchFamily="34" charset="0"/>
                  <a:cs typeface="Arial" panose="020B0604020202020204" pitchFamily="34" charset="0"/>
                </a:rPr>
                <a:t>Method</a:t>
              </a:r>
            </a:p>
          </p:txBody>
        </p:sp>
        <p:sp>
          <p:nvSpPr>
            <p:cNvPr id="38" name="TextBox 37"/>
            <p:cNvSpPr txBox="1"/>
            <p:nvPr/>
          </p:nvSpPr>
          <p:spPr>
            <a:xfrm>
              <a:off x="914399" y="12603256"/>
              <a:ext cx="15223184" cy="10525958"/>
            </a:xfrm>
            <a:prstGeom prst="rect">
              <a:avLst/>
            </a:prstGeom>
            <a:noFill/>
          </p:spPr>
          <p:txBody>
            <a:bodyPr wrap="square" lIns="0" tIns="182880" rIns="0" bIns="0" rtlCol="0" anchor="t">
              <a:spAutoFit/>
            </a:bodyPr>
            <a:lstStyle/>
            <a:p>
              <a:pPr marL="571500" indent="-571500" algn="just">
                <a:buFont typeface="Arial" panose="020B0604020202020204" pitchFamily="34" charset="0"/>
                <a:buChar char="•"/>
              </a:pPr>
              <a:r>
                <a:rPr lang="en-US" sz="2800" dirty="0">
                  <a:solidFill>
                    <a:schemeClr val="tx1">
                      <a:lumMod val="65000"/>
                      <a:lumOff val="35000"/>
                    </a:schemeClr>
                  </a:solidFill>
                  <a:latin typeface="Arial"/>
                  <a:cs typeface="Arial"/>
                </a:rPr>
                <a:t>Participants first gained practice categorizing targets not preceded by primes. They then did a priming task in which, on each trial, a briefly flashed and visually masked prime word was shown just before a target word. Primes were either congruent with the category of the following target or incongruent. In analyzing data, we calculated priming as the difference in accuracy between congruent and incongruent trials.</a:t>
              </a:r>
            </a:p>
            <a:p>
              <a:pPr marL="571500" indent="-571500" algn="just">
                <a:buFont typeface="Arial" panose="020B0604020202020204" pitchFamily="34" charset="0"/>
                <a:buChar char="•"/>
              </a:pPr>
              <a:endParaRPr lang="en-US" sz="2800" dirty="0">
                <a:solidFill>
                  <a:schemeClr val="tx1">
                    <a:lumMod val="65000"/>
                    <a:lumOff val="35000"/>
                  </a:schemeClr>
                </a:solidFill>
                <a:latin typeface="Arial"/>
                <a:cs typeface="Arial"/>
              </a:endParaRPr>
            </a:p>
            <a:p>
              <a:pPr marL="571500" indent="-571500" algn="just">
                <a:buFont typeface="Arial" panose="020B0604020202020204" pitchFamily="34" charset="0"/>
                <a:buChar char="•"/>
              </a:pPr>
              <a:r>
                <a:rPr lang="en-US" sz="2800" dirty="0">
                  <a:solidFill>
                    <a:schemeClr val="tx1">
                      <a:lumMod val="65000"/>
                      <a:lumOff val="35000"/>
                    </a:schemeClr>
                  </a:solidFill>
                  <a:latin typeface="Arial"/>
                  <a:cs typeface="Arial"/>
                </a:rPr>
                <a:t>The categorization task was speeded by use of a response window (RW) which, as in earlier work (</a:t>
              </a:r>
              <a:r>
                <a:rPr lang="en-US" sz="2800" dirty="0" err="1">
                  <a:solidFill>
                    <a:schemeClr val="tx1">
                      <a:lumMod val="65000"/>
                      <a:lumOff val="35000"/>
                    </a:schemeClr>
                  </a:solidFill>
                  <a:latin typeface="Arial"/>
                  <a:cs typeface="Arial"/>
                </a:rPr>
                <a:t>Draine</a:t>
              </a:r>
              <a:r>
                <a:rPr lang="en-US" sz="2800" dirty="0">
                  <a:solidFill>
                    <a:schemeClr val="tx1">
                      <a:lumMod val="65000"/>
                      <a:lumOff val="35000"/>
                    </a:schemeClr>
                  </a:solidFill>
                  <a:latin typeface="Arial"/>
                  <a:cs typeface="Arial"/>
                </a:rPr>
                <a:t> &amp; Greenwald, 1998), obliges participants to respond quickly so as to maximize responding during the fleeting activation elicited by the masked primes.</a:t>
              </a:r>
            </a:p>
            <a:p>
              <a:pPr marL="571500" indent="-571500" algn="just">
                <a:buFont typeface="Arial" panose="020B0604020202020204" pitchFamily="34" charset="0"/>
                <a:buChar char="•"/>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2800" dirty="0">
                  <a:solidFill>
                    <a:schemeClr val="tx1">
                      <a:lumMod val="65000"/>
                      <a:lumOff val="35000"/>
                    </a:schemeClr>
                  </a:solidFill>
                  <a:latin typeface="Arial"/>
                  <a:cs typeface="Arial"/>
                </a:rPr>
                <a:t>18 participants were presented primes at only one duration, 33 </a:t>
              </a:r>
              <a:r>
                <a:rPr lang="en-US" sz="2800" dirty="0" err="1">
                  <a:solidFill>
                    <a:schemeClr val="tx1">
                      <a:lumMod val="65000"/>
                      <a:lumOff val="35000"/>
                    </a:schemeClr>
                  </a:solidFill>
                  <a:latin typeface="Arial"/>
                  <a:cs typeface="Arial"/>
                </a:rPr>
                <a:t>ms</a:t>
              </a:r>
              <a:r>
                <a:rPr lang="en-US" sz="2800" dirty="0">
                  <a:solidFill>
                    <a:schemeClr val="tx1">
                      <a:lumMod val="65000"/>
                      <a:lumOff val="35000"/>
                    </a:schemeClr>
                  </a:solidFill>
                  <a:latin typeface="Arial"/>
                  <a:cs typeface="Arial"/>
                </a:rPr>
                <a:t>, while 26 participants received 33 </a:t>
              </a:r>
              <a:r>
                <a:rPr lang="en-US" sz="2800" dirty="0" err="1">
                  <a:solidFill>
                    <a:schemeClr val="tx1">
                      <a:lumMod val="65000"/>
                      <a:lumOff val="35000"/>
                    </a:schemeClr>
                  </a:solidFill>
                  <a:latin typeface="Arial"/>
                  <a:cs typeface="Arial"/>
                </a:rPr>
                <a:t>ms</a:t>
              </a:r>
              <a:r>
                <a:rPr lang="en-US" sz="2800" dirty="0">
                  <a:solidFill>
                    <a:schemeClr val="tx1">
                      <a:lumMod val="65000"/>
                      <a:lumOff val="35000"/>
                    </a:schemeClr>
                  </a:solidFill>
                  <a:latin typeface="Arial"/>
                  <a:cs typeface="Arial"/>
                </a:rPr>
                <a:t> primes on half of trials and 100 </a:t>
              </a:r>
              <a:r>
                <a:rPr lang="en-US" sz="2800" dirty="0" err="1">
                  <a:solidFill>
                    <a:schemeClr val="tx1">
                      <a:lumMod val="65000"/>
                      <a:lumOff val="35000"/>
                    </a:schemeClr>
                  </a:solidFill>
                  <a:latin typeface="Arial"/>
                  <a:cs typeface="Arial"/>
                </a:rPr>
                <a:t>ms</a:t>
              </a:r>
              <a:r>
                <a:rPr lang="en-US" sz="2800" dirty="0">
                  <a:solidFill>
                    <a:schemeClr val="tx1">
                      <a:lumMod val="65000"/>
                      <a:lumOff val="35000"/>
                    </a:schemeClr>
                  </a:solidFill>
                  <a:latin typeface="Arial"/>
                  <a:cs typeface="Arial"/>
                </a:rPr>
                <a:t> on the other half. The shorter-duration primes are normally consciously imperceptible, while the 100 </a:t>
              </a:r>
              <a:r>
                <a:rPr lang="en-US" sz="2800" dirty="0" err="1">
                  <a:solidFill>
                    <a:schemeClr val="tx1">
                      <a:lumMod val="65000"/>
                      <a:lumOff val="35000"/>
                    </a:schemeClr>
                  </a:solidFill>
                  <a:latin typeface="Arial"/>
                  <a:cs typeface="Arial"/>
                </a:rPr>
                <a:t>ms</a:t>
              </a:r>
              <a:r>
                <a:rPr lang="en-US" sz="2800" dirty="0">
                  <a:solidFill>
                    <a:schemeClr val="tx1">
                      <a:lumMod val="65000"/>
                      <a:lumOff val="35000"/>
                    </a:schemeClr>
                  </a:solidFill>
                  <a:latin typeface="Arial"/>
                  <a:cs typeface="Arial"/>
                </a:rPr>
                <a:t> are visible for most participants (but this study did not directly test conscious perceptibility).</a:t>
              </a:r>
            </a:p>
            <a:p>
              <a:pPr marL="571500" indent="-571500" algn="just">
                <a:buFont typeface="Arial" panose="020B0604020202020204" pitchFamily="34" charset="0"/>
                <a:buChar char="•"/>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2800" dirty="0">
                  <a:solidFill>
                    <a:schemeClr val="tx1">
                      <a:lumMod val="65000"/>
                      <a:lumOff val="35000"/>
                    </a:schemeClr>
                  </a:solidFill>
                  <a:latin typeface="Arial"/>
                  <a:cs typeface="Arial"/>
                </a:rPr>
                <a:t>As part of an ongoing series of studies examining </a:t>
              </a:r>
              <a:r>
                <a:rPr lang="en-US" sz="2800" dirty="0" err="1">
                  <a:solidFill>
                    <a:schemeClr val="tx1">
                      <a:lumMod val="65000"/>
                      <a:lumOff val="35000"/>
                    </a:schemeClr>
                  </a:solidFill>
                  <a:latin typeface="Arial"/>
                  <a:cs typeface="Arial"/>
                </a:rPr>
                <a:t>subword</a:t>
              </a:r>
              <a:r>
                <a:rPr lang="en-US" sz="2800" dirty="0">
                  <a:solidFill>
                    <a:schemeClr val="tx1">
                      <a:lumMod val="65000"/>
                      <a:lumOff val="35000"/>
                    </a:schemeClr>
                  </a:solidFill>
                  <a:latin typeface="Arial"/>
                  <a:cs typeface="Arial"/>
                </a:rPr>
                <a:t> processing in masked priming, the current research manipulated the order of letters in the words presented as primes. For the correlations reported under Results, no differences were observed between the type of primes, and the correlations collapse across prime type.</a:t>
              </a:r>
            </a:p>
            <a:p>
              <a:pPr marL="571500" indent="-571500" algn="just">
                <a:buFont typeface="Arial" panose="020B0604020202020204" pitchFamily="34" charset="0"/>
                <a:buChar char="•"/>
              </a:pPr>
              <a:endParaRPr lang="en-US" sz="2800" dirty="0">
                <a:solidFill>
                  <a:schemeClr val="tx1">
                    <a:lumMod val="65000"/>
                    <a:lumOff val="35000"/>
                  </a:schemeClr>
                </a:solidFill>
                <a:latin typeface="Arial" panose="020B0604020202020204" pitchFamily="34" charset="0"/>
                <a:cs typeface="Arial" panose="020B0604020202020204" pitchFamily="34" charset="0"/>
              </a:endParaRPr>
            </a:p>
            <a:p>
              <a:pPr marL="571500" indent="-571500" algn="just">
                <a:buFont typeface="Arial" panose="020B0604020202020204" pitchFamily="34" charset="0"/>
                <a:buChar char="•"/>
              </a:pPr>
              <a:r>
                <a:rPr lang="en-US" sz="2800" dirty="0">
                  <a:solidFill>
                    <a:schemeClr val="tx1">
                      <a:lumMod val="65000"/>
                      <a:lumOff val="35000"/>
                    </a:schemeClr>
                  </a:solidFill>
                  <a:latin typeface="Arial"/>
                  <a:cs typeface="Arial"/>
                </a:rPr>
                <a:t>After the priming task, participants completed a survey that assessed their COVID-19 history, including time since infection, severity of symptoms, and severity of brain fog.</a:t>
              </a:r>
            </a:p>
          </p:txBody>
        </p:sp>
      </p:grpSp>
      <p:sp>
        <p:nvSpPr>
          <p:cNvPr id="39" name="Rectangle 38">
            <a:extLst>
              <a:ext uri="{FF2B5EF4-FFF2-40B4-BE49-F238E27FC236}">
                <a16:creationId xmlns:a16="http://schemas.microsoft.com/office/drawing/2014/main" id="{7A6224BF-1008-334A-B4BE-A0B54082A93E}"/>
              </a:ext>
            </a:extLst>
          </p:cNvPr>
          <p:cNvSpPr/>
          <p:nvPr/>
        </p:nvSpPr>
        <p:spPr>
          <a:xfrm>
            <a:off x="16099610" y="3245686"/>
            <a:ext cx="26881596" cy="771402"/>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dirty="0">
                <a:latin typeface="Arial" panose="020B0604020202020204" pitchFamily="34" charset="0"/>
                <a:cs typeface="Arial" panose="020B0604020202020204" pitchFamily="34" charset="0"/>
              </a:rPr>
              <a:t>Results</a:t>
            </a:r>
          </a:p>
        </p:txBody>
      </p:sp>
      <p:grpSp>
        <p:nvGrpSpPr>
          <p:cNvPr id="2" name="Group 1"/>
          <p:cNvGrpSpPr/>
          <p:nvPr/>
        </p:nvGrpSpPr>
        <p:grpSpPr>
          <a:xfrm>
            <a:off x="16182530" y="27549551"/>
            <a:ext cx="26881596" cy="2826403"/>
            <a:chOff x="29928302" y="12318984"/>
            <a:chExt cx="13156532" cy="4051488"/>
          </a:xfrm>
        </p:grpSpPr>
        <p:sp>
          <p:nvSpPr>
            <p:cNvPr id="12" name="Rectangle 11">
              <a:extLst>
                <a:ext uri="{FF2B5EF4-FFF2-40B4-BE49-F238E27FC236}">
                  <a16:creationId xmlns:a16="http://schemas.microsoft.com/office/drawing/2014/main" id="{7A6224BF-1008-334A-B4BE-A0B54082A93E}"/>
                </a:ext>
              </a:extLst>
            </p:cNvPr>
            <p:cNvSpPr/>
            <p:nvPr/>
          </p:nvSpPr>
          <p:spPr>
            <a:xfrm>
              <a:off x="29928302" y="12318984"/>
              <a:ext cx="13156532" cy="1102950"/>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a:latin typeface="Arial" panose="020B0604020202020204" pitchFamily="34" charset="0"/>
                  <a:cs typeface="Arial" panose="020B0604020202020204" pitchFamily="34" charset="0"/>
                </a:rPr>
                <a:t>References</a:t>
              </a:r>
            </a:p>
          </p:txBody>
        </p:sp>
        <p:sp>
          <p:nvSpPr>
            <p:cNvPr id="13" name="TextBox 12">
              <a:extLst>
                <a:ext uri="{FF2B5EF4-FFF2-40B4-BE49-F238E27FC236}">
                  <a16:creationId xmlns:a16="http://schemas.microsoft.com/office/drawing/2014/main" id="{436848FA-001F-A94D-8D26-313DB3DDD0D0}"/>
                </a:ext>
              </a:extLst>
            </p:cNvPr>
            <p:cNvSpPr txBox="1"/>
            <p:nvPr/>
          </p:nvSpPr>
          <p:spPr>
            <a:xfrm>
              <a:off x="29989260" y="13458683"/>
              <a:ext cx="13034612" cy="2911789"/>
            </a:xfrm>
            <a:prstGeom prst="rect">
              <a:avLst/>
            </a:prstGeom>
            <a:noFill/>
          </p:spPr>
          <p:txBody>
            <a:bodyPr wrap="square" lIns="0" tIns="182880" rIns="0" bIns="0" rtlCol="0" anchor="t">
              <a:spAutoFit/>
            </a:bodyPr>
            <a:lstStyle/>
            <a:p>
              <a:pPr marL="873125" indent="-873125" algn="just"/>
              <a:r>
                <a:rPr lang="en-US" sz="2400" dirty="0" err="1">
                  <a:solidFill>
                    <a:schemeClr val="tx1">
                      <a:lumMod val="65000"/>
                      <a:lumOff val="35000"/>
                    </a:schemeClr>
                  </a:solidFill>
                  <a:latin typeface="Arial"/>
                  <a:ea typeface="National Light" pitchFamily="50" charset="0"/>
                  <a:cs typeface="Arial"/>
                </a:rPr>
                <a:t>Douaud</a:t>
              </a:r>
              <a:r>
                <a:rPr lang="en-US" sz="2400" dirty="0">
                  <a:solidFill>
                    <a:schemeClr val="tx1">
                      <a:lumMod val="65000"/>
                      <a:lumOff val="35000"/>
                    </a:schemeClr>
                  </a:solidFill>
                  <a:latin typeface="Arial"/>
                  <a:ea typeface="National Light" pitchFamily="50" charset="0"/>
                  <a:cs typeface="Arial"/>
                </a:rPr>
                <a:t>, G. et al. (2022). SARS-CoV-2 is associated with changes in brain structure in UK Biobank. </a:t>
              </a:r>
              <a:r>
                <a:rPr lang="en-US" sz="2400" i="1" dirty="0">
                  <a:solidFill>
                    <a:schemeClr val="tx1">
                      <a:lumMod val="65000"/>
                      <a:lumOff val="35000"/>
                    </a:schemeClr>
                  </a:solidFill>
                  <a:latin typeface="Arial"/>
                  <a:ea typeface="National Light" pitchFamily="50" charset="0"/>
                  <a:cs typeface="Arial"/>
                </a:rPr>
                <a:t>Nature, 604</a:t>
              </a:r>
              <a:r>
                <a:rPr lang="en-US" sz="2400" dirty="0">
                  <a:solidFill>
                    <a:schemeClr val="tx1">
                      <a:lumMod val="65000"/>
                      <a:lumOff val="35000"/>
                    </a:schemeClr>
                  </a:solidFill>
                  <a:latin typeface="Arial"/>
                  <a:ea typeface="National Light" pitchFamily="50" charset="0"/>
                  <a:cs typeface="Arial"/>
                </a:rPr>
                <a:t>(7907), 697-707.</a:t>
              </a:r>
            </a:p>
            <a:p>
              <a:pPr marL="873125" indent="-873125" algn="just"/>
              <a:endParaRPr lang="en-US" sz="2400" dirty="0">
                <a:solidFill>
                  <a:schemeClr val="tx1">
                    <a:lumMod val="65000"/>
                    <a:lumOff val="35000"/>
                  </a:schemeClr>
                </a:solidFill>
                <a:latin typeface="Arial" panose="020B0604020202020204" pitchFamily="34" charset="0"/>
                <a:ea typeface="National Light" pitchFamily="50" charset="0"/>
                <a:cs typeface="Arial" panose="020B0604020202020204" pitchFamily="34" charset="0"/>
              </a:endParaRPr>
            </a:p>
            <a:p>
              <a:pPr marL="873125" indent="-873125" algn="just"/>
              <a:r>
                <a:rPr lang="en-US" sz="2400" dirty="0" err="1">
                  <a:solidFill>
                    <a:schemeClr val="tx1">
                      <a:lumMod val="65000"/>
                      <a:lumOff val="35000"/>
                    </a:schemeClr>
                  </a:solidFill>
                  <a:latin typeface="Arial"/>
                  <a:ea typeface="National Light" pitchFamily="50" charset="0"/>
                  <a:cs typeface="Arial"/>
                </a:rPr>
                <a:t>Nouraeinejad</a:t>
              </a:r>
              <a:r>
                <a:rPr lang="en-US" sz="2400" dirty="0">
                  <a:solidFill>
                    <a:schemeClr val="tx1">
                      <a:lumMod val="65000"/>
                      <a:lumOff val="35000"/>
                    </a:schemeClr>
                  </a:solidFill>
                  <a:latin typeface="Arial"/>
                  <a:ea typeface="National Light" pitchFamily="50" charset="0"/>
                  <a:cs typeface="Arial"/>
                </a:rPr>
                <a:t>, A. (2022). Brain fog as a Long-term Sequela of COVID-19. </a:t>
              </a:r>
              <a:r>
                <a:rPr lang="en-US" sz="2400" i="1" dirty="0">
                  <a:solidFill>
                    <a:schemeClr val="tx1">
                      <a:lumMod val="65000"/>
                      <a:lumOff val="35000"/>
                    </a:schemeClr>
                  </a:solidFill>
                  <a:latin typeface="Arial"/>
                  <a:ea typeface="National Light" pitchFamily="50" charset="0"/>
                  <a:cs typeface="Arial"/>
                </a:rPr>
                <a:t>SN Comprehensive Clinical Medicine, 5</a:t>
              </a:r>
              <a:r>
                <a:rPr lang="en-US" sz="2400" dirty="0">
                  <a:solidFill>
                    <a:schemeClr val="tx1">
                      <a:lumMod val="65000"/>
                      <a:lumOff val="35000"/>
                    </a:schemeClr>
                  </a:solidFill>
                  <a:latin typeface="Arial"/>
                  <a:ea typeface="National Light" pitchFamily="50" charset="0"/>
                  <a:cs typeface="Arial"/>
                </a:rPr>
                <a:t>(1), 9.</a:t>
              </a:r>
            </a:p>
            <a:p>
              <a:pPr marL="873125" indent="-873125" algn="just"/>
              <a:endParaRPr lang="en-US" sz="2400" dirty="0">
                <a:solidFill>
                  <a:schemeClr val="tx1">
                    <a:lumMod val="65000"/>
                    <a:lumOff val="35000"/>
                  </a:schemeClr>
                </a:solidFill>
                <a:latin typeface="Arial" panose="020B0604020202020204" pitchFamily="34" charset="0"/>
                <a:ea typeface="National Light" pitchFamily="50" charset="0"/>
                <a:cs typeface="Arial" panose="020B0604020202020204" pitchFamily="34" charset="0"/>
              </a:endParaRPr>
            </a:p>
            <a:p>
              <a:pPr marL="873125" indent="-873125" algn="just"/>
              <a:r>
                <a:rPr lang="en-US" sz="2400" dirty="0">
                  <a:solidFill>
                    <a:schemeClr val="tx1">
                      <a:lumMod val="65000"/>
                      <a:lumOff val="35000"/>
                    </a:schemeClr>
                  </a:solidFill>
                  <a:latin typeface="Arial"/>
                  <a:ea typeface="National Light" pitchFamily="50" charset="0"/>
                  <a:cs typeface="Arial"/>
                </a:rPr>
                <a:t>Tavares-Júnior, J. W. L. et al (2022). COVID-19 associated cognitive impairment: A systematic review. </a:t>
              </a:r>
              <a:r>
                <a:rPr lang="en-US" sz="2400" i="1" dirty="0">
                  <a:solidFill>
                    <a:schemeClr val="tx1">
                      <a:lumMod val="65000"/>
                      <a:lumOff val="35000"/>
                    </a:schemeClr>
                  </a:solidFill>
                  <a:latin typeface="Arial"/>
                  <a:ea typeface="National Light" pitchFamily="50" charset="0"/>
                  <a:cs typeface="Arial"/>
                </a:rPr>
                <a:t>Cortex</a:t>
              </a:r>
              <a:r>
                <a:rPr lang="en-US" sz="2400" dirty="0">
                  <a:solidFill>
                    <a:schemeClr val="tx1">
                      <a:lumMod val="65000"/>
                      <a:lumOff val="35000"/>
                    </a:schemeClr>
                  </a:solidFill>
                  <a:latin typeface="Arial"/>
                  <a:ea typeface="National Light" pitchFamily="50" charset="0"/>
                  <a:cs typeface="Arial"/>
                </a:rPr>
                <a:t>.</a:t>
              </a:r>
            </a:p>
          </p:txBody>
        </p:sp>
      </p:grpSp>
      <p:sp>
        <p:nvSpPr>
          <p:cNvPr id="15" name="Rectangle 14">
            <a:extLst>
              <a:ext uri="{FF2B5EF4-FFF2-40B4-BE49-F238E27FC236}">
                <a16:creationId xmlns:a16="http://schemas.microsoft.com/office/drawing/2014/main" id="{7A6224BF-1008-334A-B4BE-A0B54082A93E}"/>
              </a:ext>
            </a:extLst>
          </p:cNvPr>
          <p:cNvSpPr/>
          <p:nvPr/>
        </p:nvSpPr>
        <p:spPr>
          <a:xfrm>
            <a:off x="16152129" y="17045458"/>
            <a:ext cx="26881596" cy="769441"/>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a:latin typeface="Arial" panose="020B0604020202020204" pitchFamily="34" charset="0"/>
                <a:cs typeface="Arial" panose="020B0604020202020204" pitchFamily="34" charset="0"/>
              </a:rPr>
              <a:t>Discussion</a:t>
            </a:r>
          </a:p>
        </p:txBody>
      </p:sp>
      <p:sp>
        <p:nvSpPr>
          <p:cNvPr id="17" name="TextBox 16">
            <a:extLst>
              <a:ext uri="{FF2B5EF4-FFF2-40B4-BE49-F238E27FC236}">
                <a16:creationId xmlns:a16="http://schemas.microsoft.com/office/drawing/2014/main" id="{181D129E-BE22-C04A-8AF9-7C4CC513A2A5}"/>
              </a:ext>
            </a:extLst>
          </p:cNvPr>
          <p:cNvSpPr txBox="1"/>
          <p:nvPr/>
        </p:nvSpPr>
        <p:spPr>
          <a:xfrm>
            <a:off x="16196408" y="17827200"/>
            <a:ext cx="26437143" cy="9079409"/>
          </a:xfrm>
          <a:prstGeom prst="rect">
            <a:avLst/>
          </a:prstGeom>
          <a:noFill/>
        </p:spPr>
        <p:txBody>
          <a:bodyPr wrap="square" lIns="0" tIns="182880" rIns="0" bIns="0" rtlCol="0" anchor="t">
            <a:spAutoFit/>
          </a:bodyPr>
          <a:lstStyle/>
          <a:p>
            <a:pPr algn="just">
              <a:buFont typeface="Arial" panose="020B0604020202020204" pitchFamily="34" charset="0"/>
              <a:buChar char="•"/>
            </a:pPr>
            <a:r>
              <a:rPr lang="en-US" sz="3400" dirty="0">
                <a:solidFill>
                  <a:srgbClr val="595959"/>
                </a:solidFill>
                <a:latin typeface="Arial"/>
                <a:cs typeface="Arial"/>
              </a:rPr>
              <a:t> Strongest evidence for impairment was observed in the practice phase, where both brain fog and severity were significantly associated with reduced accuracy </a:t>
            </a:r>
            <a:r>
              <a:rPr lang="en-US" sz="3400" i="1" dirty="0">
                <a:solidFill>
                  <a:srgbClr val="595959"/>
                </a:solidFill>
                <a:latin typeface="Arial"/>
                <a:cs typeface="Arial"/>
              </a:rPr>
              <a:t>(p</a:t>
            </a:r>
            <a:r>
              <a:rPr lang="en-US" sz="3400" dirty="0">
                <a:solidFill>
                  <a:srgbClr val="595959"/>
                </a:solidFill>
                <a:latin typeface="Arial"/>
                <a:cs typeface="Arial"/>
              </a:rPr>
              <a:t> = .009 and .025 respectively)</a:t>
            </a:r>
            <a:r>
              <a:rPr lang="en-US" sz="3400" i="1" dirty="0">
                <a:solidFill>
                  <a:srgbClr val="595959"/>
                </a:solidFill>
                <a:latin typeface="Arial"/>
                <a:cs typeface="Arial"/>
              </a:rPr>
              <a:t>,</a:t>
            </a:r>
            <a:r>
              <a:rPr lang="en-US" sz="3400" dirty="0">
                <a:solidFill>
                  <a:srgbClr val="595959"/>
                </a:solidFill>
                <a:latin typeface="Arial"/>
                <a:cs typeface="Arial"/>
              </a:rPr>
              <a:t> and severity also showed a marginally significant association  (</a:t>
            </a:r>
            <a:r>
              <a:rPr lang="en-US" sz="3400" i="1" dirty="0">
                <a:solidFill>
                  <a:srgbClr val="595959"/>
                </a:solidFill>
                <a:latin typeface="Arial"/>
                <a:cs typeface="Arial"/>
              </a:rPr>
              <a:t>p</a:t>
            </a:r>
            <a:r>
              <a:rPr lang="en-US" sz="3400" dirty="0">
                <a:solidFill>
                  <a:srgbClr val="595959"/>
                </a:solidFill>
                <a:latin typeface="Arial"/>
                <a:cs typeface="Arial"/>
              </a:rPr>
              <a:t> = .052) with faster reaction time (possibly suggesting an inability to withhold incorrect responses). The fact that evidence of impairment was strongest in the practice phase may indicate that prior-infected participants have a harder time adjusting to a novel task than participants without prior infection.</a:t>
            </a:r>
          </a:p>
          <a:p>
            <a:pPr algn="just">
              <a:buFont typeface="Arial" panose="020B0604020202020204" pitchFamily="34" charset="0"/>
              <a:buChar char="•"/>
            </a:pPr>
            <a:endParaRPr lang="en-US" sz="3400" b="0" i="0" u="none" strike="noStrike" dirty="0">
              <a:solidFill>
                <a:srgbClr val="595959"/>
              </a:solidFill>
              <a:effectLst/>
              <a:latin typeface="Arial"/>
              <a:cs typeface="Arial"/>
            </a:endParaRPr>
          </a:p>
          <a:p>
            <a:pPr algn="just">
              <a:buFont typeface="Arial" panose="020B0604020202020204" pitchFamily="34" charset="0"/>
              <a:buChar char="•"/>
            </a:pPr>
            <a:r>
              <a:rPr lang="en-US" sz="3400" b="0" i="0" u="none" strike="noStrike" dirty="0">
                <a:solidFill>
                  <a:srgbClr val="595959"/>
                </a:solidFill>
                <a:effectLst/>
                <a:latin typeface="Arial"/>
                <a:cs typeface="Arial"/>
              </a:rPr>
              <a:t> Impairment in accuracy of speeded responding associated with brain fog was also observed in the priming task when primes were 33 </a:t>
            </a:r>
            <a:r>
              <a:rPr lang="en-US" sz="3400" b="0" i="0" u="none" strike="noStrike" dirty="0" err="1">
                <a:solidFill>
                  <a:srgbClr val="595959"/>
                </a:solidFill>
                <a:effectLst/>
                <a:latin typeface="Arial"/>
                <a:cs typeface="Arial"/>
              </a:rPr>
              <a:t>ms</a:t>
            </a:r>
            <a:r>
              <a:rPr lang="en-US" sz="3400" dirty="0">
                <a:solidFill>
                  <a:srgbClr val="000000"/>
                </a:solidFill>
                <a:latin typeface="Arial"/>
                <a:cs typeface="Arial"/>
              </a:rPr>
              <a:t> and presumably consciously imperceptible.</a:t>
            </a:r>
          </a:p>
          <a:p>
            <a:pPr algn="just">
              <a:buFont typeface="Arial" panose="020B0604020202020204" pitchFamily="34" charset="0"/>
              <a:buChar char="•"/>
            </a:pPr>
            <a:endParaRPr lang="en-US" sz="3400" dirty="0">
              <a:solidFill>
                <a:srgbClr val="000000"/>
              </a:solidFill>
              <a:latin typeface="Arial"/>
              <a:cs typeface="Arial"/>
            </a:endParaRPr>
          </a:p>
          <a:p>
            <a:pPr algn="just">
              <a:buFont typeface="Arial" panose="020B0604020202020204" pitchFamily="34" charset="0"/>
              <a:buChar char="•"/>
            </a:pPr>
            <a:r>
              <a:rPr lang="en-US" sz="3400" dirty="0">
                <a:solidFill>
                  <a:srgbClr val="000000"/>
                </a:solidFill>
                <a:latin typeface="Arial"/>
                <a:cs typeface="Arial"/>
              </a:rPr>
              <a:t> When primes were 100 </a:t>
            </a:r>
            <a:r>
              <a:rPr lang="en-US" sz="3400" dirty="0" err="1">
                <a:solidFill>
                  <a:srgbClr val="000000"/>
                </a:solidFill>
                <a:latin typeface="Arial"/>
                <a:cs typeface="Arial"/>
              </a:rPr>
              <a:t>ms</a:t>
            </a:r>
            <a:r>
              <a:rPr lang="en-US" sz="3400" dirty="0">
                <a:solidFill>
                  <a:srgbClr val="000000"/>
                </a:solidFill>
                <a:latin typeface="Arial"/>
                <a:cs typeface="Arial"/>
              </a:rPr>
              <a:t> in duration, there was no evidence for impairment of accuracy, but brain fog was significantly associated with </a:t>
            </a:r>
            <a:r>
              <a:rPr lang="en-US" sz="3400" i="1" dirty="0">
                <a:solidFill>
                  <a:srgbClr val="000000"/>
                </a:solidFill>
                <a:latin typeface="Arial"/>
                <a:cs typeface="Arial"/>
              </a:rPr>
              <a:t>slower</a:t>
            </a:r>
            <a:r>
              <a:rPr lang="en-US" sz="3400" dirty="0">
                <a:solidFill>
                  <a:srgbClr val="000000"/>
                </a:solidFill>
                <a:latin typeface="Arial"/>
                <a:cs typeface="Arial"/>
              </a:rPr>
              <a:t> reaction times (</a:t>
            </a:r>
            <a:r>
              <a:rPr lang="en-US" sz="3400" i="1" dirty="0">
                <a:solidFill>
                  <a:srgbClr val="000000"/>
                </a:solidFill>
                <a:latin typeface="Arial"/>
                <a:cs typeface="Arial"/>
              </a:rPr>
              <a:t>p</a:t>
            </a:r>
            <a:r>
              <a:rPr lang="en-US" sz="3400" dirty="0">
                <a:solidFill>
                  <a:srgbClr val="000000"/>
                </a:solidFill>
                <a:latin typeface="Arial"/>
                <a:cs typeface="Arial"/>
              </a:rPr>
              <a:t> = .015). A straightforward interpretation of this finding is that when the primes are visible, as they are at 100 </a:t>
            </a:r>
            <a:r>
              <a:rPr lang="en-US" sz="3400" dirty="0" err="1">
                <a:solidFill>
                  <a:srgbClr val="000000"/>
                </a:solidFill>
                <a:latin typeface="Arial"/>
                <a:cs typeface="Arial"/>
              </a:rPr>
              <a:t>ms</a:t>
            </a:r>
            <a:r>
              <a:rPr lang="en-US" sz="3400" dirty="0">
                <a:solidFill>
                  <a:srgbClr val="000000"/>
                </a:solidFill>
                <a:latin typeface="Arial"/>
                <a:cs typeface="Arial"/>
              </a:rPr>
              <a:t>, participants are more distracted by them, and prior-infected participants have more difficulty in shedding the distracting effect of the more salient 100 </a:t>
            </a:r>
            <a:r>
              <a:rPr lang="en-US" sz="3400" dirty="0" err="1">
                <a:solidFill>
                  <a:srgbClr val="000000"/>
                </a:solidFill>
                <a:latin typeface="Arial"/>
                <a:cs typeface="Arial"/>
              </a:rPr>
              <a:t>ms</a:t>
            </a:r>
            <a:r>
              <a:rPr lang="en-US" sz="3400" dirty="0">
                <a:solidFill>
                  <a:srgbClr val="000000"/>
                </a:solidFill>
                <a:latin typeface="Arial"/>
                <a:cs typeface="Arial"/>
              </a:rPr>
              <a:t> primes.</a:t>
            </a:r>
          </a:p>
          <a:p>
            <a:pPr algn="just">
              <a:buFont typeface="Arial" panose="020B0604020202020204" pitchFamily="34" charset="0"/>
              <a:buChar char="•"/>
            </a:pPr>
            <a:endParaRPr lang="en-US" sz="3400" dirty="0">
              <a:solidFill>
                <a:schemeClr val="tx1">
                  <a:lumMod val="65000"/>
                  <a:lumOff val="35000"/>
                </a:schemeClr>
              </a:solidFill>
              <a:latin typeface="Arial"/>
              <a:cs typeface="Arial"/>
            </a:endParaRPr>
          </a:p>
          <a:p>
            <a:pPr algn="just" fontAlgn="base">
              <a:buFont typeface="Arial" panose="020B0604020202020204" pitchFamily="34" charset="0"/>
              <a:buChar char="•"/>
            </a:pPr>
            <a:r>
              <a:rPr lang="en-US" sz="3400" dirty="0">
                <a:solidFill>
                  <a:srgbClr val="595959"/>
                </a:solidFill>
                <a:latin typeface="Arial"/>
                <a:cs typeface="Arial"/>
              </a:rPr>
              <a:t> As all but the first block of practice involved speeded responding—responding that for most participants is experienced as effortful and requiring attentive cognitive exertion—the present findings hold promise that speeded-response tasks may be sensitive measures of cognitive sequelae of prior COVID-19 infection potentially not revealed in other kinds </a:t>
            </a:r>
            <a:r>
              <a:rPr lang="en-US" sz="3400">
                <a:solidFill>
                  <a:srgbClr val="595959"/>
                </a:solidFill>
                <a:latin typeface="Arial"/>
                <a:cs typeface="Arial"/>
              </a:rPr>
              <a:t>of tasks.</a:t>
            </a:r>
            <a:endParaRPr lang="en-US" sz="3400" dirty="0">
              <a:solidFill>
                <a:srgbClr val="595959"/>
              </a:solidFill>
              <a:latin typeface="Arial"/>
              <a:cs typeface="Arial"/>
            </a:endParaRPr>
          </a:p>
        </p:txBody>
      </p:sp>
      <p:sp>
        <p:nvSpPr>
          <p:cNvPr id="30" name="Rectangle 29">
            <a:extLst>
              <a:ext uri="{FF2B5EF4-FFF2-40B4-BE49-F238E27FC236}">
                <a16:creationId xmlns:a16="http://schemas.microsoft.com/office/drawing/2014/main" id="{7EB30675-F800-344A-BF73-844661CA4996}"/>
              </a:ext>
            </a:extLst>
          </p:cNvPr>
          <p:cNvSpPr/>
          <p:nvPr/>
        </p:nvSpPr>
        <p:spPr>
          <a:xfrm>
            <a:off x="834883" y="3269450"/>
            <a:ext cx="14011077" cy="769441"/>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a:latin typeface="Arial" panose="020B0604020202020204" pitchFamily="34" charset="0"/>
                <a:cs typeface="Arial" panose="020B0604020202020204" pitchFamily="34" charset="0"/>
              </a:rPr>
              <a:t>Introduction</a:t>
            </a:r>
          </a:p>
        </p:txBody>
      </p:sp>
      <p:sp>
        <p:nvSpPr>
          <p:cNvPr id="63" name="TextBox 62">
            <a:extLst>
              <a:ext uri="{FF2B5EF4-FFF2-40B4-BE49-F238E27FC236}">
                <a16:creationId xmlns:a16="http://schemas.microsoft.com/office/drawing/2014/main" id="{E4BC4F51-3ED0-874E-B94E-1B7D41E09B0E}"/>
              </a:ext>
            </a:extLst>
          </p:cNvPr>
          <p:cNvSpPr txBox="1"/>
          <p:nvPr/>
        </p:nvSpPr>
        <p:spPr>
          <a:xfrm>
            <a:off x="963055" y="26740484"/>
            <a:ext cx="13859873" cy="646331"/>
          </a:xfrm>
          <a:prstGeom prst="rect">
            <a:avLst/>
          </a:prstGeom>
          <a:solidFill>
            <a:srgbClr val="E6E6E6"/>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Trial sequence in priming tasks</a:t>
            </a:r>
          </a:p>
        </p:txBody>
      </p:sp>
      <p:sp>
        <p:nvSpPr>
          <p:cNvPr id="64" name="TextBox 63">
            <a:extLst>
              <a:ext uri="{FF2B5EF4-FFF2-40B4-BE49-F238E27FC236}">
                <a16:creationId xmlns:a16="http://schemas.microsoft.com/office/drawing/2014/main" id="{861CED34-3681-DC48-8D7A-15BE3175637A}"/>
              </a:ext>
            </a:extLst>
          </p:cNvPr>
          <p:cNvSpPr txBox="1"/>
          <p:nvPr/>
        </p:nvSpPr>
        <p:spPr>
          <a:xfrm>
            <a:off x="1193889" y="30938506"/>
            <a:ext cx="3578224" cy="492443"/>
          </a:xfrm>
          <a:prstGeom prst="rect">
            <a:avLst/>
          </a:prstGeom>
          <a:solidFill>
            <a:srgbClr val="E6E6E6"/>
          </a:solidFill>
          <a:ln>
            <a:noFill/>
          </a:ln>
        </p:spPr>
        <p:txBody>
          <a:bodyPr wrap="none" rtlCol="0">
            <a:spAutoFit/>
          </a:bodyPr>
          <a:lstStyle/>
          <a:p>
            <a:r>
              <a:rPr lang="en-US" sz="2600" dirty="0">
                <a:latin typeface="Arial" panose="020B0604020202020204" pitchFamily="34" charset="0"/>
                <a:cs typeface="Arial" panose="020B0604020202020204" pitchFamily="34" charset="0"/>
              </a:rPr>
              <a:t>Forward mask, 300 </a:t>
            </a:r>
            <a:r>
              <a:rPr lang="en-US" sz="2600" dirty="0" err="1">
                <a:latin typeface="Arial" panose="020B0604020202020204" pitchFamily="34" charset="0"/>
                <a:cs typeface="Arial" panose="020B0604020202020204" pitchFamily="34" charset="0"/>
              </a:rPr>
              <a:t>ms</a:t>
            </a:r>
            <a:endParaRPr lang="en-US" sz="2600" dirty="0">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4D6F08F0-8D11-2A45-95BC-1E529FCEAA3D}"/>
              </a:ext>
            </a:extLst>
          </p:cNvPr>
          <p:cNvSpPr txBox="1"/>
          <p:nvPr/>
        </p:nvSpPr>
        <p:spPr>
          <a:xfrm>
            <a:off x="3363437" y="29739908"/>
            <a:ext cx="3634328" cy="492443"/>
          </a:xfrm>
          <a:prstGeom prst="rect">
            <a:avLst/>
          </a:prstGeom>
          <a:solidFill>
            <a:srgbClr val="E6E6E6"/>
          </a:solidFill>
          <a:ln>
            <a:noFill/>
          </a:ln>
        </p:spPr>
        <p:txBody>
          <a:bodyPr wrap="none" rtlCol="0">
            <a:spAutoFit/>
          </a:bodyPr>
          <a:lstStyle/>
          <a:p>
            <a:r>
              <a:rPr lang="en-US" sz="2600" dirty="0">
                <a:latin typeface="Arial" panose="020B0604020202020204" pitchFamily="34" charset="0"/>
                <a:cs typeface="Arial" panose="020B0604020202020204" pitchFamily="34" charset="0"/>
              </a:rPr>
              <a:t>Backward mask, 33 </a:t>
            </a:r>
            <a:r>
              <a:rPr lang="en-US" sz="2600" dirty="0" err="1">
                <a:latin typeface="Arial" panose="020B0604020202020204" pitchFamily="34" charset="0"/>
                <a:cs typeface="Arial" panose="020B0604020202020204" pitchFamily="34" charset="0"/>
              </a:rPr>
              <a:t>ms</a:t>
            </a:r>
            <a:endParaRPr lang="en-US" sz="2600" dirty="0">
              <a:latin typeface="Arial" panose="020B0604020202020204" pitchFamily="34" charset="0"/>
              <a:cs typeface="Arial" panose="020B0604020202020204" pitchFamily="34" charset="0"/>
            </a:endParaRPr>
          </a:p>
        </p:txBody>
      </p:sp>
      <p:sp>
        <p:nvSpPr>
          <p:cNvPr id="67" name="Rectangle 66">
            <a:extLst>
              <a:ext uri="{FF2B5EF4-FFF2-40B4-BE49-F238E27FC236}">
                <a16:creationId xmlns:a16="http://schemas.microsoft.com/office/drawing/2014/main" id="{57CE3584-FD6D-B741-86DB-1BE0C8E090A9}"/>
              </a:ext>
            </a:extLst>
          </p:cNvPr>
          <p:cNvSpPr/>
          <p:nvPr/>
        </p:nvSpPr>
        <p:spPr>
          <a:xfrm>
            <a:off x="-2021533" y="30302415"/>
            <a:ext cx="7895379" cy="492443"/>
          </a:xfrm>
          <a:prstGeom prst="rect">
            <a:avLst/>
          </a:prstGeom>
          <a:solidFill>
            <a:srgbClr val="E6E6E6"/>
          </a:solidFill>
          <a:ln>
            <a:noFill/>
          </a:ln>
        </p:spPr>
        <p:txBody>
          <a:bodyPr wrap="square">
            <a:spAutoFit/>
          </a:bodyPr>
          <a:lstStyle/>
          <a:p>
            <a:pPr algn="r"/>
            <a:r>
              <a:rPr lang="en-US" sz="2600" dirty="0">
                <a:latin typeface="Arial" panose="020B0604020202020204" pitchFamily="34" charset="0"/>
                <a:cs typeface="Arial" panose="020B0604020202020204" pitchFamily="34" charset="0"/>
              </a:rPr>
              <a:t>Prime , 33 </a:t>
            </a:r>
            <a:r>
              <a:rPr lang="en-US" sz="2600" dirty="0" err="1">
                <a:latin typeface="Arial" panose="020B0604020202020204" pitchFamily="34" charset="0"/>
                <a:cs typeface="Arial" panose="020B0604020202020204" pitchFamily="34" charset="0"/>
              </a:rPr>
              <a:t>ms</a:t>
            </a:r>
            <a:r>
              <a:rPr lang="en-US" sz="2600" dirty="0">
                <a:latin typeface="Arial" panose="020B0604020202020204" pitchFamily="34" charset="0"/>
                <a:cs typeface="Arial" panose="020B0604020202020204" pitchFamily="34" charset="0"/>
              </a:rPr>
              <a:t> or 100 </a:t>
            </a:r>
            <a:r>
              <a:rPr lang="en-US" sz="2600" dirty="0" err="1">
                <a:latin typeface="Arial" panose="020B0604020202020204" pitchFamily="34" charset="0"/>
                <a:cs typeface="Arial" panose="020B0604020202020204" pitchFamily="34" charset="0"/>
              </a:rPr>
              <a:t>ms</a:t>
            </a:r>
            <a:endParaRPr lang="en-US" sz="2600" dirty="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3F23EF47-8A12-C444-8D8A-C79493B73034}"/>
              </a:ext>
            </a:extLst>
          </p:cNvPr>
          <p:cNvSpPr/>
          <p:nvPr/>
        </p:nvSpPr>
        <p:spPr bwMode="auto">
          <a:xfrm>
            <a:off x="8861068" y="29145960"/>
            <a:ext cx="3204747" cy="734694"/>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lang="en-US" sz="3600">
                <a:solidFill>
                  <a:srgbClr val="FF0000"/>
                </a:solidFill>
                <a:latin typeface="Arial" panose="020B0604020202020204" pitchFamily="34" charset="0"/>
                <a:cs typeface="Arial" panose="020B0604020202020204" pitchFamily="34" charset="0"/>
              </a:rPr>
              <a:t>!</a:t>
            </a:r>
            <a:endParaRPr kumimoji="0" lang="en-US" sz="3600" b="0" i="0" u="none" strike="noStrike" cap="none" normalizeH="0" baseline="0">
              <a:ln>
                <a:noFill/>
              </a:ln>
              <a:solidFill>
                <a:srgbClr val="FF0000"/>
              </a:solidFill>
              <a:effectLst/>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0B45C3BD-A5F0-2F4B-9598-FD96CBA5E716}"/>
              </a:ext>
            </a:extLst>
          </p:cNvPr>
          <p:cNvSpPr txBox="1"/>
          <p:nvPr/>
        </p:nvSpPr>
        <p:spPr>
          <a:xfrm>
            <a:off x="1313809" y="28578199"/>
            <a:ext cx="9254983" cy="492443"/>
          </a:xfrm>
          <a:prstGeom prst="rect">
            <a:avLst/>
          </a:prstGeom>
          <a:solidFill>
            <a:srgbClr val="E6E6E6"/>
          </a:solidFill>
          <a:ln>
            <a:noFill/>
          </a:ln>
        </p:spPr>
        <p:txBody>
          <a:bodyPr wrap="square" rtlCol="0">
            <a:spAutoFit/>
          </a:bodyPr>
          <a:lstStyle/>
          <a:p>
            <a:pPr algn="r"/>
            <a:r>
              <a:rPr lang="en-US" sz="2600" dirty="0">
                <a:latin typeface="Arial" panose="020B0604020202020204" pitchFamily="34" charset="0"/>
                <a:cs typeface="Arial" panose="020B0604020202020204" pitchFamily="34" charset="0"/>
              </a:rPr>
              <a:t>Target (example is of an incongruent-category trial), 333 </a:t>
            </a:r>
            <a:r>
              <a:rPr lang="en-US" sz="2600" dirty="0" err="1">
                <a:latin typeface="Arial" panose="020B0604020202020204" pitchFamily="34" charset="0"/>
                <a:cs typeface="Arial" panose="020B0604020202020204" pitchFamily="34" charset="0"/>
              </a:rPr>
              <a:t>ms</a:t>
            </a:r>
            <a:endParaRPr lang="en-US" sz="2600" dirty="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40CF823C-4693-D74B-BC53-3ABA17EA2A03}"/>
              </a:ext>
            </a:extLst>
          </p:cNvPr>
          <p:cNvSpPr/>
          <p:nvPr/>
        </p:nvSpPr>
        <p:spPr bwMode="auto">
          <a:xfrm>
            <a:off x="10681204" y="28587813"/>
            <a:ext cx="3204747" cy="734692"/>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lang="en-US" sz="3600" dirty="0">
                <a:latin typeface="Arial" panose="020B0604020202020204" pitchFamily="34" charset="0"/>
                <a:cs typeface="Arial" panose="020B0604020202020204" pitchFamily="34" charset="0"/>
              </a:rPr>
              <a:t>hurt</a:t>
            </a:r>
            <a:endParaRPr kumimoji="0" lang="en-US" sz="3600" b="0" i="0" u="none" strike="noStrike" cap="none" normalizeH="0" baseline="0" dirty="0">
              <a:ln>
                <a:noFill/>
              </a:ln>
              <a:effectLst/>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98E3E3FB-14BA-5F47-9A7B-A0F7F899A05B}"/>
              </a:ext>
            </a:extLst>
          </p:cNvPr>
          <p:cNvSpPr/>
          <p:nvPr/>
        </p:nvSpPr>
        <p:spPr bwMode="auto">
          <a:xfrm>
            <a:off x="6020881" y="30256262"/>
            <a:ext cx="3204747" cy="734692"/>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3717925" rtl="0" eaLnBrk="1" fontAlgn="base" latinLnBrk="0" hangingPunct="1">
              <a:lnSpc>
                <a:spcPct val="100000"/>
              </a:lnSpc>
              <a:spcBef>
                <a:spcPct val="0"/>
              </a:spcBef>
              <a:spcAft>
                <a:spcPct val="0"/>
              </a:spcAft>
              <a:buClrTx/>
              <a:buSzTx/>
              <a:buFontTx/>
              <a:buNone/>
              <a:tabLst/>
            </a:pPr>
            <a:r>
              <a:rPr kumimoji="0" lang="en-US" sz="3600" b="0" i="0" u="none" strike="noStrike" cap="none" normalizeH="0" baseline="0" dirty="0">
                <a:ln>
                  <a:noFill/>
                </a:ln>
                <a:effectLst/>
                <a:latin typeface="Arial" charset="0"/>
              </a:rPr>
              <a:t>PURE</a:t>
            </a:r>
          </a:p>
        </p:txBody>
      </p:sp>
      <p:pic>
        <p:nvPicPr>
          <p:cNvPr id="73" name="Picture 72">
            <a:extLst>
              <a:ext uri="{FF2B5EF4-FFF2-40B4-BE49-F238E27FC236}">
                <a16:creationId xmlns:a16="http://schemas.microsoft.com/office/drawing/2014/main" id="{EFB1B852-03D0-004D-BC46-9F8AB5C89E7F}"/>
              </a:ext>
            </a:extLst>
          </p:cNvPr>
          <p:cNvPicPr>
            <a:picLocks noChangeAspect="1"/>
          </p:cNvPicPr>
          <p:nvPr/>
        </p:nvPicPr>
        <p:blipFill>
          <a:blip r:embed="rId6"/>
          <a:stretch>
            <a:fillRect/>
          </a:stretch>
        </p:blipFill>
        <p:spPr>
          <a:xfrm>
            <a:off x="7150765" y="29700903"/>
            <a:ext cx="3743595" cy="674689"/>
          </a:xfrm>
          <a:prstGeom prst="rect">
            <a:avLst/>
          </a:prstGeom>
          <a:solidFill>
            <a:schemeClr val="tx1"/>
          </a:solidFill>
          <a:ln>
            <a:solidFill>
              <a:schemeClr val="bg1"/>
            </a:solidFill>
          </a:ln>
        </p:spPr>
      </p:pic>
      <p:sp>
        <p:nvSpPr>
          <p:cNvPr id="72" name="TextBox 71">
            <a:extLst>
              <a:ext uri="{FF2B5EF4-FFF2-40B4-BE49-F238E27FC236}">
                <a16:creationId xmlns:a16="http://schemas.microsoft.com/office/drawing/2014/main" id="{9220390C-14D8-D84A-AD20-38720F7939E7}"/>
              </a:ext>
            </a:extLst>
          </p:cNvPr>
          <p:cNvSpPr txBox="1"/>
          <p:nvPr/>
        </p:nvSpPr>
        <p:spPr>
          <a:xfrm>
            <a:off x="-696094" y="29174735"/>
            <a:ext cx="9406325" cy="492443"/>
          </a:xfrm>
          <a:prstGeom prst="rect">
            <a:avLst/>
          </a:prstGeom>
          <a:solidFill>
            <a:srgbClr val="E6E6E6"/>
          </a:solidFill>
          <a:ln>
            <a:noFill/>
          </a:ln>
        </p:spPr>
        <p:txBody>
          <a:bodyPr wrap="square" rtlCol="0">
            <a:spAutoFit/>
          </a:bodyPr>
          <a:lstStyle/>
          <a:p>
            <a:pPr algn="r"/>
            <a:r>
              <a:rPr lang="en-US" sz="2600" dirty="0">
                <a:latin typeface="Arial" panose="020B0604020202020204" pitchFamily="34" charset="0"/>
                <a:cs typeface="Arial" panose="020B0604020202020204" pitchFamily="34" charset="0"/>
              </a:rPr>
              <a:t>Response window, 133 </a:t>
            </a:r>
            <a:r>
              <a:rPr lang="en-US" sz="2600" dirty="0" err="1">
                <a:latin typeface="Arial" panose="020B0604020202020204" pitchFamily="34" charset="0"/>
                <a:cs typeface="Arial" panose="020B0604020202020204" pitchFamily="34" charset="0"/>
              </a:rPr>
              <a:t>ms</a:t>
            </a:r>
            <a:r>
              <a:rPr lang="en-US" sz="2600" dirty="0">
                <a:latin typeface="Arial" panose="020B0604020202020204" pitchFamily="34" charset="0"/>
                <a:cs typeface="Arial" panose="020B0604020202020204" pitchFamily="34" charset="0"/>
              </a:rPr>
              <a:t> </a:t>
            </a:r>
          </a:p>
        </p:txBody>
      </p:sp>
      <p:pic>
        <p:nvPicPr>
          <p:cNvPr id="71" name="Picture 70">
            <a:extLst>
              <a:ext uri="{FF2B5EF4-FFF2-40B4-BE49-F238E27FC236}">
                <a16:creationId xmlns:a16="http://schemas.microsoft.com/office/drawing/2014/main" id="{31B9E211-B6A6-E541-8413-9ECC1ABFEA2B}"/>
              </a:ext>
            </a:extLst>
          </p:cNvPr>
          <p:cNvPicPr>
            <a:picLocks noChangeAspect="1"/>
          </p:cNvPicPr>
          <p:nvPr/>
        </p:nvPicPr>
        <p:blipFill>
          <a:blip r:embed="rId6"/>
          <a:stretch>
            <a:fillRect/>
          </a:stretch>
        </p:blipFill>
        <p:spPr>
          <a:xfrm>
            <a:off x="4868682" y="30819165"/>
            <a:ext cx="3403268" cy="613354"/>
          </a:xfrm>
          <a:prstGeom prst="rect">
            <a:avLst/>
          </a:prstGeom>
          <a:solidFill>
            <a:schemeClr val="tx1"/>
          </a:solidFill>
          <a:ln>
            <a:solidFill>
              <a:schemeClr val="bg1"/>
            </a:solidFill>
          </a:ln>
        </p:spPr>
      </p:pic>
      <p:sp>
        <p:nvSpPr>
          <p:cNvPr id="76" name="Rectangle 75">
            <a:extLst>
              <a:ext uri="{FF2B5EF4-FFF2-40B4-BE49-F238E27FC236}">
                <a16:creationId xmlns:a16="http://schemas.microsoft.com/office/drawing/2014/main" id="{0CC60A96-7CDD-B94E-A558-93E2AB59B673}"/>
              </a:ext>
            </a:extLst>
          </p:cNvPr>
          <p:cNvSpPr/>
          <p:nvPr/>
        </p:nvSpPr>
        <p:spPr>
          <a:xfrm>
            <a:off x="16152129" y="30615059"/>
            <a:ext cx="26881596" cy="769441"/>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4400" b="1">
                <a:latin typeface="Arial" panose="020B0604020202020204" pitchFamily="34" charset="0"/>
                <a:cs typeface="Arial" panose="020B0604020202020204" pitchFamily="34" charset="0"/>
              </a:rPr>
              <a:t>Acknowledgements</a:t>
            </a:r>
          </a:p>
        </p:txBody>
      </p:sp>
      <p:sp>
        <p:nvSpPr>
          <p:cNvPr id="80" name="TextBox 79">
            <a:extLst>
              <a:ext uri="{FF2B5EF4-FFF2-40B4-BE49-F238E27FC236}">
                <a16:creationId xmlns:a16="http://schemas.microsoft.com/office/drawing/2014/main" id="{E423F082-3C9C-4546-8BD1-44628474AD9D}"/>
              </a:ext>
            </a:extLst>
          </p:cNvPr>
          <p:cNvSpPr txBox="1"/>
          <p:nvPr/>
        </p:nvSpPr>
        <p:spPr>
          <a:xfrm>
            <a:off x="16152848" y="31435775"/>
            <a:ext cx="26881596" cy="923330"/>
          </a:xfrm>
          <a:prstGeom prst="rect">
            <a:avLst/>
          </a:prstGeom>
          <a:noFill/>
        </p:spPr>
        <p:txBody>
          <a:bodyPr wrap="square" lIns="0" tIns="182880" rIns="0" bIns="0" rtlCol="0">
            <a:spAutoFit/>
          </a:bodyPr>
          <a:lstStyle/>
          <a:p>
            <a:pPr algn="just"/>
            <a:r>
              <a:rPr lang="en-US" sz="2400" dirty="0">
                <a:solidFill>
                  <a:schemeClr val="tx1">
                    <a:lumMod val="65000"/>
                    <a:lumOff val="35000"/>
                  </a:schemeClr>
                </a:solidFill>
                <a:latin typeface="Arial" panose="020B0604020202020204" pitchFamily="34" charset="0"/>
                <a:cs typeface="Arial" panose="020B0604020202020204" pitchFamily="34" charset="0"/>
              </a:rPr>
              <a:t>This research would not be possible without the support of the Monica Lester Endowment to the Department of Psychology at Loyola Marymount University for funding undergraduate student research. </a:t>
            </a:r>
          </a:p>
        </p:txBody>
      </p:sp>
      <p:sp>
        <p:nvSpPr>
          <p:cNvPr id="79" name="Rectangle 78">
            <a:extLst>
              <a:ext uri="{FF2B5EF4-FFF2-40B4-BE49-F238E27FC236}">
                <a16:creationId xmlns:a16="http://schemas.microsoft.com/office/drawing/2014/main" id="{ED1AC92D-72F8-C441-AD83-347861125C7F}"/>
              </a:ext>
            </a:extLst>
          </p:cNvPr>
          <p:cNvSpPr/>
          <p:nvPr/>
        </p:nvSpPr>
        <p:spPr>
          <a:xfrm>
            <a:off x="0" y="1"/>
            <a:ext cx="43891200" cy="3006266"/>
          </a:xfrm>
          <a:prstGeom prst="rect">
            <a:avLst/>
          </a:prstGeom>
          <a:solidFill>
            <a:srgbClr val="D06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13FD082F-C879-C343-AA10-964FB0844850}"/>
              </a:ext>
            </a:extLst>
          </p:cNvPr>
          <p:cNvSpPr txBox="1"/>
          <p:nvPr/>
        </p:nvSpPr>
        <p:spPr>
          <a:xfrm>
            <a:off x="0" y="155166"/>
            <a:ext cx="43891200" cy="2646878"/>
          </a:xfrm>
          <a:prstGeom prst="rect">
            <a:avLst/>
          </a:prstGeom>
          <a:noFill/>
        </p:spPr>
        <p:txBody>
          <a:bodyPr wrap="square" lIns="0" tIns="0" rIns="0" bIns="0" rtlCol="0">
            <a:spAutoFit/>
          </a:bodyPr>
          <a:lstStyle/>
          <a:p>
            <a:pPr algn="ctr">
              <a:spcAft>
                <a:spcPts val="1200"/>
              </a:spcAft>
            </a:pPr>
            <a:r>
              <a:rPr lang="en-US" sz="6600" b="1" dirty="0">
                <a:solidFill>
                  <a:schemeClr val="bg1"/>
                </a:solidFill>
                <a:latin typeface="Arial" panose="020B0604020202020204" pitchFamily="34" charset="0"/>
                <a:cs typeface="Arial" panose="020B0604020202020204" pitchFamily="34" charset="0"/>
              </a:rPr>
              <a:t>Prior Covid-19 Infection Is Associated With Performance Impairment in a Speeded-Response Priming Task</a:t>
            </a:r>
          </a:p>
          <a:p>
            <a:pPr algn="ctr">
              <a:spcAft>
                <a:spcPts val="1200"/>
              </a:spcAft>
            </a:pPr>
            <a:r>
              <a:rPr lang="en-US" sz="4800" b="1" dirty="0">
                <a:solidFill>
                  <a:schemeClr val="bg1"/>
                </a:solidFill>
                <a:latin typeface="Arial" panose="020B0604020202020204" pitchFamily="34" charset="0"/>
                <a:cs typeface="Arial" panose="020B0604020202020204" pitchFamily="34" charset="0"/>
              </a:rPr>
              <a:t>Megan Chen, Hannah </a:t>
            </a:r>
            <a:r>
              <a:rPr lang="en-US" sz="4800" b="1" dirty="0" err="1">
                <a:solidFill>
                  <a:schemeClr val="bg1"/>
                </a:solidFill>
                <a:latin typeface="Arial" panose="020B0604020202020204" pitchFamily="34" charset="0"/>
                <a:cs typeface="Arial" panose="020B0604020202020204" pitchFamily="34" charset="0"/>
              </a:rPr>
              <a:t>Arenson</a:t>
            </a:r>
            <a:r>
              <a:rPr lang="en-US" sz="4800" b="1" dirty="0">
                <a:solidFill>
                  <a:schemeClr val="bg1"/>
                </a:solidFill>
                <a:latin typeface="Arial" panose="020B0604020202020204" pitchFamily="34" charset="0"/>
                <a:cs typeface="Arial" panose="020B0604020202020204" pitchFamily="34" charset="0"/>
              </a:rPr>
              <a:t>, Samantha Cheng, </a:t>
            </a:r>
            <a:r>
              <a:rPr lang="en-US" sz="4800" b="1" dirty="0" err="1">
                <a:solidFill>
                  <a:schemeClr val="bg1"/>
                </a:solidFill>
                <a:latin typeface="Arial" panose="020B0604020202020204" pitchFamily="34" charset="0"/>
                <a:cs typeface="Arial" panose="020B0604020202020204" pitchFamily="34" charset="0"/>
              </a:rPr>
              <a:t>Lais</a:t>
            </a:r>
            <a:r>
              <a:rPr lang="en-US" sz="4800" b="1" dirty="0">
                <a:solidFill>
                  <a:schemeClr val="bg1"/>
                </a:solidFill>
                <a:latin typeface="Arial" panose="020B0604020202020204" pitchFamily="34" charset="0"/>
                <a:cs typeface="Arial" panose="020B0604020202020204" pitchFamily="34" charset="0"/>
              </a:rPr>
              <a:t> George, Lilly Webb, Richard L. Abrams, Ph.D.</a:t>
            </a:r>
            <a:br>
              <a:rPr lang="en-US" sz="4800" b="1" dirty="0">
                <a:solidFill>
                  <a:schemeClr val="bg1"/>
                </a:solidFill>
                <a:latin typeface="Arial" panose="020B0604020202020204" pitchFamily="34" charset="0"/>
                <a:cs typeface="Arial" panose="020B0604020202020204" pitchFamily="34" charset="0"/>
              </a:rPr>
            </a:br>
            <a:r>
              <a:rPr lang="en-US" sz="4800" dirty="0">
                <a:solidFill>
                  <a:schemeClr val="bg1"/>
                </a:solidFill>
                <a:latin typeface="Arial" panose="020B0604020202020204" pitchFamily="34" charset="0"/>
                <a:cs typeface="Arial" panose="020B0604020202020204" pitchFamily="34" charset="0"/>
              </a:rPr>
              <a:t>Department of Psychological Science, Loyola Marymount University</a:t>
            </a:r>
          </a:p>
        </p:txBody>
      </p:sp>
      <p:pic>
        <p:nvPicPr>
          <p:cNvPr id="85" name="Picture 84">
            <a:extLst>
              <a:ext uri="{FF2B5EF4-FFF2-40B4-BE49-F238E27FC236}">
                <a16:creationId xmlns:a16="http://schemas.microsoft.com/office/drawing/2014/main" id="{BC283B88-883A-D841-8B80-33724C457A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32353" y="1045513"/>
            <a:ext cx="1921433" cy="1921433"/>
          </a:xfrm>
          <a:prstGeom prst="rect">
            <a:avLst/>
          </a:prstGeom>
        </p:spPr>
      </p:pic>
      <p:sp>
        <p:nvSpPr>
          <p:cNvPr id="55" name="TextBox 54">
            <a:extLst>
              <a:ext uri="{FF2B5EF4-FFF2-40B4-BE49-F238E27FC236}">
                <a16:creationId xmlns:a16="http://schemas.microsoft.com/office/drawing/2014/main" id="{E6D6619D-495C-0D4C-B308-898DD4850D37}"/>
              </a:ext>
            </a:extLst>
          </p:cNvPr>
          <p:cNvSpPr txBox="1"/>
          <p:nvPr/>
        </p:nvSpPr>
        <p:spPr>
          <a:xfrm>
            <a:off x="26392433" y="4958839"/>
            <a:ext cx="5769029" cy="784830"/>
          </a:xfrm>
          <a:prstGeom prst="rect">
            <a:avLst/>
          </a:prstGeom>
          <a:noFill/>
        </p:spPr>
        <p:txBody>
          <a:bodyPr wrap="square" lIns="0" tIns="182880" rIns="0" bIns="0" rtlCol="0">
            <a:spAutoFit/>
          </a:bodyPr>
          <a:lstStyle/>
          <a:p>
            <a:pPr lvl="2"/>
            <a:r>
              <a:rPr lang="en-US" sz="3900" b="1" i="1" dirty="0">
                <a:solidFill>
                  <a:schemeClr val="tx1">
                    <a:lumMod val="65000"/>
                    <a:lumOff val="35000"/>
                  </a:schemeClr>
                </a:solidFill>
                <a:latin typeface="Arial" panose="020B0604020202020204" pitchFamily="34" charset="0"/>
                <a:cs typeface="Arial" panose="020B0604020202020204" pitchFamily="34" charset="0"/>
              </a:rPr>
              <a:t>Priming Task (33ms)</a:t>
            </a:r>
          </a:p>
        </p:txBody>
      </p:sp>
      <p:sp>
        <p:nvSpPr>
          <p:cNvPr id="5" name="TextBox 4">
            <a:extLst>
              <a:ext uri="{FF2B5EF4-FFF2-40B4-BE49-F238E27FC236}">
                <a16:creationId xmlns:a16="http://schemas.microsoft.com/office/drawing/2014/main" id="{3634CE02-B4AC-594B-9A49-B481B3DF705E}"/>
              </a:ext>
            </a:extLst>
          </p:cNvPr>
          <p:cNvSpPr txBox="1"/>
          <p:nvPr/>
        </p:nvSpPr>
        <p:spPr>
          <a:xfrm>
            <a:off x="27598071" y="7991699"/>
            <a:ext cx="184731" cy="369332"/>
          </a:xfrm>
          <a:prstGeom prst="rect">
            <a:avLst/>
          </a:prstGeom>
          <a:noFill/>
        </p:spPr>
        <p:txBody>
          <a:bodyPr wrap="none" rtlCol="0">
            <a:spAutoFit/>
          </a:bodyPr>
          <a:lstStyle/>
          <a:p>
            <a:endParaRPr lang="en-US"/>
          </a:p>
        </p:txBody>
      </p:sp>
      <p:sp>
        <p:nvSpPr>
          <p:cNvPr id="7" name="TextBox 6">
            <a:extLst>
              <a:ext uri="{FF2B5EF4-FFF2-40B4-BE49-F238E27FC236}">
                <a16:creationId xmlns:a16="http://schemas.microsoft.com/office/drawing/2014/main" id="{9D22FCA4-E5B0-1041-BE29-2F7A6244898B}"/>
              </a:ext>
            </a:extLst>
          </p:cNvPr>
          <p:cNvSpPr txBox="1"/>
          <p:nvPr/>
        </p:nvSpPr>
        <p:spPr>
          <a:xfrm>
            <a:off x="28746387" y="11585503"/>
            <a:ext cx="184731" cy="369332"/>
          </a:xfrm>
          <a:prstGeom prst="rect">
            <a:avLst/>
          </a:prstGeom>
          <a:noFill/>
        </p:spPr>
        <p:txBody>
          <a:bodyPr wrap="none" rtlCol="0">
            <a:spAutoFit/>
          </a:bodyPr>
          <a:lstStyle/>
          <a:p>
            <a:endParaRPr lang="en-US"/>
          </a:p>
        </p:txBody>
      </p:sp>
      <p:graphicFrame>
        <p:nvGraphicFramePr>
          <p:cNvPr id="4" name="Chart 3">
            <a:extLst>
              <a:ext uri="{FF2B5EF4-FFF2-40B4-BE49-F238E27FC236}">
                <a16:creationId xmlns:a16="http://schemas.microsoft.com/office/drawing/2014/main" id="{C784829E-CA3C-6D4B-A104-AD1ADEC65A58}"/>
              </a:ext>
            </a:extLst>
          </p:cNvPr>
          <p:cNvGraphicFramePr/>
          <p:nvPr>
            <p:extLst>
              <p:ext uri="{D42A27DB-BD31-4B8C-83A1-F6EECF244321}">
                <p14:modId xmlns:p14="http://schemas.microsoft.com/office/powerpoint/2010/main" val="756653404"/>
              </p:ext>
            </p:extLst>
          </p:nvPr>
        </p:nvGraphicFramePr>
        <p:xfrm>
          <a:off x="16395986" y="5695764"/>
          <a:ext cx="9043642" cy="542364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1" name="Chart 40">
            <a:extLst>
              <a:ext uri="{FF2B5EF4-FFF2-40B4-BE49-F238E27FC236}">
                <a16:creationId xmlns:a16="http://schemas.microsoft.com/office/drawing/2014/main" id="{8E63D153-E6B9-A646-9B93-910F0C4C4BF8}"/>
              </a:ext>
            </a:extLst>
          </p:cNvPr>
          <p:cNvGraphicFramePr/>
          <p:nvPr>
            <p:extLst>
              <p:ext uri="{D42A27DB-BD31-4B8C-83A1-F6EECF244321}">
                <p14:modId xmlns:p14="http://schemas.microsoft.com/office/powerpoint/2010/main" val="98011677"/>
              </p:ext>
            </p:extLst>
          </p:nvPr>
        </p:nvGraphicFramePr>
        <p:xfrm>
          <a:off x="16411610" y="11519362"/>
          <a:ext cx="9043642" cy="5400674"/>
        </p:xfrm>
        <a:graphic>
          <a:graphicData uri="http://schemas.openxmlformats.org/drawingml/2006/chart">
            <c:chart xmlns:c="http://schemas.openxmlformats.org/drawingml/2006/chart" xmlns:r="http://schemas.openxmlformats.org/officeDocument/2006/relationships" r:id="rId9"/>
          </a:graphicData>
        </a:graphic>
      </p:graphicFrame>
      <p:sp>
        <p:nvSpPr>
          <p:cNvPr id="43" name="TextBox 42">
            <a:extLst>
              <a:ext uri="{FF2B5EF4-FFF2-40B4-BE49-F238E27FC236}">
                <a16:creationId xmlns:a16="http://schemas.microsoft.com/office/drawing/2014/main" id="{49E5395A-0B1D-8749-B769-CEF5642DF933}"/>
              </a:ext>
            </a:extLst>
          </p:cNvPr>
          <p:cNvSpPr txBox="1"/>
          <p:nvPr/>
        </p:nvSpPr>
        <p:spPr>
          <a:xfrm>
            <a:off x="25439628" y="10942722"/>
            <a:ext cx="8574171" cy="430887"/>
          </a:xfrm>
          <a:prstGeom prst="rect">
            <a:avLst/>
          </a:prstGeom>
          <a:noFill/>
        </p:spPr>
        <p:txBody>
          <a:bodyPr wrap="square" lIns="0" tIns="182880" rIns="0" bIns="0" rtlCol="0" anchor="t">
            <a:spAutoFit/>
          </a:bodyPr>
          <a:lstStyle/>
          <a:p>
            <a:pPr lvl="1" algn="just"/>
            <a:r>
              <a:rPr lang="en-US" sz="1600" dirty="0">
                <a:solidFill>
                  <a:schemeClr val="tx1">
                    <a:lumMod val="65000"/>
                    <a:lumOff val="35000"/>
                  </a:schemeClr>
                </a:solidFill>
                <a:latin typeface="Arial"/>
                <a:cs typeface="Arial"/>
              </a:rPr>
              <a:t>*Overall accuracy refers to the average accuracy from congruent and incongruent trials</a:t>
            </a:r>
          </a:p>
        </p:txBody>
      </p:sp>
      <p:sp>
        <p:nvSpPr>
          <p:cNvPr id="59" name="TextBox 58">
            <a:extLst>
              <a:ext uri="{FF2B5EF4-FFF2-40B4-BE49-F238E27FC236}">
                <a16:creationId xmlns:a16="http://schemas.microsoft.com/office/drawing/2014/main" id="{C6FCD1F2-FD85-D049-B6CF-7C2F213638A1}"/>
              </a:ext>
            </a:extLst>
          </p:cNvPr>
          <p:cNvSpPr txBox="1"/>
          <p:nvPr/>
        </p:nvSpPr>
        <p:spPr>
          <a:xfrm>
            <a:off x="17585278" y="9738209"/>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44,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-.388,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.009)</a:t>
            </a:r>
          </a:p>
          <a:p>
            <a:pPr algn="just"/>
            <a:r>
              <a:rPr lang="en-US" dirty="0">
                <a:solidFill>
                  <a:schemeClr val="tx1">
                    <a:lumMod val="65000"/>
                    <a:lumOff val="35000"/>
                  </a:schemeClr>
                </a:solidFill>
                <a:latin typeface="Arial"/>
                <a:cs typeface="Arial"/>
              </a:rPr>
              <a:t>Severity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44</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-.337,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.025)</a:t>
            </a:r>
          </a:p>
        </p:txBody>
      </p:sp>
      <p:sp>
        <p:nvSpPr>
          <p:cNvPr id="46" name="TextBox 45">
            <a:extLst>
              <a:ext uri="{FF2B5EF4-FFF2-40B4-BE49-F238E27FC236}">
                <a16:creationId xmlns:a16="http://schemas.microsoft.com/office/drawing/2014/main" id="{63FEE1C2-8833-5D42-9F8F-8A81675D3F42}"/>
              </a:ext>
            </a:extLst>
          </p:cNvPr>
          <p:cNvSpPr txBox="1"/>
          <p:nvPr/>
        </p:nvSpPr>
        <p:spPr>
          <a:xfrm>
            <a:off x="22799096" y="7847608"/>
            <a:ext cx="443941" cy="461665"/>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a:t>
            </a:r>
          </a:p>
        </p:txBody>
      </p:sp>
      <p:sp>
        <p:nvSpPr>
          <p:cNvPr id="47" name="TextBox 46">
            <a:extLst>
              <a:ext uri="{FF2B5EF4-FFF2-40B4-BE49-F238E27FC236}">
                <a16:creationId xmlns:a16="http://schemas.microsoft.com/office/drawing/2014/main" id="{C26B0237-C7F0-8247-B428-4E6FFC6D2B15}"/>
              </a:ext>
            </a:extLst>
          </p:cNvPr>
          <p:cNvSpPr txBox="1"/>
          <p:nvPr/>
        </p:nvSpPr>
        <p:spPr>
          <a:xfrm>
            <a:off x="23032452" y="8038048"/>
            <a:ext cx="443941" cy="461665"/>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a:t>
            </a:r>
          </a:p>
        </p:txBody>
      </p:sp>
      <p:sp>
        <p:nvSpPr>
          <p:cNvPr id="48" name="TextBox 47">
            <a:extLst>
              <a:ext uri="{FF2B5EF4-FFF2-40B4-BE49-F238E27FC236}">
                <a16:creationId xmlns:a16="http://schemas.microsoft.com/office/drawing/2014/main" id="{E6EF638D-9256-1741-A37D-116CDD03697A}"/>
              </a:ext>
            </a:extLst>
          </p:cNvPr>
          <p:cNvSpPr txBox="1"/>
          <p:nvPr/>
        </p:nvSpPr>
        <p:spPr>
          <a:xfrm>
            <a:off x="17613617" y="15503825"/>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44,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-.057,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.713)</a:t>
            </a:r>
          </a:p>
          <a:p>
            <a:pPr algn="just"/>
            <a:r>
              <a:rPr lang="en-US" dirty="0">
                <a:solidFill>
                  <a:schemeClr val="tx1">
                    <a:lumMod val="65000"/>
                    <a:lumOff val="35000"/>
                  </a:schemeClr>
                </a:solidFill>
                <a:latin typeface="Arial"/>
                <a:cs typeface="Arial"/>
              </a:rPr>
              <a:t>Severity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44</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-.295,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.052)</a:t>
            </a:r>
          </a:p>
        </p:txBody>
      </p:sp>
      <p:sp>
        <p:nvSpPr>
          <p:cNvPr id="50" name="TextBox 49">
            <a:extLst>
              <a:ext uri="{FF2B5EF4-FFF2-40B4-BE49-F238E27FC236}">
                <a16:creationId xmlns:a16="http://schemas.microsoft.com/office/drawing/2014/main" id="{3BA12743-3DFA-6048-90D3-AEB7EF698950}"/>
              </a:ext>
            </a:extLst>
          </p:cNvPr>
          <p:cNvSpPr txBox="1"/>
          <p:nvPr/>
        </p:nvSpPr>
        <p:spPr>
          <a:xfrm>
            <a:off x="18067031" y="4931715"/>
            <a:ext cx="5077551" cy="784830"/>
          </a:xfrm>
          <a:prstGeom prst="rect">
            <a:avLst/>
          </a:prstGeom>
          <a:noFill/>
        </p:spPr>
        <p:txBody>
          <a:bodyPr wrap="square" lIns="0" tIns="182880" rIns="0" bIns="0" rtlCol="0">
            <a:spAutoFit/>
          </a:bodyPr>
          <a:lstStyle/>
          <a:p>
            <a:pPr lvl="2" algn="ctr"/>
            <a:r>
              <a:rPr lang="en-US" sz="3900" b="1" i="1" dirty="0">
                <a:solidFill>
                  <a:schemeClr val="tx1">
                    <a:lumMod val="65000"/>
                    <a:lumOff val="35000"/>
                  </a:schemeClr>
                </a:solidFill>
                <a:latin typeface="Arial" panose="020B0604020202020204" pitchFamily="34" charset="0"/>
                <a:cs typeface="Arial" panose="020B0604020202020204" pitchFamily="34" charset="0"/>
              </a:rPr>
              <a:t>Practice</a:t>
            </a:r>
          </a:p>
        </p:txBody>
      </p:sp>
      <p:sp>
        <p:nvSpPr>
          <p:cNvPr id="51" name="TextBox 50">
            <a:extLst>
              <a:ext uri="{FF2B5EF4-FFF2-40B4-BE49-F238E27FC236}">
                <a16:creationId xmlns:a16="http://schemas.microsoft.com/office/drawing/2014/main" id="{7C8A575B-D1EF-6545-8378-4D019C1A27E3}"/>
              </a:ext>
            </a:extLst>
          </p:cNvPr>
          <p:cNvSpPr txBox="1"/>
          <p:nvPr/>
        </p:nvSpPr>
        <p:spPr>
          <a:xfrm>
            <a:off x="23071868" y="13988866"/>
            <a:ext cx="443941" cy="461665"/>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a:t>
            </a:r>
          </a:p>
        </p:txBody>
      </p:sp>
      <p:sp>
        <p:nvSpPr>
          <p:cNvPr id="52" name="TextBox 51">
            <a:extLst>
              <a:ext uri="{FF2B5EF4-FFF2-40B4-BE49-F238E27FC236}">
                <a16:creationId xmlns:a16="http://schemas.microsoft.com/office/drawing/2014/main" id="{C196A3D6-CDE1-9E44-B0E0-49162084085F}"/>
              </a:ext>
            </a:extLst>
          </p:cNvPr>
          <p:cNvSpPr txBox="1"/>
          <p:nvPr/>
        </p:nvSpPr>
        <p:spPr>
          <a:xfrm>
            <a:off x="26508228" y="9695197"/>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42,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-.409,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.007)</a:t>
            </a:r>
          </a:p>
          <a:p>
            <a:pPr algn="just"/>
            <a:r>
              <a:rPr lang="en-US" dirty="0">
                <a:solidFill>
                  <a:schemeClr val="tx1">
                    <a:lumMod val="65000"/>
                    <a:lumOff val="35000"/>
                  </a:schemeClr>
                </a:solidFill>
                <a:latin typeface="Arial"/>
                <a:cs typeface="Arial"/>
              </a:rPr>
              <a:t>Severity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42</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-.178,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.258)</a:t>
            </a:r>
          </a:p>
        </p:txBody>
      </p:sp>
      <p:sp>
        <p:nvSpPr>
          <p:cNvPr id="53" name="TextBox 52">
            <a:extLst>
              <a:ext uri="{FF2B5EF4-FFF2-40B4-BE49-F238E27FC236}">
                <a16:creationId xmlns:a16="http://schemas.microsoft.com/office/drawing/2014/main" id="{369DBE54-7DE7-3D4E-94E9-B366B959A5DB}"/>
              </a:ext>
            </a:extLst>
          </p:cNvPr>
          <p:cNvSpPr txBox="1"/>
          <p:nvPr/>
        </p:nvSpPr>
        <p:spPr>
          <a:xfrm>
            <a:off x="32027910" y="8773590"/>
            <a:ext cx="443941" cy="461665"/>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a:t>
            </a:r>
          </a:p>
        </p:txBody>
      </p:sp>
      <p:sp>
        <p:nvSpPr>
          <p:cNvPr id="54" name="TextBox 53">
            <a:extLst>
              <a:ext uri="{FF2B5EF4-FFF2-40B4-BE49-F238E27FC236}">
                <a16:creationId xmlns:a16="http://schemas.microsoft.com/office/drawing/2014/main" id="{CE1AD73D-E7E0-B044-8EEE-72FC32AFCE4B}"/>
              </a:ext>
            </a:extLst>
          </p:cNvPr>
          <p:cNvSpPr txBox="1"/>
          <p:nvPr/>
        </p:nvSpPr>
        <p:spPr>
          <a:xfrm>
            <a:off x="26657259" y="15665305"/>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42,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.058,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.715)</a:t>
            </a:r>
          </a:p>
          <a:p>
            <a:pPr algn="just"/>
            <a:r>
              <a:rPr lang="en-US" dirty="0">
                <a:solidFill>
                  <a:schemeClr val="tx1">
                    <a:lumMod val="65000"/>
                    <a:lumOff val="35000"/>
                  </a:schemeClr>
                </a:solidFill>
                <a:latin typeface="Arial"/>
                <a:cs typeface="Arial"/>
              </a:rPr>
              <a:t>Severity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42</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-.187,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.236)</a:t>
            </a:r>
          </a:p>
        </p:txBody>
      </p:sp>
      <p:graphicFrame>
        <p:nvGraphicFramePr>
          <p:cNvPr id="57" name="Chart 56">
            <a:extLst>
              <a:ext uri="{FF2B5EF4-FFF2-40B4-BE49-F238E27FC236}">
                <a16:creationId xmlns:a16="http://schemas.microsoft.com/office/drawing/2014/main" id="{A8BE1CD4-1113-2740-85AF-065631D324E9}"/>
              </a:ext>
            </a:extLst>
          </p:cNvPr>
          <p:cNvGraphicFramePr/>
          <p:nvPr>
            <p:extLst>
              <p:ext uri="{D42A27DB-BD31-4B8C-83A1-F6EECF244321}">
                <p14:modId xmlns:p14="http://schemas.microsoft.com/office/powerpoint/2010/main" val="2214062461"/>
              </p:ext>
            </p:extLst>
          </p:nvPr>
        </p:nvGraphicFramePr>
        <p:xfrm>
          <a:off x="34538312" y="5695764"/>
          <a:ext cx="9043642" cy="5423642"/>
        </p:xfrm>
        <a:graphic>
          <a:graphicData uri="http://schemas.openxmlformats.org/drawingml/2006/chart">
            <c:chart xmlns:c="http://schemas.openxmlformats.org/drawingml/2006/chart" xmlns:r="http://schemas.openxmlformats.org/officeDocument/2006/relationships" r:id="rId10"/>
          </a:graphicData>
        </a:graphic>
      </p:graphicFrame>
      <p:sp>
        <p:nvSpPr>
          <p:cNvPr id="58" name="TextBox 57">
            <a:extLst>
              <a:ext uri="{FF2B5EF4-FFF2-40B4-BE49-F238E27FC236}">
                <a16:creationId xmlns:a16="http://schemas.microsoft.com/office/drawing/2014/main" id="{28C86D90-E0E6-AE40-9D40-5C29240075FA}"/>
              </a:ext>
            </a:extLst>
          </p:cNvPr>
          <p:cNvSpPr txBox="1"/>
          <p:nvPr/>
        </p:nvSpPr>
        <p:spPr>
          <a:xfrm>
            <a:off x="35639902" y="6484624"/>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26,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.161,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.432)</a:t>
            </a:r>
          </a:p>
          <a:p>
            <a:pPr algn="just"/>
            <a:r>
              <a:rPr lang="en-US" dirty="0">
                <a:solidFill>
                  <a:schemeClr val="tx1">
                    <a:lumMod val="65000"/>
                    <a:lumOff val="35000"/>
                  </a:schemeClr>
                </a:solidFill>
                <a:latin typeface="Arial"/>
                <a:cs typeface="Arial"/>
              </a:rPr>
              <a:t>Severity and overall accuracy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26</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-.290,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.151)</a:t>
            </a:r>
          </a:p>
        </p:txBody>
      </p:sp>
      <p:graphicFrame>
        <p:nvGraphicFramePr>
          <p:cNvPr id="60" name="Chart 59">
            <a:extLst>
              <a:ext uri="{FF2B5EF4-FFF2-40B4-BE49-F238E27FC236}">
                <a16:creationId xmlns:a16="http://schemas.microsoft.com/office/drawing/2014/main" id="{8066D012-05D1-3440-83A9-BBF7B05C15A7}"/>
              </a:ext>
            </a:extLst>
          </p:cNvPr>
          <p:cNvGraphicFramePr/>
          <p:nvPr>
            <p:extLst>
              <p:ext uri="{D42A27DB-BD31-4B8C-83A1-F6EECF244321}">
                <p14:modId xmlns:p14="http://schemas.microsoft.com/office/powerpoint/2010/main" val="2944799636"/>
              </p:ext>
            </p:extLst>
          </p:nvPr>
        </p:nvGraphicFramePr>
        <p:xfrm>
          <a:off x="34456508" y="11533392"/>
          <a:ext cx="9043642" cy="5423642"/>
        </p:xfrm>
        <a:graphic>
          <a:graphicData uri="http://schemas.openxmlformats.org/drawingml/2006/chart">
            <c:chart xmlns:c="http://schemas.openxmlformats.org/drawingml/2006/chart" xmlns:r="http://schemas.openxmlformats.org/officeDocument/2006/relationships" r:id="rId11"/>
          </a:graphicData>
        </a:graphic>
      </p:graphicFrame>
      <p:sp>
        <p:nvSpPr>
          <p:cNvPr id="61" name="TextBox 60">
            <a:extLst>
              <a:ext uri="{FF2B5EF4-FFF2-40B4-BE49-F238E27FC236}">
                <a16:creationId xmlns:a16="http://schemas.microsoft.com/office/drawing/2014/main" id="{3A9DEB47-8089-E24F-83C6-7A9B4E55BE7E}"/>
              </a:ext>
            </a:extLst>
          </p:cNvPr>
          <p:cNvSpPr txBox="1"/>
          <p:nvPr/>
        </p:nvSpPr>
        <p:spPr>
          <a:xfrm>
            <a:off x="35639901" y="12029854"/>
            <a:ext cx="6230189" cy="738664"/>
          </a:xfrm>
          <a:prstGeom prst="rect">
            <a:avLst/>
          </a:prstGeom>
          <a:noFill/>
        </p:spPr>
        <p:txBody>
          <a:bodyPr wrap="square" lIns="0" tIns="182880" rIns="0" bIns="0" rtlCol="0" anchor="t">
            <a:spAutoFit/>
          </a:bodyPr>
          <a:lstStyle/>
          <a:p>
            <a:pPr algn="just"/>
            <a:r>
              <a:rPr lang="en-US" dirty="0">
                <a:solidFill>
                  <a:schemeClr val="tx1">
                    <a:lumMod val="65000"/>
                    <a:lumOff val="35000"/>
                  </a:schemeClr>
                </a:solidFill>
                <a:latin typeface="Arial"/>
                <a:cs typeface="Arial"/>
              </a:rPr>
              <a:t>Brain fog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26, </a:t>
            </a:r>
            <a:r>
              <a:rPr lang="en-US" i="1" dirty="0">
                <a:solidFill>
                  <a:schemeClr val="tx1">
                    <a:lumMod val="65000"/>
                    <a:lumOff val="35000"/>
                  </a:schemeClr>
                </a:solidFill>
                <a:latin typeface="Arial"/>
                <a:cs typeface="Arial"/>
              </a:rPr>
              <a:t>r</a:t>
            </a:r>
            <a:r>
              <a:rPr lang="en-US" dirty="0">
                <a:solidFill>
                  <a:schemeClr val="tx1">
                    <a:lumMod val="65000"/>
                    <a:lumOff val="35000"/>
                  </a:schemeClr>
                </a:solidFill>
                <a:latin typeface="Arial"/>
                <a:cs typeface="Arial"/>
              </a:rPr>
              <a:t> = .473,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.015)</a:t>
            </a:r>
          </a:p>
          <a:p>
            <a:pPr algn="just"/>
            <a:r>
              <a:rPr lang="en-US" dirty="0">
                <a:solidFill>
                  <a:schemeClr val="tx1">
                    <a:lumMod val="65000"/>
                    <a:lumOff val="35000"/>
                  </a:schemeClr>
                </a:solidFill>
                <a:latin typeface="Arial"/>
                <a:cs typeface="Arial"/>
              </a:rPr>
              <a:t>Severity and overall latency (</a:t>
            </a:r>
            <a:r>
              <a:rPr lang="en-US" i="1" dirty="0">
                <a:solidFill>
                  <a:schemeClr val="tx1">
                    <a:lumMod val="65000"/>
                    <a:lumOff val="35000"/>
                  </a:schemeClr>
                </a:solidFill>
                <a:latin typeface="Arial"/>
                <a:cs typeface="Arial"/>
              </a:rPr>
              <a:t>N</a:t>
            </a:r>
            <a:r>
              <a:rPr lang="en-US" dirty="0">
                <a:solidFill>
                  <a:schemeClr val="tx1">
                    <a:lumMod val="65000"/>
                    <a:lumOff val="35000"/>
                  </a:schemeClr>
                </a:solidFill>
                <a:latin typeface="Arial"/>
                <a:cs typeface="Arial"/>
              </a:rPr>
              <a:t> = 26</a:t>
            </a:r>
            <a:r>
              <a:rPr lang="en-US" i="1" dirty="0">
                <a:solidFill>
                  <a:schemeClr val="tx1">
                    <a:lumMod val="65000"/>
                    <a:lumOff val="35000"/>
                  </a:schemeClr>
                </a:solidFill>
                <a:latin typeface="Arial"/>
                <a:cs typeface="Arial"/>
              </a:rPr>
              <a:t>, r</a:t>
            </a:r>
            <a:r>
              <a:rPr lang="en-US" dirty="0">
                <a:solidFill>
                  <a:schemeClr val="tx1">
                    <a:lumMod val="65000"/>
                    <a:lumOff val="35000"/>
                  </a:schemeClr>
                </a:solidFill>
                <a:latin typeface="Arial"/>
                <a:cs typeface="Arial"/>
              </a:rPr>
              <a:t> = -.231, </a:t>
            </a:r>
            <a:r>
              <a:rPr lang="en-US" i="1" dirty="0">
                <a:solidFill>
                  <a:schemeClr val="tx1">
                    <a:lumMod val="65000"/>
                    <a:lumOff val="35000"/>
                  </a:schemeClr>
                </a:solidFill>
                <a:latin typeface="Arial"/>
                <a:cs typeface="Arial"/>
              </a:rPr>
              <a:t>p</a:t>
            </a:r>
            <a:r>
              <a:rPr lang="en-US" dirty="0">
                <a:solidFill>
                  <a:schemeClr val="tx1">
                    <a:lumMod val="65000"/>
                    <a:lumOff val="35000"/>
                  </a:schemeClr>
                </a:solidFill>
                <a:latin typeface="Arial"/>
                <a:cs typeface="Arial"/>
              </a:rPr>
              <a:t> = .256)</a:t>
            </a:r>
          </a:p>
        </p:txBody>
      </p:sp>
      <p:sp>
        <p:nvSpPr>
          <p:cNvPr id="56" name="TextBox 55">
            <a:extLst>
              <a:ext uri="{FF2B5EF4-FFF2-40B4-BE49-F238E27FC236}">
                <a16:creationId xmlns:a16="http://schemas.microsoft.com/office/drawing/2014/main" id="{0EC89066-65F2-3B4F-98D0-BA8CF43D203B}"/>
              </a:ext>
            </a:extLst>
          </p:cNvPr>
          <p:cNvSpPr txBox="1"/>
          <p:nvPr/>
        </p:nvSpPr>
        <p:spPr>
          <a:xfrm>
            <a:off x="35302164" y="4914276"/>
            <a:ext cx="6230189" cy="784830"/>
          </a:xfrm>
          <a:prstGeom prst="rect">
            <a:avLst/>
          </a:prstGeom>
          <a:noFill/>
        </p:spPr>
        <p:txBody>
          <a:bodyPr wrap="square" lIns="0" tIns="182880" rIns="0" bIns="0" rtlCol="0">
            <a:spAutoFit/>
          </a:bodyPr>
          <a:lstStyle/>
          <a:p>
            <a:pPr lvl="2"/>
            <a:r>
              <a:rPr lang="en-US" sz="3900" b="1" i="1" dirty="0">
                <a:solidFill>
                  <a:schemeClr val="tx1">
                    <a:lumMod val="65000"/>
                    <a:lumOff val="35000"/>
                  </a:schemeClr>
                </a:solidFill>
                <a:latin typeface="Arial" panose="020B0604020202020204" pitchFamily="34" charset="0"/>
                <a:cs typeface="Arial" panose="020B0604020202020204" pitchFamily="34" charset="0"/>
              </a:rPr>
              <a:t>Priming Task (100 </a:t>
            </a:r>
            <a:r>
              <a:rPr lang="en-US" sz="3900" b="1" i="1" dirty="0" err="1">
                <a:solidFill>
                  <a:schemeClr val="tx1">
                    <a:lumMod val="65000"/>
                    <a:lumOff val="35000"/>
                  </a:schemeClr>
                </a:solidFill>
                <a:latin typeface="Arial" panose="020B0604020202020204" pitchFamily="34" charset="0"/>
                <a:cs typeface="Arial" panose="020B0604020202020204" pitchFamily="34" charset="0"/>
              </a:rPr>
              <a:t>ms</a:t>
            </a:r>
            <a:r>
              <a:rPr lang="en-US" sz="3900" b="1" i="1" dirty="0">
                <a:solidFill>
                  <a:schemeClr val="tx1">
                    <a:lumMod val="65000"/>
                    <a:lumOff val="35000"/>
                  </a:schemeClr>
                </a:solidFill>
                <a:latin typeface="Arial" panose="020B0604020202020204" pitchFamily="34" charset="0"/>
                <a:cs typeface="Arial" panose="020B0604020202020204" pitchFamily="34" charset="0"/>
              </a:rPr>
              <a:t>)</a:t>
            </a:r>
          </a:p>
        </p:txBody>
      </p:sp>
    </p:spTree>
    <p:controls>
      <mc:AlternateContent xmlns:mc="http://schemas.openxmlformats.org/markup-compatibility/2006">
        <mc:Choice xmlns:v="urn:schemas-microsoft-com:vml" Requires="v">
          <p:control r:id="rId1" imgW="914400" imgH="914400"/>
        </mc:Choice>
        <mc:Fallback>
          <p:control r:id="rId1" imgW="914400" imgH="914400">
            <p:pic>
              <p:nvPicPr>
                <p:cNvPr id="16" name="Image1"/>
                <p:cNvPicPr>
                  <a:picLocks/>
                </p:cNvPicPr>
                <p:nvPr/>
              </p:nvPicPr>
              <p:blipFill>
                <a:blip r:embed="rId12"/>
                <a:stretch>
                  <a:fillRect/>
                </a:stretch>
              </p:blipFill>
              <p:spPr>
                <a:xfrm>
                  <a:off x="22370597" y="-7281863"/>
                  <a:ext cx="914400" cy="914400"/>
                </a:xfrm>
                <a:prstGeom prst="rect">
                  <a:avLst/>
                </a:prstGeom>
              </p:spPr>
            </p:pic>
          </p:control>
        </mc:Fallback>
      </mc:AlternateContent>
    </p:controls>
    <p:extLst>
      <p:ext uri="{BB962C8B-B14F-4D97-AF65-F5344CB8AC3E}">
        <p14:creationId xmlns:p14="http://schemas.microsoft.com/office/powerpoint/2010/main" val="28640018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461</TotalTime>
  <Words>1264</Words>
  <Application>Microsoft Macintosh PowerPoint</Application>
  <PresentationFormat>Custom</PresentationFormat>
  <Paragraphs>80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LMU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Vishnevsky, Simona</dc:creator>
  <cp:lastModifiedBy>Fortunato Salazar</cp:lastModifiedBy>
  <cp:revision>509</cp:revision>
  <cp:lastPrinted>2020-02-20T22:31:34Z</cp:lastPrinted>
  <dcterms:created xsi:type="dcterms:W3CDTF">2020-02-11T19:37:46Z</dcterms:created>
  <dcterms:modified xsi:type="dcterms:W3CDTF">2023-04-23T22:24:35Z</dcterms:modified>
</cp:coreProperties>
</file>